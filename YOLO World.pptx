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7315200" cx="9753600"/>
  <p:notesSz cx="6858000" cy="9144000"/>
  <p:embeddedFontLst>
    <p:embeddedFont>
      <p:font typeface="Fredoka"/>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ijA9WpopXKe42q3rNyn3WmOULa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Fredoka-regular.fnt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Fredoka-bold.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1"/>
          <p:cNvSpPr/>
          <p:nvPr>
            <p:ph idx="2" type="pic"/>
          </p:nvPr>
        </p:nvSpPr>
        <p:spPr>
          <a:xfrm>
            <a:off x="1792288" y="612775"/>
            <a:ext cx="5486400" cy="4114800"/>
          </a:xfrm>
          <a:prstGeom prst="rect">
            <a:avLst/>
          </a:prstGeom>
          <a:noFill/>
          <a:ln>
            <a:noFill/>
          </a:ln>
        </p:spPr>
      </p:sp>
      <p:sp>
        <p:nvSpPr>
          <p:cNvPr id="64" name="Google Shape;64;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11" Type="http://schemas.openxmlformats.org/officeDocument/2006/relationships/image" Target="../media/image10.png"/><Relationship Id="rId10" Type="http://schemas.openxmlformats.org/officeDocument/2006/relationships/image" Target="../media/image15.png"/><Relationship Id="rId9"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18.png"/><Relationship Id="rId8"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1.png"/><Relationship Id="rId8"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2.png"/><Relationship Id="rId8"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8.png"/><Relationship Id="rId8"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30.png"/><Relationship Id="rId8"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5.png"/><Relationship Id="rId8"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36.png"/><Relationship Id="rId8"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40.png"/><Relationship Id="rId8"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83" name="Shape 83"/>
        <p:cNvGrpSpPr/>
        <p:nvPr/>
      </p:nvGrpSpPr>
      <p:grpSpPr>
        <a:xfrm>
          <a:off x="0" y="0"/>
          <a:ext cx="0" cy="0"/>
          <a:chOff x="0" y="0"/>
          <a:chExt cx="0" cy="0"/>
        </a:xfrm>
      </p:grpSpPr>
      <p:sp>
        <p:nvSpPr>
          <p:cNvPr id="84" name="Google Shape;84;p1"/>
          <p:cNvSpPr/>
          <p:nvPr/>
        </p:nvSpPr>
        <p:spPr>
          <a:xfrm rot="10800000">
            <a:off x="8431931" y="-6534"/>
            <a:ext cx="1341124" cy="1711546"/>
          </a:xfrm>
          <a:custGeom>
            <a:rect b="b" l="l" r="r" t="t"/>
            <a:pathLst>
              <a:path extrusionOk="0" h="1711546" w="1341124">
                <a:moveTo>
                  <a:pt x="1341123" y="1711546"/>
                </a:moveTo>
                <a:lnTo>
                  <a:pt x="0" y="1711546"/>
                </a:lnTo>
                <a:lnTo>
                  <a:pt x="0" y="0"/>
                </a:lnTo>
                <a:lnTo>
                  <a:pt x="1341123" y="0"/>
                </a:lnTo>
                <a:lnTo>
                  <a:pt x="1341123" y="1711546"/>
                </a:lnTo>
                <a:close/>
              </a:path>
            </a:pathLst>
          </a:custGeom>
          <a:blipFill rotWithShape="1">
            <a:blip r:embed="rId3">
              <a:alphaModFix/>
            </a:blip>
            <a:stretch>
              <a:fillRect b="-47966" l="-57592" r="0" t="0"/>
            </a:stretch>
          </a:blipFill>
          <a:ln>
            <a:noFill/>
          </a:ln>
        </p:spPr>
      </p:sp>
      <p:sp>
        <p:nvSpPr>
          <p:cNvPr id="85" name="Google Shape;85;p1"/>
          <p:cNvSpPr/>
          <p:nvPr/>
        </p:nvSpPr>
        <p:spPr>
          <a:xfrm rot="10800000">
            <a:off x="8238634" y="-248041"/>
            <a:ext cx="1727717" cy="2194560"/>
          </a:xfrm>
          <a:custGeom>
            <a:rect b="b" l="l" r="r" t="t"/>
            <a:pathLst>
              <a:path extrusionOk="0" h="2194560" w="1727717">
                <a:moveTo>
                  <a:pt x="1727717" y="2194560"/>
                </a:moveTo>
                <a:lnTo>
                  <a:pt x="0" y="2194560"/>
                </a:lnTo>
                <a:lnTo>
                  <a:pt x="0" y="0"/>
                </a:lnTo>
                <a:lnTo>
                  <a:pt x="1727717" y="0"/>
                </a:lnTo>
                <a:lnTo>
                  <a:pt x="1727717" y="2194560"/>
                </a:lnTo>
                <a:close/>
              </a:path>
            </a:pathLst>
          </a:custGeom>
          <a:blipFill rotWithShape="1">
            <a:blip r:embed="rId4">
              <a:alphaModFix/>
            </a:blip>
            <a:stretch>
              <a:fillRect b="0" l="0" r="0" t="0"/>
            </a:stretch>
          </a:blipFill>
          <a:ln>
            <a:noFill/>
          </a:ln>
        </p:spPr>
      </p:sp>
      <p:sp>
        <p:nvSpPr>
          <p:cNvPr id="86" name="Google Shape;86;p1"/>
          <p:cNvSpPr/>
          <p:nvPr/>
        </p:nvSpPr>
        <p:spPr>
          <a:xfrm rot="-7074272">
            <a:off x="-1108431" y="6657734"/>
            <a:ext cx="3679902" cy="2194560"/>
          </a:xfrm>
          <a:custGeom>
            <a:rect b="b" l="l" r="r" t="t"/>
            <a:pathLst>
              <a:path extrusionOk="0" h="2194560" w="3679902">
                <a:moveTo>
                  <a:pt x="0" y="0"/>
                </a:moveTo>
                <a:lnTo>
                  <a:pt x="3679902" y="0"/>
                </a:lnTo>
                <a:lnTo>
                  <a:pt x="3679902" y="2194560"/>
                </a:lnTo>
                <a:lnTo>
                  <a:pt x="0" y="2194560"/>
                </a:lnTo>
                <a:lnTo>
                  <a:pt x="0" y="0"/>
                </a:lnTo>
                <a:close/>
              </a:path>
            </a:pathLst>
          </a:custGeom>
          <a:blipFill rotWithShape="1">
            <a:blip r:embed="rId5">
              <a:alphaModFix/>
            </a:blip>
            <a:stretch>
              <a:fillRect b="0" l="0" r="0" t="0"/>
            </a:stretch>
          </a:blipFill>
          <a:ln>
            <a:noFill/>
          </a:ln>
        </p:spPr>
      </p:sp>
      <p:sp>
        <p:nvSpPr>
          <p:cNvPr id="87" name="Google Shape;87;p1"/>
          <p:cNvSpPr/>
          <p:nvPr/>
        </p:nvSpPr>
        <p:spPr>
          <a:xfrm>
            <a:off x="-132339" y="5230991"/>
            <a:ext cx="1727717" cy="2194560"/>
          </a:xfrm>
          <a:custGeom>
            <a:rect b="b" l="l" r="r" t="t"/>
            <a:pathLst>
              <a:path extrusionOk="0" h="2194560" w="1727717">
                <a:moveTo>
                  <a:pt x="0" y="0"/>
                </a:moveTo>
                <a:lnTo>
                  <a:pt x="1727718" y="0"/>
                </a:lnTo>
                <a:lnTo>
                  <a:pt x="1727718" y="2194560"/>
                </a:lnTo>
                <a:lnTo>
                  <a:pt x="0" y="2194560"/>
                </a:lnTo>
                <a:lnTo>
                  <a:pt x="0" y="0"/>
                </a:lnTo>
                <a:close/>
              </a:path>
            </a:pathLst>
          </a:custGeom>
          <a:blipFill rotWithShape="1">
            <a:blip r:embed="rId4">
              <a:alphaModFix/>
            </a:blip>
            <a:stretch>
              <a:fillRect b="0" l="0" r="0" t="0"/>
            </a:stretch>
          </a:blipFill>
          <a:ln>
            <a:noFill/>
          </a:ln>
        </p:spPr>
      </p:sp>
      <p:sp>
        <p:nvSpPr>
          <p:cNvPr id="88" name="Google Shape;88;p1"/>
          <p:cNvSpPr/>
          <p:nvPr/>
        </p:nvSpPr>
        <p:spPr>
          <a:xfrm flipH="1" rot="10800000">
            <a:off x="-23372" y="-8212"/>
            <a:ext cx="1343753" cy="1714902"/>
          </a:xfrm>
          <a:custGeom>
            <a:rect b="b" l="l" r="r" t="t"/>
            <a:pathLst>
              <a:path extrusionOk="0" h="1714902" w="1343753">
                <a:moveTo>
                  <a:pt x="0" y="1714902"/>
                </a:moveTo>
                <a:lnTo>
                  <a:pt x="1343754" y="1714902"/>
                </a:lnTo>
                <a:lnTo>
                  <a:pt x="1343754" y="0"/>
                </a:lnTo>
                <a:lnTo>
                  <a:pt x="0" y="0"/>
                </a:lnTo>
                <a:lnTo>
                  <a:pt x="0" y="1714902"/>
                </a:lnTo>
                <a:close/>
              </a:path>
            </a:pathLst>
          </a:custGeom>
          <a:blipFill rotWithShape="1">
            <a:blip r:embed="rId3">
              <a:alphaModFix/>
            </a:blip>
            <a:stretch>
              <a:fillRect b="-47966" l="-57592" r="0" t="0"/>
            </a:stretch>
          </a:blipFill>
          <a:ln>
            <a:noFill/>
          </a:ln>
        </p:spPr>
      </p:sp>
      <p:sp>
        <p:nvSpPr>
          <p:cNvPr id="89" name="Google Shape;89;p1"/>
          <p:cNvSpPr/>
          <p:nvPr/>
        </p:nvSpPr>
        <p:spPr>
          <a:xfrm flipH="1">
            <a:off x="8430616" y="5720926"/>
            <a:ext cx="1343753" cy="1714902"/>
          </a:xfrm>
          <a:custGeom>
            <a:rect b="b" l="l" r="r" t="t"/>
            <a:pathLst>
              <a:path extrusionOk="0" h="1714902" w="1343753">
                <a:moveTo>
                  <a:pt x="0" y="1714903"/>
                </a:moveTo>
                <a:lnTo>
                  <a:pt x="1343753" y="1714903"/>
                </a:lnTo>
                <a:lnTo>
                  <a:pt x="1343753" y="0"/>
                </a:lnTo>
                <a:lnTo>
                  <a:pt x="0" y="0"/>
                </a:lnTo>
                <a:lnTo>
                  <a:pt x="0" y="1714903"/>
                </a:lnTo>
                <a:close/>
              </a:path>
            </a:pathLst>
          </a:custGeom>
          <a:blipFill rotWithShape="1">
            <a:blip r:embed="rId3">
              <a:alphaModFix/>
            </a:blip>
            <a:stretch>
              <a:fillRect b="-47966" l="-57592" r="0" t="0"/>
            </a:stretch>
          </a:blipFill>
          <a:ln>
            <a:noFill/>
          </a:ln>
        </p:spPr>
      </p:sp>
      <p:sp>
        <p:nvSpPr>
          <p:cNvPr id="90" name="Google Shape;90;p1"/>
          <p:cNvSpPr/>
          <p:nvPr/>
        </p:nvSpPr>
        <p:spPr>
          <a:xfrm rot="-8005730">
            <a:off x="-808444" y="-983558"/>
            <a:ext cx="2579350" cy="2632979"/>
          </a:xfrm>
          <a:custGeom>
            <a:rect b="b" l="l" r="r" t="t"/>
            <a:pathLst>
              <a:path extrusionOk="0" h="2632979" w="2579350">
                <a:moveTo>
                  <a:pt x="0" y="0"/>
                </a:moveTo>
                <a:lnTo>
                  <a:pt x="2579351" y="0"/>
                </a:lnTo>
                <a:lnTo>
                  <a:pt x="2579351" y="2632980"/>
                </a:lnTo>
                <a:lnTo>
                  <a:pt x="0" y="2632980"/>
                </a:lnTo>
                <a:lnTo>
                  <a:pt x="0" y="0"/>
                </a:lnTo>
                <a:close/>
              </a:path>
            </a:pathLst>
          </a:custGeom>
          <a:blipFill rotWithShape="1">
            <a:blip r:embed="rId6">
              <a:alphaModFix/>
            </a:blip>
            <a:stretch>
              <a:fillRect b="0" l="0" r="0" t="0"/>
            </a:stretch>
          </a:blipFill>
          <a:ln>
            <a:noFill/>
          </a:ln>
        </p:spPr>
      </p:sp>
      <p:sp>
        <p:nvSpPr>
          <p:cNvPr id="91" name="Google Shape;91;p1"/>
          <p:cNvSpPr/>
          <p:nvPr/>
        </p:nvSpPr>
        <p:spPr>
          <a:xfrm rot="1696075">
            <a:off x="9068236" y="4886091"/>
            <a:ext cx="2579350" cy="2632979"/>
          </a:xfrm>
          <a:custGeom>
            <a:rect b="b" l="l" r="r" t="t"/>
            <a:pathLst>
              <a:path extrusionOk="0" h="2632979" w="2579350">
                <a:moveTo>
                  <a:pt x="0" y="0"/>
                </a:moveTo>
                <a:lnTo>
                  <a:pt x="2579350" y="0"/>
                </a:lnTo>
                <a:lnTo>
                  <a:pt x="2579350" y="2632980"/>
                </a:lnTo>
                <a:lnTo>
                  <a:pt x="0" y="2632980"/>
                </a:lnTo>
                <a:lnTo>
                  <a:pt x="0" y="0"/>
                </a:lnTo>
                <a:close/>
              </a:path>
            </a:pathLst>
          </a:custGeom>
          <a:blipFill rotWithShape="1">
            <a:blip r:embed="rId6">
              <a:alphaModFix/>
            </a:blip>
            <a:stretch>
              <a:fillRect b="0" l="0" r="0" t="0"/>
            </a:stretch>
          </a:blipFill>
          <a:ln>
            <a:noFill/>
          </a:ln>
        </p:spPr>
      </p:sp>
      <p:sp>
        <p:nvSpPr>
          <p:cNvPr id="92" name="Google Shape;92;p1"/>
          <p:cNvSpPr/>
          <p:nvPr/>
        </p:nvSpPr>
        <p:spPr>
          <a:xfrm>
            <a:off x="-6192" y="26282"/>
            <a:ext cx="1344714" cy="1440921"/>
          </a:xfrm>
          <a:custGeom>
            <a:rect b="b" l="l" r="r" t="t"/>
            <a:pathLst>
              <a:path extrusionOk="0" h="1440921" w="1344714">
                <a:moveTo>
                  <a:pt x="0" y="0"/>
                </a:moveTo>
                <a:lnTo>
                  <a:pt x="1344713" y="0"/>
                </a:lnTo>
                <a:lnTo>
                  <a:pt x="1344713" y="1440920"/>
                </a:lnTo>
                <a:lnTo>
                  <a:pt x="0" y="1440920"/>
                </a:lnTo>
                <a:lnTo>
                  <a:pt x="0" y="0"/>
                </a:lnTo>
                <a:close/>
              </a:path>
            </a:pathLst>
          </a:custGeom>
          <a:blipFill rotWithShape="1">
            <a:blip r:embed="rId7">
              <a:alphaModFix/>
            </a:blip>
            <a:stretch>
              <a:fillRect b="0" l="0" r="0" t="0"/>
            </a:stretch>
          </a:blipFill>
          <a:ln>
            <a:noFill/>
          </a:ln>
        </p:spPr>
      </p:sp>
      <p:sp>
        <p:nvSpPr>
          <p:cNvPr id="93" name="Google Shape;93;p1"/>
          <p:cNvSpPr/>
          <p:nvPr/>
        </p:nvSpPr>
        <p:spPr>
          <a:xfrm rot="10800000">
            <a:off x="8412476" y="5960414"/>
            <a:ext cx="1344714" cy="1440921"/>
          </a:xfrm>
          <a:custGeom>
            <a:rect b="b" l="l" r="r" t="t"/>
            <a:pathLst>
              <a:path extrusionOk="0" h="1440921" w="1344714">
                <a:moveTo>
                  <a:pt x="0" y="0"/>
                </a:moveTo>
                <a:lnTo>
                  <a:pt x="1344714" y="0"/>
                </a:lnTo>
                <a:lnTo>
                  <a:pt x="1344714" y="1440921"/>
                </a:lnTo>
                <a:lnTo>
                  <a:pt x="0" y="1440921"/>
                </a:lnTo>
                <a:lnTo>
                  <a:pt x="0" y="0"/>
                </a:lnTo>
                <a:close/>
              </a:path>
            </a:pathLst>
          </a:custGeom>
          <a:blipFill rotWithShape="1">
            <a:blip r:embed="rId7">
              <a:alphaModFix/>
            </a:blip>
            <a:stretch>
              <a:fillRect b="0" l="0" r="0" t="0"/>
            </a:stretch>
          </a:blipFill>
          <a:ln>
            <a:noFill/>
          </a:ln>
        </p:spPr>
      </p:sp>
      <p:grpSp>
        <p:nvGrpSpPr>
          <p:cNvPr id="94" name="Google Shape;94;p1"/>
          <p:cNvGrpSpPr/>
          <p:nvPr/>
        </p:nvGrpSpPr>
        <p:grpSpPr>
          <a:xfrm>
            <a:off x="3045429" y="5438176"/>
            <a:ext cx="3916996" cy="764405"/>
            <a:chOff x="0" y="-28575"/>
            <a:chExt cx="1934319" cy="377484"/>
          </a:xfrm>
        </p:grpSpPr>
        <p:sp>
          <p:nvSpPr>
            <p:cNvPr id="95" name="Google Shape;95;p1"/>
            <p:cNvSpPr/>
            <p:nvPr/>
          </p:nvSpPr>
          <p:spPr>
            <a:xfrm>
              <a:off x="0" y="0"/>
              <a:ext cx="1934319" cy="348909"/>
            </a:xfrm>
            <a:custGeom>
              <a:rect b="b" l="l" r="r" t="t"/>
              <a:pathLst>
                <a:path extrusionOk="0" h="348909" w="1934319">
                  <a:moveTo>
                    <a:pt x="49412" y="0"/>
                  </a:moveTo>
                  <a:lnTo>
                    <a:pt x="1884907" y="0"/>
                  </a:lnTo>
                  <a:cubicBezTo>
                    <a:pt x="1912196" y="0"/>
                    <a:pt x="1934319" y="22123"/>
                    <a:pt x="1934319" y="49412"/>
                  </a:cubicBezTo>
                  <a:lnTo>
                    <a:pt x="1934319" y="299497"/>
                  </a:lnTo>
                  <a:cubicBezTo>
                    <a:pt x="1934319" y="326786"/>
                    <a:pt x="1912196" y="348909"/>
                    <a:pt x="1884907" y="348909"/>
                  </a:cubicBezTo>
                  <a:lnTo>
                    <a:pt x="49412" y="348909"/>
                  </a:lnTo>
                  <a:cubicBezTo>
                    <a:pt x="22123" y="348909"/>
                    <a:pt x="0" y="326786"/>
                    <a:pt x="0" y="299497"/>
                  </a:cubicBezTo>
                  <a:lnTo>
                    <a:pt x="0" y="49412"/>
                  </a:lnTo>
                  <a:cubicBezTo>
                    <a:pt x="0" y="22123"/>
                    <a:pt x="22123" y="0"/>
                    <a:pt x="4941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0" y="-28575"/>
              <a:ext cx="1934319" cy="377484"/>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218488" y="2528010"/>
            <a:ext cx="9316623" cy="78037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5973" u="none" cap="none" strike="noStrike">
                <a:solidFill>
                  <a:srgbClr val="724E39"/>
                </a:solidFill>
                <a:latin typeface="Fredoka"/>
                <a:ea typeface="Fredoka"/>
                <a:cs typeface="Fredoka"/>
                <a:sym typeface="Fredoka"/>
              </a:rPr>
              <a:t>YOLO WORLD</a:t>
            </a:r>
            <a:endParaRPr/>
          </a:p>
        </p:txBody>
      </p:sp>
      <p:sp>
        <p:nvSpPr>
          <p:cNvPr id="98" name="Google Shape;98;p1"/>
          <p:cNvSpPr txBox="1"/>
          <p:nvPr/>
        </p:nvSpPr>
        <p:spPr>
          <a:xfrm>
            <a:off x="1369410" y="3306052"/>
            <a:ext cx="7014781" cy="1324864"/>
          </a:xfrm>
          <a:prstGeom prst="rect">
            <a:avLst/>
          </a:prstGeom>
          <a:noFill/>
          <a:ln>
            <a:noFill/>
          </a:ln>
        </p:spPr>
        <p:txBody>
          <a:bodyPr anchorCtr="0" anchor="t" bIns="0" lIns="0" spcFirstLastPara="1" rIns="0" wrap="square" tIns="0">
            <a:spAutoFit/>
          </a:bodyPr>
          <a:lstStyle/>
          <a:p>
            <a:pPr indent="0" lvl="0" marL="0" marR="0" rtl="0" algn="ctr">
              <a:lnSpc>
                <a:spcPct val="169000"/>
              </a:lnSpc>
              <a:spcBef>
                <a:spcPts val="0"/>
              </a:spcBef>
              <a:spcAft>
                <a:spcPts val="0"/>
              </a:spcAft>
              <a:buNone/>
            </a:pPr>
            <a:r>
              <a:rPr b="0" i="0" lang="en-US" sz="3200" u="none" cap="none" strike="noStrike">
                <a:solidFill>
                  <a:srgbClr val="724E39"/>
                </a:solidFill>
                <a:latin typeface="Arial"/>
                <a:ea typeface="Arial"/>
                <a:cs typeface="Arial"/>
                <a:sym typeface="Arial"/>
              </a:rPr>
              <a:t>Real-Time Open Vocabulary Object Detection</a:t>
            </a:r>
            <a:endParaRPr/>
          </a:p>
        </p:txBody>
      </p:sp>
      <p:sp>
        <p:nvSpPr>
          <p:cNvPr id="99" name="Google Shape;99;p1"/>
          <p:cNvSpPr txBox="1"/>
          <p:nvPr/>
        </p:nvSpPr>
        <p:spPr>
          <a:xfrm>
            <a:off x="3029873" y="5440538"/>
            <a:ext cx="3932552" cy="762043"/>
          </a:xfrm>
          <a:prstGeom prst="rect">
            <a:avLst/>
          </a:prstGeom>
          <a:noFill/>
          <a:ln>
            <a:noFill/>
          </a:ln>
        </p:spPr>
        <p:txBody>
          <a:bodyPr anchorCtr="0" anchor="t" bIns="0" lIns="0" spcFirstLastPara="1" rIns="0" wrap="square" tIns="0">
            <a:spAutoFit/>
          </a:bodyPr>
          <a:lstStyle/>
          <a:p>
            <a:pPr indent="0" lvl="0" marL="0" marR="0" rtl="0" algn="ctr">
              <a:lnSpc>
                <a:spcPct val="169024"/>
              </a:lnSpc>
              <a:spcBef>
                <a:spcPts val="0"/>
              </a:spcBef>
              <a:spcAft>
                <a:spcPts val="0"/>
              </a:spcAft>
              <a:buNone/>
            </a:pPr>
            <a:r>
              <a:rPr b="0" i="0" lang="en-US" sz="1866" u="none" cap="none" strike="noStrike">
                <a:solidFill>
                  <a:srgbClr val="FFFFFF"/>
                </a:solidFill>
                <a:latin typeface="Arial"/>
                <a:ea typeface="Arial"/>
                <a:cs typeface="Arial"/>
                <a:sym typeface="Arial"/>
              </a:rPr>
              <a:t>Peng Lu</a:t>
            </a:r>
            <a:endParaRPr/>
          </a:p>
          <a:p>
            <a:pPr indent="0" lvl="0" marL="0" marR="0" rtl="0" algn="ctr">
              <a:lnSpc>
                <a:spcPct val="169024"/>
              </a:lnSpc>
              <a:spcBef>
                <a:spcPts val="0"/>
              </a:spcBef>
              <a:spcAft>
                <a:spcPts val="0"/>
              </a:spcAft>
              <a:buNone/>
            </a:pPr>
            <a:r>
              <a:rPr b="0" i="0" lang="en-US" sz="1866" u="none" cap="none" strike="noStrike">
                <a:solidFill>
                  <a:srgbClr val="FFFFFF"/>
                </a:solidFill>
                <a:latin typeface="Arial"/>
                <a:ea typeface="Arial"/>
                <a:cs typeface="Arial"/>
                <a:sym typeface="Arial"/>
              </a:rPr>
              <a:t>Unibo LM informatica 2025/2026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103" name="Shape 103"/>
        <p:cNvGrpSpPr/>
        <p:nvPr/>
      </p:nvGrpSpPr>
      <p:grpSpPr>
        <a:xfrm>
          <a:off x="0" y="0"/>
          <a:ext cx="0" cy="0"/>
          <a:chOff x="0" y="0"/>
          <a:chExt cx="0" cy="0"/>
        </a:xfrm>
      </p:grpSpPr>
      <p:sp>
        <p:nvSpPr>
          <p:cNvPr id="104" name="Google Shape;104;p2"/>
          <p:cNvSpPr/>
          <p:nvPr/>
        </p:nvSpPr>
        <p:spPr>
          <a:xfrm flipH="1" rot="2319775">
            <a:off x="8226614" y="5928941"/>
            <a:ext cx="1590933" cy="1704756"/>
          </a:xfrm>
          <a:custGeom>
            <a:rect b="b" l="l" r="r" t="t"/>
            <a:pathLst>
              <a:path extrusionOk="0" h="1704756" w="1590933">
                <a:moveTo>
                  <a:pt x="1590932" y="0"/>
                </a:moveTo>
                <a:lnTo>
                  <a:pt x="0" y="0"/>
                </a:lnTo>
                <a:lnTo>
                  <a:pt x="0" y="1704755"/>
                </a:lnTo>
                <a:lnTo>
                  <a:pt x="1590932" y="1704755"/>
                </a:lnTo>
                <a:lnTo>
                  <a:pt x="1590932" y="0"/>
                </a:lnTo>
                <a:close/>
              </a:path>
            </a:pathLst>
          </a:custGeom>
          <a:blipFill rotWithShape="1">
            <a:blip r:embed="rId3">
              <a:alphaModFix/>
            </a:blip>
            <a:stretch>
              <a:fillRect b="0" l="0" r="0" t="0"/>
            </a:stretch>
          </a:blipFill>
          <a:ln>
            <a:noFill/>
          </a:ln>
        </p:spPr>
      </p:sp>
      <p:sp>
        <p:nvSpPr>
          <p:cNvPr id="105" name="Google Shape;105;p2"/>
          <p:cNvSpPr/>
          <p:nvPr/>
        </p:nvSpPr>
        <p:spPr>
          <a:xfrm rot="3983876">
            <a:off x="-1193776" y="5584216"/>
            <a:ext cx="3850591" cy="2296353"/>
          </a:xfrm>
          <a:custGeom>
            <a:rect b="b" l="l" r="r" t="t"/>
            <a:pathLst>
              <a:path extrusionOk="0" h="2296353" w="3850591">
                <a:moveTo>
                  <a:pt x="0" y="0"/>
                </a:moveTo>
                <a:lnTo>
                  <a:pt x="3850592" y="0"/>
                </a:lnTo>
                <a:lnTo>
                  <a:pt x="3850592" y="2296353"/>
                </a:lnTo>
                <a:lnTo>
                  <a:pt x="0" y="2296353"/>
                </a:lnTo>
                <a:lnTo>
                  <a:pt x="0" y="0"/>
                </a:lnTo>
                <a:close/>
              </a:path>
            </a:pathLst>
          </a:custGeom>
          <a:blipFill rotWithShape="1">
            <a:blip r:embed="rId4">
              <a:alphaModFix/>
            </a:blip>
            <a:stretch>
              <a:fillRect b="0" l="0" r="0" t="0"/>
            </a:stretch>
          </a:blipFill>
          <a:ln>
            <a:noFill/>
          </a:ln>
        </p:spPr>
      </p:sp>
      <p:grpSp>
        <p:nvGrpSpPr>
          <p:cNvPr id="106" name="Google Shape;106;p2"/>
          <p:cNvGrpSpPr/>
          <p:nvPr/>
        </p:nvGrpSpPr>
        <p:grpSpPr>
          <a:xfrm>
            <a:off x="731520" y="899187"/>
            <a:ext cx="8290560" cy="5458962"/>
            <a:chOff x="0" y="-28575"/>
            <a:chExt cx="4094104" cy="2695784"/>
          </a:xfrm>
        </p:grpSpPr>
        <p:sp>
          <p:nvSpPr>
            <p:cNvPr id="107" name="Google Shape;107;p2"/>
            <p:cNvSpPr/>
            <p:nvPr/>
          </p:nvSpPr>
          <p:spPr>
            <a:xfrm>
              <a:off x="0" y="0"/>
              <a:ext cx="4094104" cy="2667209"/>
            </a:xfrm>
            <a:custGeom>
              <a:rect b="b" l="l" r="r" t="t"/>
              <a:pathLst>
                <a:path extrusionOk="0" h="2667209" w="4094104">
                  <a:moveTo>
                    <a:pt x="28015" y="0"/>
                  </a:moveTo>
                  <a:lnTo>
                    <a:pt x="4066089" y="0"/>
                  </a:lnTo>
                  <a:cubicBezTo>
                    <a:pt x="4073519" y="0"/>
                    <a:pt x="4080644" y="2952"/>
                    <a:pt x="4085898" y="8205"/>
                  </a:cubicBezTo>
                  <a:cubicBezTo>
                    <a:pt x="4091152" y="13459"/>
                    <a:pt x="4094104" y="20585"/>
                    <a:pt x="4094104" y="28015"/>
                  </a:cubicBezTo>
                  <a:lnTo>
                    <a:pt x="4094104" y="2639194"/>
                  </a:lnTo>
                  <a:cubicBezTo>
                    <a:pt x="4094104" y="2654666"/>
                    <a:pt x="4081561" y="2667209"/>
                    <a:pt x="4066089" y="2667209"/>
                  </a:cubicBezTo>
                  <a:lnTo>
                    <a:pt x="28015" y="2667209"/>
                  </a:lnTo>
                  <a:cubicBezTo>
                    <a:pt x="20585" y="2667209"/>
                    <a:pt x="13459" y="2664258"/>
                    <a:pt x="8205" y="2659004"/>
                  </a:cubicBezTo>
                  <a:cubicBezTo>
                    <a:pt x="2952" y="2653750"/>
                    <a:pt x="0" y="2646624"/>
                    <a:pt x="0" y="2639194"/>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0" y="-28575"/>
              <a:ext cx="4094104" cy="2695784"/>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9" name="Google Shape;109;p2"/>
          <p:cNvSpPr/>
          <p:nvPr/>
        </p:nvSpPr>
        <p:spPr>
          <a:xfrm flipH="1" rot="3991733">
            <a:off x="-66735" y="5582578"/>
            <a:ext cx="1360005" cy="1727489"/>
          </a:xfrm>
          <a:custGeom>
            <a:rect b="b" l="l" r="r" t="t"/>
            <a:pathLst>
              <a:path extrusionOk="0" h="1727489" w="1360005">
                <a:moveTo>
                  <a:pt x="0" y="1727489"/>
                </a:moveTo>
                <a:lnTo>
                  <a:pt x="1360004" y="1727489"/>
                </a:lnTo>
                <a:lnTo>
                  <a:pt x="1360004" y="0"/>
                </a:lnTo>
                <a:lnTo>
                  <a:pt x="0" y="0"/>
                </a:lnTo>
                <a:lnTo>
                  <a:pt x="0" y="1727489"/>
                </a:lnTo>
                <a:close/>
              </a:path>
            </a:pathLst>
          </a:custGeom>
          <a:blipFill rotWithShape="1">
            <a:blip r:embed="rId5">
              <a:alphaModFix/>
            </a:blip>
            <a:stretch>
              <a:fillRect b="0" l="0" r="0" t="0"/>
            </a:stretch>
          </a:blipFill>
          <a:ln>
            <a:noFill/>
          </a:ln>
        </p:spPr>
      </p:sp>
      <p:grpSp>
        <p:nvGrpSpPr>
          <p:cNvPr id="110" name="Google Shape;110;p2"/>
          <p:cNvGrpSpPr/>
          <p:nvPr/>
        </p:nvGrpSpPr>
        <p:grpSpPr>
          <a:xfrm>
            <a:off x="2588568" y="4924417"/>
            <a:ext cx="4576465" cy="694378"/>
            <a:chOff x="0" y="-38100"/>
            <a:chExt cx="2259983" cy="342902"/>
          </a:xfrm>
        </p:grpSpPr>
        <p:sp>
          <p:nvSpPr>
            <p:cNvPr id="111" name="Google Shape;111;p2"/>
            <p:cNvSpPr/>
            <p:nvPr/>
          </p:nvSpPr>
          <p:spPr>
            <a:xfrm>
              <a:off x="0" y="0"/>
              <a:ext cx="2259983" cy="304802"/>
            </a:xfrm>
            <a:custGeom>
              <a:rect b="b" l="l" r="r" t="t"/>
              <a:pathLst>
                <a:path extrusionOk="0" h="304802" w="2259983">
                  <a:moveTo>
                    <a:pt x="42292" y="0"/>
                  </a:moveTo>
                  <a:lnTo>
                    <a:pt x="2217691" y="0"/>
                  </a:lnTo>
                  <a:cubicBezTo>
                    <a:pt x="2228907" y="0"/>
                    <a:pt x="2239664" y="4456"/>
                    <a:pt x="2247596" y="12387"/>
                  </a:cubicBezTo>
                  <a:cubicBezTo>
                    <a:pt x="2255527" y="20318"/>
                    <a:pt x="2259983" y="31075"/>
                    <a:pt x="2259983" y="42292"/>
                  </a:cubicBezTo>
                  <a:lnTo>
                    <a:pt x="2259983" y="262510"/>
                  </a:lnTo>
                  <a:cubicBezTo>
                    <a:pt x="2259983" y="273727"/>
                    <a:pt x="2255527" y="284484"/>
                    <a:pt x="2247596" y="292415"/>
                  </a:cubicBezTo>
                  <a:cubicBezTo>
                    <a:pt x="2239664" y="300347"/>
                    <a:pt x="2228907" y="304802"/>
                    <a:pt x="2217691" y="304802"/>
                  </a:cubicBezTo>
                  <a:lnTo>
                    <a:pt x="42292" y="304802"/>
                  </a:lnTo>
                  <a:cubicBezTo>
                    <a:pt x="31075" y="304802"/>
                    <a:pt x="20318" y="300347"/>
                    <a:pt x="12387" y="292415"/>
                  </a:cubicBezTo>
                  <a:cubicBezTo>
                    <a:pt x="4456" y="284484"/>
                    <a:pt x="0" y="273727"/>
                    <a:pt x="0" y="262510"/>
                  </a:cubicBezTo>
                  <a:lnTo>
                    <a:pt x="0" y="42292"/>
                  </a:lnTo>
                  <a:cubicBezTo>
                    <a:pt x="0" y="31075"/>
                    <a:pt x="4456" y="20318"/>
                    <a:pt x="12387" y="12387"/>
                  </a:cubicBezTo>
                  <a:cubicBezTo>
                    <a:pt x="20318" y="4456"/>
                    <a:pt x="31075" y="0"/>
                    <a:pt x="4229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txBox="1"/>
            <p:nvPr/>
          </p:nvSpPr>
          <p:spPr>
            <a:xfrm>
              <a:off x="0" y="-38100"/>
              <a:ext cx="2259983" cy="342902"/>
            </a:xfrm>
            <a:prstGeom prst="rect">
              <a:avLst/>
            </a:prstGeom>
            <a:noFill/>
            <a:ln>
              <a:noFill/>
            </a:ln>
          </p:spPr>
          <p:txBody>
            <a:bodyPr anchorCtr="0" anchor="ctr" bIns="27075" lIns="27075" spcFirstLastPara="1" rIns="27075" wrap="square" tIns="27075">
              <a:noAutofit/>
            </a:bodyPr>
            <a:lstStyle/>
            <a:p>
              <a:pPr indent="0" lvl="0" marL="0" marR="0" rtl="0" algn="ctr">
                <a:lnSpc>
                  <a:spcPct val="139990"/>
                </a:lnSpc>
                <a:spcBef>
                  <a:spcPts val="0"/>
                </a:spcBef>
                <a:spcAft>
                  <a:spcPts val="0"/>
                </a:spcAft>
                <a:buNone/>
              </a:pPr>
              <a:r>
                <a:rPr b="1" i="0" lang="en-US" sz="2133" u="none" cap="none" strike="noStrike">
                  <a:solidFill>
                    <a:srgbClr val="FFFFFF"/>
                  </a:solidFill>
                  <a:latin typeface="Arial"/>
                  <a:ea typeface="Arial"/>
                  <a:cs typeface="Arial"/>
                  <a:sym typeface="Arial"/>
                </a:rPr>
                <a:t>Chapter 3 : </a:t>
              </a:r>
              <a:r>
                <a:rPr b="0" i="0" lang="en-US" sz="2133" u="none" cap="none" strike="noStrike">
                  <a:solidFill>
                    <a:srgbClr val="FFFFFF"/>
                  </a:solidFill>
                  <a:latin typeface="Arial"/>
                  <a:ea typeface="Arial"/>
                  <a:cs typeface="Arial"/>
                  <a:sym typeface="Arial"/>
                </a:rPr>
                <a:t>Experiment and result</a:t>
              </a:r>
              <a:endParaRPr/>
            </a:p>
          </p:txBody>
        </p:sp>
      </p:grpSp>
      <p:sp>
        <p:nvSpPr>
          <p:cNvPr id="113" name="Google Shape;113;p2"/>
          <p:cNvSpPr txBox="1"/>
          <p:nvPr/>
        </p:nvSpPr>
        <p:spPr>
          <a:xfrm>
            <a:off x="1762528" y="2133222"/>
            <a:ext cx="6228545" cy="4947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724E39"/>
                </a:solidFill>
                <a:latin typeface="Fredoka"/>
                <a:ea typeface="Fredoka"/>
                <a:cs typeface="Fredoka"/>
                <a:sym typeface="Fredoka"/>
              </a:rPr>
              <a:t>TABLE OF CONTENTS</a:t>
            </a:r>
            <a:endParaRPr/>
          </a:p>
        </p:txBody>
      </p:sp>
      <p:grpSp>
        <p:nvGrpSpPr>
          <p:cNvPr id="114" name="Google Shape;114;p2"/>
          <p:cNvGrpSpPr/>
          <p:nvPr/>
        </p:nvGrpSpPr>
        <p:grpSpPr>
          <a:xfrm>
            <a:off x="2588568" y="2853303"/>
            <a:ext cx="4576465" cy="914928"/>
            <a:chOff x="0" y="-38100"/>
            <a:chExt cx="2259983" cy="451817"/>
          </a:xfrm>
        </p:grpSpPr>
        <p:sp>
          <p:nvSpPr>
            <p:cNvPr id="115" name="Google Shape;115;p2"/>
            <p:cNvSpPr/>
            <p:nvPr/>
          </p:nvSpPr>
          <p:spPr>
            <a:xfrm>
              <a:off x="0" y="0"/>
              <a:ext cx="2259983" cy="413717"/>
            </a:xfrm>
            <a:custGeom>
              <a:rect b="b" l="l" r="r" t="t"/>
              <a:pathLst>
                <a:path extrusionOk="0" h="413717" w="2259983">
                  <a:moveTo>
                    <a:pt x="42292" y="0"/>
                  </a:moveTo>
                  <a:lnTo>
                    <a:pt x="2217691" y="0"/>
                  </a:lnTo>
                  <a:cubicBezTo>
                    <a:pt x="2228907" y="0"/>
                    <a:pt x="2239664" y="4456"/>
                    <a:pt x="2247596" y="12387"/>
                  </a:cubicBezTo>
                  <a:cubicBezTo>
                    <a:pt x="2255527" y="20318"/>
                    <a:pt x="2259983" y="31075"/>
                    <a:pt x="2259983" y="42292"/>
                  </a:cubicBezTo>
                  <a:lnTo>
                    <a:pt x="2259983" y="371425"/>
                  </a:lnTo>
                  <a:cubicBezTo>
                    <a:pt x="2259983" y="382641"/>
                    <a:pt x="2255527" y="393398"/>
                    <a:pt x="2247596" y="401330"/>
                  </a:cubicBezTo>
                  <a:cubicBezTo>
                    <a:pt x="2239664" y="409261"/>
                    <a:pt x="2228907" y="413717"/>
                    <a:pt x="2217691" y="413717"/>
                  </a:cubicBezTo>
                  <a:lnTo>
                    <a:pt x="42292" y="413717"/>
                  </a:lnTo>
                  <a:cubicBezTo>
                    <a:pt x="31075" y="413717"/>
                    <a:pt x="20318" y="409261"/>
                    <a:pt x="12387" y="401330"/>
                  </a:cubicBezTo>
                  <a:cubicBezTo>
                    <a:pt x="4456" y="393398"/>
                    <a:pt x="0" y="382641"/>
                    <a:pt x="0" y="371425"/>
                  </a:cubicBezTo>
                  <a:lnTo>
                    <a:pt x="0" y="42292"/>
                  </a:lnTo>
                  <a:cubicBezTo>
                    <a:pt x="0" y="31075"/>
                    <a:pt x="4456" y="20318"/>
                    <a:pt x="12387" y="12387"/>
                  </a:cubicBezTo>
                  <a:cubicBezTo>
                    <a:pt x="20318" y="4456"/>
                    <a:pt x="31075" y="0"/>
                    <a:pt x="4229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txBox="1"/>
            <p:nvPr/>
          </p:nvSpPr>
          <p:spPr>
            <a:xfrm>
              <a:off x="0" y="-38100"/>
              <a:ext cx="2259983" cy="451817"/>
            </a:xfrm>
            <a:prstGeom prst="rect">
              <a:avLst/>
            </a:prstGeom>
            <a:noFill/>
            <a:ln>
              <a:noFill/>
            </a:ln>
          </p:spPr>
          <p:txBody>
            <a:bodyPr anchorCtr="0" anchor="ctr" bIns="27075" lIns="27075" spcFirstLastPara="1" rIns="27075" wrap="square" tIns="27075">
              <a:noAutofit/>
            </a:bodyPr>
            <a:lstStyle/>
            <a:p>
              <a:pPr indent="0" lvl="0" marL="0" marR="0" rtl="0" algn="ctr">
                <a:lnSpc>
                  <a:spcPct val="139990"/>
                </a:lnSpc>
                <a:spcBef>
                  <a:spcPts val="0"/>
                </a:spcBef>
                <a:spcAft>
                  <a:spcPts val="0"/>
                </a:spcAft>
                <a:buNone/>
              </a:pPr>
              <a:r>
                <a:rPr b="1" i="0" lang="en-US" sz="2133" u="none" cap="none" strike="noStrike">
                  <a:solidFill>
                    <a:srgbClr val="FFFFFF"/>
                  </a:solidFill>
                  <a:latin typeface="Arial"/>
                  <a:ea typeface="Arial"/>
                  <a:cs typeface="Arial"/>
                  <a:sym typeface="Arial"/>
                </a:rPr>
                <a:t>Chapter 1 : </a:t>
              </a:r>
              <a:r>
                <a:rPr b="0" i="0" lang="en-US" sz="2133" u="none" cap="none" strike="noStrike">
                  <a:solidFill>
                    <a:srgbClr val="FFFFFF"/>
                  </a:solidFill>
                  <a:latin typeface="Arial"/>
                  <a:ea typeface="Arial"/>
                  <a:cs typeface="Arial"/>
                  <a:sym typeface="Arial"/>
                </a:rPr>
                <a:t>Introduction and model architecture</a:t>
              </a:r>
              <a:endParaRPr/>
            </a:p>
          </p:txBody>
        </p:sp>
      </p:grpSp>
      <p:grpSp>
        <p:nvGrpSpPr>
          <p:cNvPr id="117" name="Google Shape;117;p2"/>
          <p:cNvGrpSpPr/>
          <p:nvPr/>
        </p:nvGrpSpPr>
        <p:grpSpPr>
          <a:xfrm>
            <a:off x="2588568" y="3691079"/>
            <a:ext cx="4576465" cy="1286403"/>
            <a:chOff x="0" y="-38100"/>
            <a:chExt cx="2259983" cy="635261"/>
          </a:xfrm>
        </p:grpSpPr>
        <p:sp>
          <p:nvSpPr>
            <p:cNvPr id="118" name="Google Shape;118;p2"/>
            <p:cNvSpPr/>
            <p:nvPr/>
          </p:nvSpPr>
          <p:spPr>
            <a:xfrm>
              <a:off x="0" y="0"/>
              <a:ext cx="2259983" cy="597161"/>
            </a:xfrm>
            <a:custGeom>
              <a:rect b="b" l="l" r="r" t="t"/>
              <a:pathLst>
                <a:path extrusionOk="0" h="597161" w="2259983">
                  <a:moveTo>
                    <a:pt x="42292" y="0"/>
                  </a:moveTo>
                  <a:lnTo>
                    <a:pt x="2217691" y="0"/>
                  </a:lnTo>
                  <a:cubicBezTo>
                    <a:pt x="2228907" y="0"/>
                    <a:pt x="2239664" y="4456"/>
                    <a:pt x="2247596" y="12387"/>
                  </a:cubicBezTo>
                  <a:cubicBezTo>
                    <a:pt x="2255527" y="20318"/>
                    <a:pt x="2259983" y="31075"/>
                    <a:pt x="2259983" y="42292"/>
                  </a:cubicBezTo>
                  <a:lnTo>
                    <a:pt x="2259983" y="554869"/>
                  </a:lnTo>
                  <a:cubicBezTo>
                    <a:pt x="2259983" y="566086"/>
                    <a:pt x="2255527" y="576843"/>
                    <a:pt x="2247596" y="584774"/>
                  </a:cubicBezTo>
                  <a:cubicBezTo>
                    <a:pt x="2239664" y="592705"/>
                    <a:pt x="2228907" y="597161"/>
                    <a:pt x="2217691" y="597161"/>
                  </a:cubicBezTo>
                  <a:lnTo>
                    <a:pt x="42292" y="597161"/>
                  </a:lnTo>
                  <a:cubicBezTo>
                    <a:pt x="31075" y="597161"/>
                    <a:pt x="20318" y="592705"/>
                    <a:pt x="12387" y="584774"/>
                  </a:cubicBezTo>
                  <a:cubicBezTo>
                    <a:pt x="4456" y="576843"/>
                    <a:pt x="0" y="566086"/>
                    <a:pt x="0" y="554869"/>
                  </a:cubicBezTo>
                  <a:lnTo>
                    <a:pt x="0" y="42292"/>
                  </a:lnTo>
                  <a:cubicBezTo>
                    <a:pt x="0" y="31075"/>
                    <a:pt x="4456" y="20318"/>
                    <a:pt x="12387" y="12387"/>
                  </a:cubicBezTo>
                  <a:cubicBezTo>
                    <a:pt x="20318" y="4456"/>
                    <a:pt x="31075" y="0"/>
                    <a:pt x="4229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txBox="1"/>
            <p:nvPr/>
          </p:nvSpPr>
          <p:spPr>
            <a:xfrm>
              <a:off x="0" y="-38100"/>
              <a:ext cx="2259983" cy="635261"/>
            </a:xfrm>
            <a:prstGeom prst="rect">
              <a:avLst/>
            </a:prstGeom>
            <a:noFill/>
            <a:ln>
              <a:noFill/>
            </a:ln>
          </p:spPr>
          <p:txBody>
            <a:bodyPr anchorCtr="0" anchor="ctr" bIns="27075" lIns="27075" spcFirstLastPara="1" rIns="27075" wrap="square" tIns="27075">
              <a:noAutofit/>
            </a:bodyPr>
            <a:lstStyle/>
            <a:p>
              <a:pPr indent="0" lvl="0" marL="0" marR="0" rtl="0" algn="ctr">
                <a:lnSpc>
                  <a:spcPct val="139990"/>
                </a:lnSpc>
                <a:spcBef>
                  <a:spcPts val="0"/>
                </a:spcBef>
                <a:spcAft>
                  <a:spcPts val="0"/>
                </a:spcAft>
                <a:buNone/>
              </a:pPr>
              <a:r>
                <a:rPr b="1" i="0" lang="en-US" sz="2133" u="none" cap="none" strike="noStrike">
                  <a:solidFill>
                    <a:srgbClr val="FFFFFF"/>
                  </a:solidFill>
                  <a:latin typeface="Arial"/>
                  <a:ea typeface="Arial"/>
                  <a:cs typeface="Arial"/>
                  <a:sym typeface="Arial"/>
                </a:rPr>
                <a:t>Chapter 2 :  Chapter 2 : Discussion about process of experiment</a:t>
              </a:r>
              <a:endParaRPr/>
            </a:p>
          </p:txBody>
        </p:sp>
      </p:grpSp>
      <p:sp>
        <p:nvSpPr>
          <p:cNvPr id="120" name="Google Shape;120;p2"/>
          <p:cNvSpPr/>
          <p:nvPr/>
        </p:nvSpPr>
        <p:spPr>
          <a:xfrm rot="1558469">
            <a:off x="7873730" y="-832965"/>
            <a:ext cx="2407066" cy="2457113"/>
          </a:xfrm>
          <a:custGeom>
            <a:rect b="b" l="l" r="r" t="t"/>
            <a:pathLst>
              <a:path extrusionOk="0" h="2457113" w="2407066">
                <a:moveTo>
                  <a:pt x="0" y="0"/>
                </a:moveTo>
                <a:lnTo>
                  <a:pt x="2407066" y="0"/>
                </a:lnTo>
                <a:lnTo>
                  <a:pt x="2407066" y="2457112"/>
                </a:lnTo>
                <a:lnTo>
                  <a:pt x="0" y="2457112"/>
                </a:lnTo>
                <a:lnTo>
                  <a:pt x="0" y="0"/>
                </a:lnTo>
                <a:close/>
              </a:path>
            </a:pathLst>
          </a:custGeom>
          <a:blipFill rotWithShape="1">
            <a:blip r:embed="rId6">
              <a:alphaModFix/>
            </a:blip>
            <a:stretch>
              <a:fillRect b="0" l="0" r="0" t="0"/>
            </a:stretch>
          </a:blipFill>
          <a:ln>
            <a:noFill/>
          </a:ln>
        </p:spPr>
      </p:sp>
      <p:sp>
        <p:nvSpPr>
          <p:cNvPr id="121" name="Google Shape;121;p2"/>
          <p:cNvSpPr/>
          <p:nvPr/>
        </p:nvSpPr>
        <p:spPr>
          <a:xfrm rot="5400000">
            <a:off x="166169" y="-199408"/>
            <a:ext cx="1360862" cy="1736736"/>
          </a:xfrm>
          <a:custGeom>
            <a:rect b="b" l="l" r="r" t="t"/>
            <a:pathLst>
              <a:path extrusionOk="0" h="1736736" w="1360862">
                <a:moveTo>
                  <a:pt x="1360862" y="1736736"/>
                </a:moveTo>
                <a:lnTo>
                  <a:pt x="0" y="1736736"/>
                </a:lnTo>
                <a:lnTo>
                  <a:pt x="0" y="0"/>
                </a:lnTo>
                <a:lnTo>
                  <a:pt x="1360862" y="0"/>
                </a:lnTo>
                <a:lnTo>
                  <a:pt x="1360862" y="1736736"/>
                </a:lnTo>
                <a:close/>
              </a:path>
            </a:pathLst>
          </a:custGeom>
          <a:blipFill rotWithShape="1">
            <a:blip r:embed="rId7">
              <a:alphaModFix/>
            </a:blip>
            <a:stretch>
              <a:fillRect b="-47966" l="-57592" r="0" t="0"/>
            </a:stretch>
          </a:blipFill>
          <a:ln>
            <a:noFill/>
          </a:ln>
        </p:spPr>
      </p:sp>
      <p:sp>
        <p:nvSpPr>
          <p:cNvPr id="122" name="Google Shape;122;p2"/>
          <p:cNvSpPr/>
          <p:nvPr/>
        </p:nvSpPr>
        <p:spPr>
          <a:xfrm rot="1558469">
            <a:off x="-53834" y="-2146717"/>
            <a:ext cx="2972208" cy="3034005"/>
          </a:xfrm>
          <a:custGeom>
            <a:rect b="b" l="l" r="r" t="t"/>
            <a:pathLst>
              <a:path extrusionOk="0" h="3034005" w="2972208">
                <a:moveTo>
                  <a:pt x="0" y="0"/>
                </a:moveTo>
                <a:lnTo>
                  <a:pt x="2972208" y="0"/>
                </a:lnTo>
                <a:lnTo>
                  <a:pt x="2972208" y="3034005"/>
                </a:lnTo>
                <a:lnTo>
                  <a:pt x="0" y="3034005"/>
                </a:lnTo>
                <a:lnTo>
                  <a:pt x="0" y="0"/>
                </a:lnTo>
                <a:close/>
              </a:path>
            </a:pathLst>
          </a:custGeom>
          <a:blipFill rotWithShape="1">
            <a:blip r:embed="rId6">
              <a:alphaModFix/>
            </a:blip>
            <a:stretch>
              <a:fillRect b="0" l="0" r="0" t="0"/>
            </a:stretch>
          </a:blipFill>
          <a:ln>
            <a:noFill/>
          </a:ln>
        </p:spPr>
      </p:sp>
      <p:sp>
        <p:nvSpPr>
          <p:cNvPr id="123" name="Google Shape;123;p2"/>
          <p:cNvSpPr/>
          <p:nvPr/>
        </p:nvSpPr>
        <p:spPr>
          <a:xfrm rot="-2504986">
            <a:off x="-189582" y="-100476"/>
            <a:ext cx="1647342" cy="1765201"/>
          </a:xfrm>
          <a:custGeom>
            <a:rect b="b" l="l" r="r" t="t"/>
            <a:pathLst>
              <a:path extrusionOk="0" h="1765201" w="1647342">
                <a:moveTo>
                  <a:pt x="0" y="0"/>
                </a:moveTo>
                <a:lnTo>
                  <a:pt x="1647342" y="0"/>
                </a:lnTo>
                <a:lnTo>
                  <a:pt x="1647342" y="1765201"/>
                </a:lnTo>
                <a:lnTo>
                  <a:pt x="0" y="1765201"/>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127" name="Shape 127"/>
        <p:cNvGrpSpPr/>
        <p:nvPr/>
      </p:nvGrpSpPr>
      <p:grpSpPr>
        <a:xfrm>
          <a:off x="0" y="0"/>
          <a:ext cx="0" cy="0"/>
          <a:chOff x="0" y="0"/>
          <a:chExt cx="0" cy="0"/>
        </a:xfrm>
      </p:grpSpPr>
      <p:sp>
        <p:nvSpPr>
          <p:cNvPr id="128" name="Google Shape;128;p3"/>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129" name="Google Shape;129;p3"/>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130" name="Google Shape;130;p3"/>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131" name="Google Shape;131;p3"/>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132" name="Google Shape;132;p3"/>
          <p:cNvGrpSpPr/>
          <p:nvPr/>
        </p:nvGrpSpPr>
        <p:grpSpPr>
          <a:xfrm>
            <a:off x="731520" y="2193659"/>
            <a:ext cx="8290560" cy="4049201"/>
            <a:chOff x="0" y="-28575"/>
            <a:chExt cx="4094104" cy="1999606"/>
          </a:xfrm>
        </p:grpSpPr>
        <p:sp>
          <p:nvSpPr>
            <p:cNvPr id="133" name="Google Shape;133;p3"/>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5" name="Google Shape;135;p3"/>
          <p:cNvGrpSpPr/>
          <p:nvPr/>
        </p:nvGrpSpPr>
        <p:grpSpPr>
          <a:xfrm>
            <a:off x="731520" y="1014476"/>
            <a:ext cx="8290560" cy="1076412"/>
            <a:chOff x="0" y="-28575"/>
            <a:chExt cx="4094104" cy="531562"/>
          </a:xfrm>
        </p:grpSpPr>
        <p:sp>
          <p:nvSpPr>
            <p:cNvPr id="136" name="Google Shape;136;p3"/>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8" name="Google Shape;138;p3"/>
          <p:cNvSpPr/>
          <p:nvPr/>
        </p:nvSpPr>
        <p:spPr>
          <a:xfrm flipH="1" rot="3991733">
            <a:off x="-517269" y="5434667"/>
            <a:ext cx="1640991" cy="2084400"/>
          </a:xfrm>
          <a:custGeom>
            <a:rect b="b" l="l" r="r" t="t"/>
            <a:pathLst>
              <a:path extrusionOk="0" h="2084400" w="1640991">
                <a:moveTo>
                  <a:pt x="0" y="2084399"/>
                </a:moveTo>
                <a:lnTo>
                  <a:pt x="1640991" y="2084399"/>
                </a:lnTo>
                <a:lnTo>
                  <a:pt x="1640991" y="0"/>
                </a:lnTo>
                <a:lnTo>
                  <a:pt x="0" y="0"/>
                </a:lnTo>
                <a:lnTo>
                  <a:pt x="0" y="2084399"/>
                </a:lnTo>
                <a:close/>
              </a:path>
            </a:pathLst>
          </a:custGeom>
          <a:blipFill rotWithShape="1">
            <a:blip r:embed="rId7">
              <a:alphaModFix/>
            </a:blip>
            <a:stretch>
              <a:fillRect b="0" l="0" r="0" t="0"/>
            </a:stretch>
          </a:blipFill>
          <a:ln>
            <a:noFill/>
          </a:ln>
        </p:spPr>
      </p:sp>
      <p:sp>
        <p:nvSpPr>
          <p:cNvPr id="139" name="Google Shape;139;p3"/>
          <p:cNvSpPr/>
          <p:nvPr/>
        </p:nvSpPr>
        <p:spPr>
          <a:xfrm rot="-1391152">
            <a:off x="8395245" y="4957567"/>
            <a:ext cx="1248421" cy="2620731"/>
          </a:xfrm>
          <a:custGeom>
            <a:rect b="b" l="l" r="r" t="t"/>
            <a:pathLst>
              <a:path extrusionOk="0" h="2620731" w="1248421">
                <a:moveTo>
                  <a:pt x="0" y="0"/>
                </a:moveTo>
                <a:lnTo>
                  <a:pt x="1248421" y="0"/>
                </a:lnTo>
                <a:lnTo>
                  <a:pt x="1248421" y="2620731"/>
                </a:lnTo>
                <a:lnTo>
                  <a:pt x="0" y="2620731"/>
                </a:lnTo>
                <a:lnTo>
                  <a:pt x="0" y="0"/>
                </a:lnTo>
                <a:close/>
              </a:path>
            </a:pathLst>
          </a:custGeom>
          <a:blipFill rotWithShape="1">
            <a:blip r:embed="rId8">
              <a:alphaModFix/>
            </a:blip>
            <a:stretch>
              <a:fillRect b="0" l="0" r="0" t="0"/>
            </a:stretch>
          </a:blipFill>
          <a:ln>
            <a:noFill/>
          </a:ln>
        </p:spPr>
      </p:sp>
      <p:sp>
        <p:nvSpPr>
          <p:cNvPr id="140" name="Google Shape;140;p3"/>
          <p:cNvSpPr txBox="1"/>
          <p:nvPr/>
        </p:nvSpPr>
        <p:spPr>
          <a:xfrm>
            <a:off x="1343704" y="1364656"/>
            <a:ext cx="7105285" cy="4947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 CHAPTER 1 : INTRODUCTION</a:t>
            </a:r>
            <a:endParaRPr/>
          </a:p>
        </p:txBody>
      </p:sp>
      <p:sp>
        <p:nvSpPr>
          <p:cNvPr id="141" name="Google Shape;141;p3"/>
          <p:cNvSpPr txBox="1"/>
          <p:nvPr/>
        </p:nvSpPr>
        <p:spPr>
          <a:xfrm>
            <a:off x="731520" y="2362544"/>
            <a:ext cx="8148000" cy="509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311" u="none" cap="none" strike="noStrike">
                <a:solidFill>
                  <a:srgbClr val="724E39"/>
                </a:solidFill>
                <a:latin typeface="Fredoka"/>
                <a:ea typeface="Fredoka"/>
                <a:cs typeface="Fredoka"/>
                <a:sym typeface="Fredoka"/>
              </a:rPr>
              <a:t>WHAT IS YOLO-WORLD 1</a:t>
            </a:r>
            <a:endParaRPr/>
          </a:p>
        </p:txBody>
      </p:sp>
      <p:sp>
        <p:nvSpPr>
          <p:cNvPr id="142" name="Google Shape;142;p3"/>
          <p:cNvSpPr txBox="1"/>
          <p:nvPr/>
        </p:nvSpPr>
        <p:spPr>
          <a:xfrm>
            <a:off x="661557" y="2872245"/>
            <a:ext cx="8287800" cy="3297300"/>
          </a:xfrm>
          <a:prstGeom prst="rect">
            <a:avLst/>
          </a:prstGeom>
          <a:noFill/>
          <a:ln>
            <a:noFill/>
          </a:ln>
        </p:spPr>
        <p:txBody>
          <a:bodyPr anchorCtr="0" anchor="t" bIns="0" lIns="0" spcFirstLastPara="1" rIns="0" wrap="square" tIns="0">
            <a:spAutoFit/>
          </a:bodyPr>
          <a:lstStyle/>
          <a:p>
            <a:pPr indent="0" lvl="0" marL="0" marR="0" rtl="0" algn="just">
              <a:lnSpc>
                <a:spcPct val="120022"/>
              </a:lnSpc>
              <a:spcBef>
                <a:spcPts val="0"/>
              </a:spcBef>
              <a:spcAft>
                <a:spcPts val="0"/>
              </a:spcAft>
              <a:buNone/>
            </a:pPr>
            <a:r>
              <a:rPr b="0" i="1" lang="en-US" sz="2612" u="none" cap="none" strike="noStrike">
                <a:solidFill>
                  <a:srgbClr val="724E39"/>
                </a:solidFill>
                <a:latin typeface="Arial"/>
                <a:ea typeface="Arial"/>
                <a:cs typeface="Arial"/>
                <a:sym typeface="Arial"/>
              </a:rPr>
              <a:t>YOLO-World,  an innovative approach that enhances YOLO with open? vocabulary detection capabilities through vision-language modeling and pre-training on large-scale datasets.</a:t>
            </a:r>
            <a:endParaRPr/>
          </a:p>
          <a:p>
            <a:pPr indent="0" lvl="0" marL="0" marR="0" rtl="0" algn="just">
              <a:lnSpc>
                <a:spcPct val="120022"/>
              </a:lnSpc>
              <a:spcBef>
                <a:spcPts val="0"/>
              </a:spcBef>
              <a:spcAft>
                <a:spcPts val="0"/>
              </a:spcAft>
              <a:buNone/>
            </a:pPr>
            <a:r>
              <a:t/>
            </a:r>
            <a:endParaRPr b="0" i="1" sz="2612" u="none" cap="none" strike="noStrike">
              <a:solidFill>
                <a:srgbClr val="724E39"/>
              </a:solidFill>
              <a:latin typeface="Arial"/>
              <a:ea typeface="Arial"/>
              <a:cs typeface="Arial"/>
              <a:sym typeface="Arial"/>
            </a:endParaRPr>
          </a:p>
          <a:p>
            <a:pPr indent="0" lvl="0" marL="0" marR="0" rtl="0" algn="just">
              <a:lnSpc>
                <a:spcPct val="120022"/>
              </a:lnSpc>
              <a:spcBef>
                <a:spcPts val="0"/>
              </a:spcBef>
              <a:spcAft>
                <a:spcPts val="0"/>
              </a:spcAft>
              <a:buNone/>
            </a:pPr>
            <a:r>
              <a:rPr b="0" i="0" lang="en-US" sz="2612" u="none" cap="none" strike="noStrike">
                <a:solidFill>
                  <a:srgbClr val="724E39"/>
                </a:solidFill>
                <a:latin typeface="Arial"/>
                <a:ea typeface="Arial"/>
                <a:cs typeface="Arial"/>
                <a:sym typeface="Arial"/>
              </a:rPr>
              <a:t>Original YOLO(You only look once) is a closed dataset, which is very efficient on the object they have seen.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146" name="Shape 146"/>
        <p:cNvGrpSpPr/>
        <p:nvPr/>
      </p:nvGrpSpPr>
      <p:grpSpPr>
        <a:xfrm>
          <a:off x="0" y="0"/>
          <a:ext cx="0" cy="0"/>
          <a:chOff x="0" y="0"/>
          <a:chExt cx="0" cy="0"/>
        </a:xfrm>
      </p:grpSpPr>
      <p:sp>
        <p:nvSpPr>
          <p:cNvPr id="147" name="Google Shape;147;p4"/>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148" name="Google Shape;148;p4"/>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149" name="Google Shape;149;p4"/>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150" name="Google Shape;150;p4"/>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151" name="Google Shape;151;p4"/>
          <p:cNvGrpSpPr/>
          <p:nvPr/>
        </p:nvGrpSpPr>
        <p:grpSpPr>
          <a:xfrm>
            <a:off x="731520" y="2193659"/>
            <a:ext cx="8290560" cy="4049201"/>
            <a:chOff x="0" y="-28575"/>
            <a:chExt cx="4094104" cy="1999606"/>
          </a:xfrm>
        </p:grpSpPr>
        <p:sp>
          <p:nvSpPr>
            <p:cNvPr id="152" name="Google Shape;152;p4"/>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4" name="Google Shape;154;p4"/>
          <p:cNvGrpSpPr/>
          <p:nvPr/>
        </p:nvGrpSpPr>
        <p:grpSpPr>
          <a:xfrm>
            <a:off x="731520" y="1014476"/>
            <a:ext cx="8290560" cy="1076412"/>
            <a:chOff x="0" y="-28575"/>
            <a:chExt cx="4094104" cy="531562"/>
          </a:xfrm>
        </p:grpSpPr>
        <p:sp>
          <p:nvSpPr>
            <p:cNvPr id="155" name="Google Shape;155;p4"/>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4"/>
          <p:cNvSpPr/>
          <p:nvPr/>
        </p:nvSpPr>
        <p:spPr>
          <a:xfrm flipH="1" rot="3991733">
            <a:off x="-517269" y="5434667"/>
            <a:ext cx="1640991" cy="2084400"/>
          </a:xfrm>
          <a:custGeom>
            <a:rect b="b" l="l" r="r" t="t"/>
            <a:pathLst>
              <a:path extrusionOk="0" h="2084400" w="1640991">
                <a:moveTo>
                  <a:pt x="0" y="2084399"/>
                </a:moveTo>
                <a:lnTo>
                  <a:pt x="1640991" y="2084399"/>
                </a:lnTo>
                <a:lnTo>
                  <a:pt x="1640991" y="0"/>
                </a:lnTo>
                <a:lnTo>
                  <a:pt x="0" y="0"/>
                </a:lnTo>
                <a:lnTo>
                  <a:pt x="0" y="2084399"/>
                </a:lnTo>
                <a:close/>
              </a:path>
            </a:pathLst>
          </a:custGeom>
          <a:blipFill rotWithShape="1">
            <a:blip r:embed="rId7">
              <a:alphaModFix/>
            </a:blip>
            <a:stretch>
              <a:fillRect b="0" l="0" r="0" t="0"/>
            </a:stretch>
          </a:blipFill>
          <a:ln>
            <a:noFill/>
          </a:ln>
        </p:spPr>
      </p:sp>
      <p:sp>
        <p:nvSpPr>
          <p:cNvPr id="158" name="Google Shape;158;p4"/>
          <p:cNvSpPr/>
          <p:nvPr/>
        </p:nvSpPr>
        <p:spPr>
          <a:xfrm rot="-1391152">
            <a:off x="8395245" y="4957567"/>
            <a:ext cx="1248421" cy="2620731"/>
          </a:xfrm>
          <a:custGeom>
            <a:rect b="b" l="l" r="r" t="t"/>
            <a:pathLst>
              <a:path extrusionOk="0" h="2620731" w="1248421">
                <a:moveTo>
                  <a:pt x="0" y="0"/>
                </a:moveTo>
                <a:lnTo>
                  <a:pt x="1248421" y="0"/>
                </a:lnTo>
                <a:lnTo>
                  <a:pt x="1248421" y="2620731"/>
                </a:lnTo>
                <a:lnTo>
                  <a:pt x="0" y="2620731"/>
                </a:lnTo>
                <a:lnTo>
                  <a:pt x="0" y="0"/>
                </a:lnTo>
                <a:close/>
              </a:path>
            </a:pathLst>
          </a:custGeom>
          <a:blipFill rotWithShape="1">
            <a:blip r:embed="rId8">
              <a:alphaModFix/>
            </a:blip>
            <a:stretch>
              <a:fillRect b="0" l="0" r="0" t="0"/>
            </a:stretch>
          </a:blipFill>
          <a:ln>
            <a:noFill/>
          </a:ln>
        </p:spPr>
      </p:sp>
      <p:sp>
        <p:nvSpPr>
          <p:cNvPr id="159" name="Google Shape;159;p4"/>
          <p:cNvSpPr txBox="1"/>
          <p:nvPr/>
        </p:nvSpPr>
        <p:spPr>
          <a:xfrm>
            <a:off x="1343704" y="1364656"/>
            <a:ext cx="7105285" cy="4947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 CHAPTER 1 : INTRODUCTION</a:t>
            </a:r>
            <a:endParaRPr/>
          </a:p>
        </p:txBody>
      </p:sp>
      <p:sp>
        <p:nvSpPr>
          <p:cNvPr id="160" name="Google Shape;160;p4"/>
          <p:cNvSpPr txBox="1"/>
          <p:nvPr/>
        </p:nvSpPr>
        <p:spPr>
          <a:xfrm>
            <a:off x="731520" y="2434494"/>
            <a:ext cx="8148084" cy="44090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311" u="none" cap="none" strike="noStrike">
                <a:solidFill>
                  <a:srgbClr val="724E39"/>
                </a:solidFill>
                <a:latin typeface="Fredoka"/>
                <a:ea typeface="Fredoka"/>
                <a:cs typeface="Fredoka"/>
                <a:sym typeface="Fredoka"/>
              </a:rPr>
              <a:t>WHAT IS YOLO-WORLD 2</a:t>
            </a:r>
            <a:endParaRPr/>
          </a:p>
        </p:txBody>
      </p:sp>
      <p:sp>
        <p:nvSpPr>
          <p:cNvPr id="161" name="Google Shape;161;p4"/>
          <p:cNvSpPr txBox="1"/>
          <p:nvPr/>
        </p:nvSpPr>
        <p:spPr>
          <a:xfrm>
            <a:off x="731520" y="3161145"/>
            <a:ext cx="8287935" cy="3514725"/>
          </a:xfrm>
          <a:prstGeom prst="rect">
            <a:avLst/>
          </a:prstGeom>
          <a:noFill/>
          <a:ln>
            <a:noFill/>
          </a:ln>
        </p:spPr>
        <p:txBody>
          <a:bodyPr anchorCtr="0" anchor="t" bIns="0" lIns="0" spcFirstLastPara="1" rIns="0" wrap="square" tIns="0">
            <a:spAutoFit/>
          </a:bodyPr>
          <a:lstStyle/>
          <a:p>
            <a:pPr indent="0" lvl="0" marL="0" marR="0" rtl="0" algn="just">
              <a:lnSpc>
                <a:spcPct val="120022"/>
              </a:lnSpc>
              <a:spcBef>
                <a:spcPts val="0"/>
              </a:spcBef>
              <a:spcAft>
                <a:spcPts val="0"/>
              </a:spcAft>
              <a:buNone/>
            </a:pPr>
            <a:r>
              <a:rPr b="0" i="0" lang="en-US" sz="2612" u="none" cap="none" strike="noStrike">
                <a:solidFill>
                  <a:srgbClr val="724E39"/>
                </a:solidFill>
                <a:latin typeface="Arial"/>
                <a:ea typeface="Arial"/>
                <a:cs typeface="Arial"/>
                <a:sym typeface="Arial"/>
              </a:rPr>
              <a:t>YOLO-World: Real-Time Open-Vocabulary Object Detection.</a:t>
            </a:r>
            <a:endParaRPr/>
          </a:p>
          <a:p>
            <a:pPr indent="-282058" lvl="1" marL="564116" marR="0" rtl="0" algn="l">
              <a:lnSpc>
                <a:spcPct val="120022"/>
              </a:lnSpc>
              <a:spcBef>
                <a:spcPts val="0"/>
              </a:spcBef>
              <a:spcAft>
                <a:spcPts val="0"/>
              </a:spcAft>
              <a:buClr>
                <a:srgbClr val="724E39"/>
              </a:buClr>
              <a:buSzPts val="2612"/>
              <a:buFont typeface="Arial"/>
              <a:buChar char="•"/>
            </a:pPr>
            <a:r>
              <a:rPr b="0" i="0" lang="en-US" sz="2612" u="none" cap="none" strike="noStrike">
                <a:solidFill>
                  <a:srgbClr val="724E39"/>
                </a:solidFill>
                <a:latin typeface="Arial"/>
                <a:ea typeface="Arial"/>
                <a:cs typeface="Arial"/>
                <a:sym typeface="Arial"/>
              </a:rPr>
              <a:t>Object detection: locate and classify object.</a:t>
            </a:r>
            <a:endParaRPr/>
          </a:p>
          <a:p>
            <a:pPr indent="-282058" lvl="1" marL="564116" marR="0" rtl="0" algn="l">
              <a:lnSpc>
                <a:spcPct val="120022"/>
              </a:lnSpc>
              <a:spcBef>
                <a:spcPts val="0"/>
              </a:spcBef>
              <a:spcAft>
                <a:spcPts val="0"/>
              </a:spcAft>
              <a:buClr>
                <a:srgbClr val="724E39"/>
              </a:buClr>
              <a:buSzPts val="2612"/>
              <a:buFont typeface="Arial"/>
              <a:buChar char="•"/>
            </a:pPr>
            <a:r>
              <a:rPr b="0" i="0" lang="en-US" sz="2612" u="none" cap="none" strike="noStrike">
                <a:solidFill>
                  <a:srgbClr val="724E39"/>
                </a:solidFill>
                <a:latin typeface="Arial"/>
                <a:ea typeface="Arial"/>
                <a:cs typeface="Arial"/>
                <a:sym typeface="Arial"/>
              </a:rPr>
              <a:t>Open-vocabulary: </a:t>
            </a:r>
            <a:r>
              <a:rPr b="1" i="0" lang="en-US" sz="2612" u="none" cap="none" strike="noStrike">
                <a:solidFill>
                  <a:srgbClr val="724E39"/>
                </a:solidFill>
                <a:latin typeface="Arial"/>
                <a:ea typeface="Arial"/>
                <a:cs typeface="Arial"/>
                <a:sym typeface="Arial"/>
              </a:rPr>
              <a:t>user-provided text prompts</a:t>
            </a:r>
            <a:r>
              <a:rPr b="0" i="0" lang="en-US" sz="2612" u="none" cap="none" strike="noStrike">
                <a:solidFill>
                  <a:srgbClr val="724E39"/>
                </a:solidFill>
                <a:latin typeface="Arial"/>
                <a:ea typeface="Arial"/>
                <a:cs typeface="Arial"/>
                <a:sym typeface="Arial"/>
              </a:rPr>
              <a:t> at inference time.(Even train sample doesn’t have it)</a:t>
            </a:r>
            <a:endParaRPr/>
          </a:p>
          <a:p>
            <a:pPr indent="-282058" lvl="1" marL="564116" marR="0" rtl="0" algn="l">
              <a:lnSpc>
                <a:spcPct val="120022"/>
              </a:lnSpc>
              <a:spcBef>
                <a:spcPts val="0"/>
              </a:spcBef>
              <a:spcAft>
                <a:spcPts val="0"/>
              </a:spcAft>
              <a:buClr>
                <a:srgbClr val="724E39"/>
              </a:buClr>
              <a:buSzPts val="2612"/>
              <a:buFont typeface="Arial"/>
              <a:buChar char="•"/>
            </a:pPr>
            <a:r>
              <a:rPr b="0" i="0" lang="en-US" sz="2612" u="none" cap="none" strike="noStrike">
                <a:solidFill>
                  <a:srgbClr val="724E39"/>
                </a:solidFill>
                <a:latin typeface="Arial"/>
                <a:ea typeface="Arial"/>
                <a:cs typeface="Arial"/>
                <a:sym typeface="Arial"/>
              </a:rPr>
              <a:t>Real-Time: </a:t>
            </a:r>
            <a:r>
              <a:rPr b="1" i="0" lang="en-US" sz="2612" u="none" cap="none" strike="noStrike">
                <a:solidFill>
                  <a:srgbClr val="724E39"/>
                </a:solidFill>
                <a:latin typeface="Arial"/>
                <a:ea typeface="Arial"/>
                <a:cs typeface="Arial"/>
                <a:sym typeface="Arial"/>
              </a:rPr>
              <a:t>Quick </a:t>
            </a:r>
            <a:r>
              <a:rPr b="0" i="0" lang="en-US" sz="2612" u="none" cap="none" strike="noStrike">
                <a:solidFill>
                  <a:srgbClr val="724E39"/>
                </a:solidFill>
                <a:latin typeface="Arial"/>
                <a:ea typeface="Arial"/>
                <a:cs typeface="Arial"/>
                <a:sym typeface="Arial"/>
              </a:rPr>
              <a:t>on the speed</a:t>
            </a:r>
            <a:endParaRPr/>
          </a:p>
          <a:p>
            <a:pPr indent="0" lvl="0" marL="0" marR="0" rtl="0" algn="just">
              <a:lnSpc>
                <a:spcPct val="120022"/>
              </a:lnSpc>
              <a:spcBef>
                <a:spcPts val="0"/>
              </a:spcBef>
              <a:spcAft>
                <a:spcPts val="0"/>
              </a:spcAft>
              <a:buNone/>
            </a:pPr>
            <a:r>
              <a:t/>
            </a:r>
            <a:endParaRPr b="0" i="0" sz="2612" u="none" cap="none" strike="noStrike">
              <a:solidFill>
                <a:srgbClr val="724E39"/>
              </a:solidFill>
              <a:latin typeface="Arial"/>
              <a:ea typeface="Arial"/>
              <a:cs typeface="Arial"/>
              <a:sym typeface="Arial"/>
            </a:endParaRPr>
          </a:p>
          <a:p>
            <a:pPr indent="0" lvl="0" marL="0" marR="0" rtl="0" algn="just">
              <a:lnSpc>
                <a:spcPct val="120022"/>
              </a:lnSpc>
              <a:spcBef>
                <a:spcPts val="0"/>
              </a:spcBef>
              <a:spcAft>
                <a:spcPts val="0"/>
              </a:spcAft>
              <a:buNone/>
            </a:pPr>
            <a:r>
              <a:t/>
            </a:r>
            <a:endParaRPr b="0" i="0" sz="2612" u="none" cap="none" strike="noStrike">
              <a:solidFill>
                <a:srgbClr val="724E3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165" name="Shape 165"/>
        <p:cNvGrpSpPr/>
        <p:nvPr/>
      </p:nvGrpSpPr>
      <p:grpSpPr>
        <a:xfrm>
          <a:off x="0" y="0"/>
          <a:ext cx="0" cy="0"/>
          <a:chOff x="0" y="0"/>
          <a:chExt cx="0" cy="0"/>
        </a:xfrm>
      </p:grpSpPr>
      <p:sp>
        <p:nvSpPr>
          <p:cNvPr id="166" name="Google Shape;166;p5"/>
          <p:cNvSpPr/>
          <p:nvPr/>
        </p:nvSpPr>
        <p:spPr>
          <a:xfrm rot="-6657707">
            <a:off x="8511878" y="-888513"/>
            <a:ext cx="2421333" cy="2471677"/>
          </a:xfrm>
          <a:custGeom>
            <a:rect b="b" l="l" r="r" t="t"/>
            <a:pathLst>
              <a:path extrusionOk="0" h="2471677" w="2421333">
                <a:moveTo>
                  <a:pt x="0" y="0"/>
                </a:moveTo>
                <a:lnTo>
                  <a:pt x="2421333" y="0"/>
                </a:lnTo>
                <a:lnTo>
                  <a:pt x="2421333" y="2471677"/>
                </a:lnTo>
                <a:lnTo>
                  <a:pt x="0" y="2471677"/>
                </a:lnTo>
                <a:lnTo>
                  <a:pt x="0" y="0"/>
                </a:lnTo>
                <a:close/>
              </a:path>
            </a:pathLst>
          </a:custGeom>
          <a:blipFill rotWithShape="1">
            <a:blip r:embed="rId3">
              <a:alphaModFix/>
            </a:blip>
            <a:stretch>
              <a:fillRect b="0" l="0" r="0" t="0"/>
            </a:stretch>
          </a:blipFill>
          <a:ln>
            <a:noFill/>
          </a:ln>
        </p:spPr>
      </p:sp>
      <p:sp>
        <p:nvSpPr>
          <p:cNvPr id="167" name="Google Shape;167;p5"/>
          <p:cNvSpPr/>
          <p:nvPr/>
        </p:nvSpPr>
        <p:spPr>
          <a:xfrm rot="-2504986">
            <a:off x="8737035" y="-327885"/>
            <a:ext cx="1647342" cy="1765201"/>
          </a:xfrm>
          <a:custGeom>
            <a:rect b="b" l="l" r="r" t="t"/>
            <a:pathLst>
              <a:path extrusionOk="0" h="1765201" w="1647342">
                <a:moveTo>
                  <a:pt x="0" y="0"/>
                </a:moveTo>
                <a:lnTo>
                  <a:pt x="1647342" y="0"/>
                </a:lnTo>
                <a:lnTo>
                  <a:pt x="1647342" y="1765201"/>
                </a:lnTo>
                <a:lnTo>
                  <a:pt x="0" y="1765201"/>
                </a:lnTo>
                <a:lnTo>
                  <a:pt x="0" y="0"/>
                </a:lnTo>
                <a:close/>
              </a:path>
            </a:pathLst>
          </a:custGeom>
          <a:blipFill rotWithShape="1">
            <a:blip r:embed="rId4">
              <a:alphaModFix/>
            </a:blip>
            <a:stretch>
              <a:fillRect b="0" l="0" r="0" t="0"/>
            </a:stretch>
          </a:blipFill>
          <a:ln>
            <a:noFill/>
          </a:ln>
        </p:spPr>
      </p:sp>
      <p:sp>
        <p:nvSpPr>
          <p:cNvPr id="168" name="Google Shape;168;p5"/>
          <p:cNvSpPr/>
          <p:nvPr/>
        </p:nvSpPr>
        <p:spPr>
          <a:xfrm flipH="1" rot="5400000">
            <a:off x="204041" y="5780470"/>
            <a:ext cx="1455936" cy="1858070"/>
          </a:xfrm>
          <a:custGeom>
            <a:rect b="b" l="l" r="r" t="t"/>
            <a:pathLst>
              <a:path extrusionOk="0" h="1858070" w="1455936">
                <a:moveTo>
                  <a:pt x="0" y="1858070"/>
                </a:moveTo>
                <a:lnTo>
                  <a:pt x="1455936" y="1858070"/>
                </a:lnTo>
                <a:lnTo>
                  <a:pt x="1455936" y="0"/>
                </a:lnTo>
                <a:lnTo>
                  <a:pt x="0" y="0"/>
                </a:lnTo>
                <a:lnTo>
                  <a:pt x="0" y="1858070"/>
                </a:lnTo>
                <a:close/>
              </a:path>
            </a:pathLst>
          </a:custGeom>
          <a:blipFill rotWithShape="1">
            <a:blip r:embed="rId5">
              <a:alphaModFix/>
            </a:blip>
            <a:stretch>
              <a:fillRect b="-47966" l="-57592" r="0" t="0"/>
            </a:stretch>
          </a:blipFill>
          <a:ln>
            <a:noFill/>
          </a:ln>
        </p:spPr>
      </p:sp>
      <p:sp>
        <p:nvSpPr>
          <p:cNvPr id="169" name="Google Shape;169;p5"/>
          <p:cNvSpPr/>
          <p:nvPr/>
        </p:nvSpPr>
        <p:spPr>
          <a:xfrm rot="5400000">
            <a:off x="181777" y="-214897"/>
            <a:ext cx="1360862" cy="1736736"/>
          </a:xfrm>
          <a:custGeom>
            <a:rect b="b" l="l" r="r" t="t"/>
            <a:pathLst>
              <a:path extrusionOk="0" h="1736736" w="1360862">
                <a:moveTo>
                  <a:pt x="1360862" y="1736737"/>
                </a:moveTo>
                <a:lnTo>
                  <a:pt x="0" y="1736737"/>
                </a:lnTo>
                <a:lnTo>
                  <a:pt x="0" y="0"/>
                </a:lnTo>
                <a:lnTo>
                  <a:pt x="1360862" y="0"/>
                </a:lnTo>
                <a:lnTo>
                  <a:pt x="1360862" y="1736737"/>
                </a:lnTo>
                <a:close/>
              </a:path>
            </a:pathLst>
          </a:custGeom>
          <a:blipFill rotWithShape="1">
            <a:blip r:embed="rId6">
              <a:alphaModFix/>
            </a:blip>
            <a:stretch>
              <a:fillRect b="-47966" l="-57592" r="0" t="0"/>
            </a:stretch>
          </a:blipFill>
          <a:ln>
            <a:noFill/>
          </a:ln>
        </p:spPr>
      </p:sp>
      <p:grpSp>
        <p:nvGrpSpPr>
          <p:cNvPr id="170" name="Google Shape;170;p5"/>
          <p:cNvGrpSpPr/>
          <p:nvPr/>
        </p:nvGrpSpPr>
        <p:grpSpPr>
          <a:xfrm>
            <a:off x="731520" y="2583876"/>
            <a:ext cx="4055545" cy="3317681"/>
            <a:chOff x="0" y="-28575"/>
            <a:chExt cx="2002738" cy="1638361"/>
          </a:xfrm>
        </p:grpSpPr>
        <p:sp>
          <p:nvSpPr>
            <p:cNvPr id="171" name="Google Shape;171;p5"/>
            <p:cNvSpPr/>
            <p:nvPr/>
          </p:nvSpPr>
          <p:spPr>
            <a:xfrm>
              <a:off x="0" y="0"/>
              <a:ext cx="2002738" cy="1609786"/>
            </a:xfrm>
            <a:custGeom>
              <a:rect b="b" l="l" r="r" t="t"/>
              <a:pathLst>
                <a:path extrusionOk="0" h="1609786" w="2002738">
                  <a:moveTo>
                    <a:pt x="57269" y="0"/>
                  </a:moveTo>
                  <a:lnTo>
                    <a:pt x="1945469" y="0"/>
                  </a:lnTo>
                  <a:cubicBezTo>
                    <a:pt x="1977098" y="0"/>
                    <a:pt x="2002738" y="25640"/>
                    <a:pt x="2002738" y="57269"/>
                  </a:cubicBezTo>
                  <a:lnTo>
                    <a:pt x="2002738" y="1552517"/>
                  </a:lnTo>
                  <a:cubicBezTo>
                    <a:pt x="2002738" y="1567706"/>
                    <a:pt x="1996704" y="1582273"/>
                    <a:pt x="1985964" y="1593013"/>
                  </a:cubicBezTo>
                  <a:cubicBezTo>
                    <a:pt x="1975224" y="1603753"/>
                    <a:pt x="1960658" y="1609786"/>
                    <a:pt x="1945469" y="1609786"/>
                  </a:cubicBezTo>
                  <a:lnTo>
                    <a:pt x="57269" y="1609786"/>
                  </a:lnTo>
                  <a:cubicBezTo>
                    <a:pt x="25640" y="1609786"/>
                    <a:pt x="0" y="1584146"/>
                    <a:pt x="0" y="1552517"/>
                  </a:cubicBezTo>
                  <a:lnTo>
                    <a:pt x="0" y="57269"/>
                  </a:lnTo>
                  <a:cubicBezTo>
                    <a:pt x="0" y="25640"/>
                    <a:pt x="25640" y="0"/>
                    <a:pt x="572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txBox="1"/>
            <p:nvPr/>
          </p:nvSpPr>
          <p:spPr>
            <a:xfrm>
              <a:off x="0" y="-28575"/>
              <a:ext cx="2002738" cy="1638361"/>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5"/>
          <p:cNvSpPr/>
          <p:nvPr/>
        </p:nvSpPr>
        <p:spPr>
          <a:xfrm rot="-2504986">
            <a:off x="-164840" y="-450255"/>
            <a:ext cx="1647342" cy="1765201"/>
          </a:xfrm>
          <a:custGeom>
            <a:rect b="b" l="l" r="r" t="t"/>
            <a:pathLst>
              <a:path extrusionOk="0" h="1765201" w="1647342">
                <a:moveTo>
                  <a:pt x="0" y="0"/>
                </a:moveTo>
                <a:lnTo>
                  <a:pt x="1647342" y="0"/>
                </a:lnTo>
                <a:lnTo>
                  <a:pt x="1647342" y="1765201"/>
                </a:lnTo>
                <a:lnTo>
                  <a:pt x="0" y="1765201"/>
                </a:lnTo>
                <a:lnTo>
                  <a:pt x="0" y="0"/>
                </a:lnTo>
                <a:close/>
              </a:path>
            </a:pathLst>
          </a:custGeom>
          <a:blipFill rotWithShape="1">
            <a:blip r:embed="rId4">
              <a:alphaModFix/>
            </a:blip>
            <a:stretch>
              <a:fillRect b="0" l="0" r="0" t="0"/>
            </a:stretch>
          </a:blipFill>
          <a:ln>
            <a:noFill/>
          </a:ln>
        </p:spPr>
      </p:sp>
      <p:grpSp>
        <p:nvGrpSpPr>
          <p:cNvPr id="174" name="Google Shape;174;p5"/>
          <p:cNvGrpSpPr/>
          <p:nvPr/>
        </p:nvGrpSpPr>
        <p:grpSpPr>
          <a:xfrm>
            <a:off x="731520" y="1355778"/>
            <a:ext cx="8290560" cy="1076412"/>
            <a:chOff x="0" y="-28575"/>
            <a:chExt cx="4094104" cy="531562"/>
          </a:xfrm>
        </p:grpSpPr>
        <p:sp>
          <p:nvSpPr>
            <p:cNvPr id="175" name="Google Shape;175;p5"/>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5"/>
          <p:cNvSpPr/>
          <p:nvPr/>
        </p:nvSpPr>
        <p:spPr>
          <a:xfrm rot="8839728">
            <a:off x="7614746" y="5968878"/>
            <a:ext cx="3415392" cy="2036816"/>
          </a:xfrm>
          <a:custGeom>
            <a:rect b="b" l="l" r="r" t="t"/>
            <a:pathLst>
              <a:path extrusionOk="0" h="2036816" w="3415392">
                <a:moveTo>
                  <a:pt x="0" y="0"/>
                </a:moveTo>
                <a:lnTo>
                  <a:pt x="3415392" y="0"/>
                </a:lnTo>
                <a:lnTo>
                  <a:pt x="3415392" y="2036816"/>
                </a:lnTo>
                <a:lnTo>
                  <a:pt x="0" y="2036816"/>
                </a:lnTo>
                <a:lnTo>
                  <a:pt x="0" y="0"/>
                </a:lnTo>
                <a:close/>
              </a:path>
            </a:pathLst>
          </a:custGeom>
          <a:blipFill rotWithShape="1">
            <a:blip r:embed="rId7">
              <a:alphaModFix/>
            </a:blip>
            <a:stretch>
              <a:fillRect b="0" l="0" r="0" t="0"/>
            </a:stretch>
          </a:blipFill>
          <a:ln>
            <a:noFill/>
          </a:ln>
        </p:spPr>
      </p:sp>
      <p:grpSp>
        <p:nvGrpSpPr>
          <p:cNvPr id="178" name="Google Shape;178;p5"/>
          <p:cNvGrpSpPr/>
          <p:nvPr/>
        </p:nvGrpSpPr>
        <p:grpSpPr>
          <a:xfrm>
            <a:off x="4946989" y="2583876"/>
            <a:ext cx="4075091" cy="3317681"/>
            <a:chOff x="0" y="-28575"/>
            <a:chExt cx="2012391" cy="1638361"/>
          </a:xfrm>
        </p:grpSpPr>
        <p:sp>
          <p:nvSpPr>
            <p:cNvPr id="179" name="Google Shape;179;p5"/>
            <p:cNvSpPr/>
            <p:nvPr/>
          </p:nvSpPr>
          <p:spPr>
            <a:xfrm>
              <a:off x="0" y="0"/>
              <a:ext cx="2012391" cy="1609786"/>
            </a:xfrm>
            <a:custGeom>
              <a:rect b="b" l="l" r="r" t="t"/>
              <a:pathLst>
                <a:path extrusionOk="0" h="1609786" w="2012391">
                  <a:moveTo>
                    <a:pt x="56994" y="0"/>
                  </a:moveTo>
                  <a:lnTo>
                    <a:pt x="1955397" y="0"/>
                  </a:lnTo>
                  <a:cubicBezTo>
                    <a:pt x="1986874" y="0"/>
                    <a:pt x="2012391" y="25517"/>
                    <a:pt x="2012391" y="56994"/>
                  </a:cubicBezTo>
                  <a:lnTo>
                    <a:pt x="2012391" y="1552792"/>
                  </a:lnTo>
                  <a:cubicBezTo>
                    <a:pt x="2012391" y="1567908"/>
                    <a:pt x="2006386" y="1582404"/>
                    <a:pt x="1995698" y="1593093"/>
                  </a:cubicBezTo>
                  <a:cubicBezTo>
                    <a:pt x="1985009" y="1603782"/>
                    <a:pt x="1970512" y="1609786"/>
                    <a:pt x="1955397" y="1609786"/>
                  </a:cubicBezTo>
                  <a:lnTo>
                    <a:pt x="56994" y="1609786"/>
                  </a:lnTo>
                  <a:cubicBezTo>
                    <a:pt x="25517" y="1609786"/>
                    <a:pt x="0" y="1584269"/>
                    <a:pt x="0" y="1552792"/>
                  </a:cubicBezTo>
                  <a:lnTo>
                    <a:pt x="0" y="56994"/>
                  </a:lnTo>
                  <a:cubicBezTo>
                    <a:pt x="0" y="41879"/>
                    <a:pt x="6005" y="27382"/>
                    <a:pt x="16693" y="16693"/>
                  </a:cubicBezTo>
                  <a:cubicBezTo>
                    <a:pt x="27382" y="6005"/>
                    <a:pt x="41879" y="0"/>
                    <a:pt x="569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txBox="1"/>
            <p:nvPr/>
          </p:nvSpPr>
          <p:spPr>
            <a:xfrm>
              <a:off x="0" y="-28575"/>
              <a:ext cx="2012391" cy="1638361"/>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1" name="Google Shape;181;p5"/>
          <p:cNvSpPr/>
          <p:nvPr/>
        </p:nvSpPr>
        <p:spPr>
          <a:xfrm rot="-1391152">
            <a:off x="8378252" y="5232132"/>
            <a:ext cx="1287656" cy="2703096"/>
          </a:xfrm>
          <a:custGeom>
            <a:rect b="b" l="l" r="r" t="t"/>
            <a:pathLst>
              <a:path extrusionOk="0" h="2703096" w="1287656">
                <a:moveTo>
                  <a:pt x="0" y="0"/>
                </a:moveTo>
                <a:lnTo>
                  <a:pt x="1287656" y="0"/>
                </a:lnTo>
                <a:lnTo>
                  <a:pt x="1287656" y="2703096"/>
                </a:lnTo>
                <a:lnTo>
                  <a:pt x="0" y="2703096"/>
                </a:lnTo>
                <a:lnTo>
                  <a:pt x="0" y="0"/>
                </a:lnTo>
                <a:close/>
              </a:path>
            </a:pathLst>
          </a:custGeom>
          <a:blipFill rotWithShape="1">
            <a:blip r:embed="rId8">
              <a:alphaModFix/>
            </a:blip>
            <a:stretch>
              <a:fillRect b="0" l="0" r="0" t="0"/>
            </a:stretch>
          </a:blipFill>
          <a:ln>
            <a:noFill/>
          </a:ln>
        </p:spPr>
      </p:sp>
      <p:sp>
        <p:nvSpPr>
          <p:cNvPr id="182" name="Google Shape;182;p5"/>
          <p:cNvSpPr/>
          <p:nvPr/>
        </p:nvSpPr>
        <p:spPr>
          <a:xfrm flipH="1" rot="2562704">
            <a:off x="46548" y="5298352"/>
            <a:ext cx="1224567" cy="2570656"/>
          </a:xfrm>
          <a:custGeom>
            <a:rect b="b" l="l" r="r" t="t"/>
            <a:pathLst>
              <a:path extrusionOk="0" h="2570656" w="1224567">
                <a:moveTo>
                  <a:pt x="1224567" y="0"/>
                </a:moveTo>
                <a:lnTo>
                  <a:pt x="0" y="0"/>
                </a:lnTo>
                <a:lnTo>
                  <a:pt x="0" y="2570656"/>
                </a:lnTo>
                <a:lnTo>
                  <a:pt x="1224567" y="2570656"/>
                </a:lnTo>
                <a:lnTo>
                  <a:pt x="1224567" y="0"/>
                </a:lnTo>
                <a:close/>
              </a:path>
            </a:pathLst>
          </a:custGeom>
          <a:blipFill rotWithShape="1">
            <a:blip r:embed="rId8">
              <a:alphaModFix/>
            </a:blip>
            <a:stretch>
              <a:fillRect b="0" l="0" r="0" t="0"/>
            </a:stretch>
          </a:blipFill>
          <a:ln>
            <a:noFill/>
          </a:ln>
        </p:spPr>
      </p:sp>
      <p:sp>
        <p:nvSpPr>
          <p:cNvPr id="183" name="Google Shape;183;p5"/>
          <p:cNvSpPr/>
          <p:nvPr/>
        </p:nvSpPr>
        <p:spPr>
          <a:xfrm>
            <a:off x="1730576" y="5981537"/>
            <a:ext cx="5781506" cy="1161541"/>
          </a:xfrm>
          <a:custGeom>
            <a:rect b="b" l="l" r="r" t="t"/>
            <a:pathLst>
              <a:path extrusionOk="0" h="1161541" w="5781506">
                <a:moveTo>
                  <a:pt x="0" y="0"/>
                </a:moveTo>
                <a:lnTo>
                  <a:pt x="5781506" y="0"/>
                </a:lnTo>
                <a:lnTo>
                  <a:pt x="5781506" y="1161541"/>
                </a:lnTo>
                <a:lnTo>
                  <a:pt x="0" y="1161541"/>
                </a:lnTo>
                <a:lnTo>
                  <a:pt x="0" y="0"/>
                </a:lnTo>
                <a:close/>
              </a:path>
            </a:pathLst>
          </a:custGeom>
          <a:blipFill rotWithShape="1">
            <a:blip r:embed="rId9">
              <a:alphaModFix/>
            </a:blip>
            <a:stretch>
              <a:fillRect b="0" l="0" r="0" t="0"/>
            </a:stretch>
          </a:blipFill>
          <a:ln>
            <a:noFill/>
          </a:ln>
        </p:spPr>
      </p:sp>
      <p:sp>
        <p:nvSpPr>
          <p:cNvPr id="184" name="Google Shape;184;p5"/>
          <p:cNvSpPr txBox="1"/>
          <p:nvPr/>
        </p:nvSpPr>
        <p:spPr>
          <a:xfrm>
            <a:off x="281815" y="1705958"/>
            <a:ext cx="9189970" cy="4948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CHAPTER 1 :  INTRODUCTION</a:t>
            </a:r>
            <a:endParaRPr/>
          </a:p>
        </p:txBody>
      </p:sp>
      <p:sp>
        <p:nvSpPr>
          <p:cNvPr id="185" name="Google Shape;185;p5"/>
          <p:cNvSpPr txBox="1"/>
          <p:nvPr/>
        </p:nvSpPr>
        <p:spPr>
          <a:xfrm>
            <a:off x="1152371" y="2825088"/>
            <a:ext cx="3213900" cy="909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953" u="none" cap="none" strike="noStrike">
                <a:solidFill>
                  <a:srgbClr val="724E39"/>
                </a:solidFill>
                <a:latin typeface="Fredoka"/>
                <a:ea typeface="Fredoka"/>
                <a:cs typeface="Fredoka"/>
                <a:sym typeface="Fredoka"/>
              </a:rPr>
              <a:t>CLOSED VOCABULARY </a:t>
            </a:r>
            <a:endParaRPr/>
          </a:p>
        </p:txBody>
      </p:sp>
      <p:sp>
        <p:nvSpPr>
          <p:cNvPr id="186" name="Google Shape;186;p5"/>
          <p:cNvSpPr txBox="1"/>
          <p:nvPr/>
        </p:nvSpPr>
        <p:spPr>
          <a:xfrm>
            <a:off x="5415629" y="2825088"/>
            <a:ext cx="3137700" cy="9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949" u="none" cap="none" strike="noStrike">
                <a:solidFill>
                  <a:srgbClr val="724E39"/>
                </a:solidFill>
                <a:latin typeface="Fredoka"/>
                <a:ea typeface="Fredoka"/>
                <a:cs typeface="Fredoka"/>
                <a:sym typeface="Fredoka"/>
              </a:rPr>
              <a:t>OPEN VOCABULARY </a:t>
            </a:r>
            <a:endParaRPr/>
          </a:p>
        </p:txBody>
      </p:sp>
      <p:sp>
        <p:nvSpPr>
          <p:cNvPr id="187" name="Google Shape;187;p5"/>
          <p:cNvSpPr txBox="1"/>
          <p:nvPr/>
        </p:nvSpPr>
        <p:spPr>
          <a:xfrm>
            <a:off x="731520" y="3754277"/>
            <a:ext cx="4055545" cy="1838325"/>
          </a:xfrm>
          <a:prstGeom prst="rect">
            <a:avLst/>
          </a:prstGeom>
          <a:noFill/>
          <a:ln>
            <a:noFill/>
          </a:ln>
        </p:spPr>
        <p:txBody>
          <a:bodyPr anchorCtr="0" anchor="t" bIns="0" lIns="0" spcFirstLastPara="1" rIns="0" wrap="square" tIns="0">
            <a:spAutoFit/>
          </a:bodyPr>
          <a:lstStyle/>
          <a:p>
            <a:pPr indent="-215900" lvl="1" marL="431801" marR="0" rtl="0" algn="l">
              <a:lnSpc>
                <a:spcPct val="120000"/>
              </a:lnSpc>
              <a:spcBef>
                <a:spcPts val="0"/>
              </a:spcBef>
              <a:spcAft>
                <a:spcPts val="0"/>
              </a:spcAft>
              <a:buClr>
                <a:srgbClr val="724E39"/>
              </a:buClr>
              <a:buSzPts val="2000"/>
              <a:buFont typeface="Arial"/>
              <a:buChar char="•"/>
            </a:pPr>
            <a:r>
              <a:rPr b="0" i="0" lang="en-US" sz="2000" u="none" cap="none" strike="noStrike">
                <a:solidFill>
                  <a:srgbClr val="724E39"/>
                </a:solidFill>
                <a:latin typeface="Arial"/>
                <a:ea typeface="Arial"/>
                <a:cs typeface="Arial"/>
                <a:sym typeface="Arial"/>
              </a:rPr>
              <a:t>Efficient</a:t>
            </a:r>
            <a:endParaRPr/>
          </a:p>
          <a:p>
            <a:pPr indent="-215900" lvl="1" marL="431801" marR="0" rtl="0" algn="l">
              <a:lnSpc>
                <a:spcPct val="120000"/>
              </a:lnSpc>
              <a:spcBef>
                <a:spcPts val="0"/>
              </a:spcBef>
              <a:spcAft>
                <a:spcPts val="0"/>
              </a:spcAft>
              <a:buClr>
                <a:srgbClr val="724E39"/>
              </a:buClr>
              <a:buSzPts val="2000"/>
              <a:buFont typeface="Arial"/>
              <a:buChar char="•"/>
            </a:pPr>
            <a:r>
              <a:rPr b="0" i="0" lang="en-US" sz="2000" u="none" cap="none" strike="noStrike">
                <a:solidFill>
                  <a:srgbClr val="724E39"/>
                </a:solidFill>
                <a:latin typeface="Arial"/>
                <a:ea typeface="Arial"/>
                <a:cs typeface="Arial"/>
                <a:sym typeface="Arial"/>
              </a:rPr>
              <a:t>But limited on categories(Only accept the categories trained)</a:t>
            </a:r>
            <a:endParaRPr/>
          </a:p>
          <a:p>
            <a:pPr indent="-215900" lvl="1" marL="431801" marR="0" rtl="0" algn="l">
              <a:lnSpc>
                <a:spcPct val="120000"/>
              </a:lnSpc>
              <a:spcBef>
                <a:spcPts val="0"/>
              </a:spcBef>
              <a:spcAft>
                <a:spcPts val="0"/>
              </a:spcAft>
              <a:buClr>
                <a:srgbClr val="724E39"/>
              </a:buClr>
              <a:buSzPts val="2000"/>
              <a:buFont typeface="Arial"/>
              <a:buChar char="•"/>
            </a:pPr>
            <a:r>
              <a:rPr b="0" i="0" lang="en-US" sz="2000" u="none" cap="none" strike="noStrike">
                <a:solidFill>
                  <a:srgbClr val="724E39"/>
                </a:solidFill>
                <a:latin typeface="Arial"/>
                <a:ea typeface="Arial"/>
                <a:cs typeface="Arial"/>
                <a:sym typeface="Arial"/>
              </a:rPr>
              <a:t>Input an image then return the bounding box of fixed categories.</a:t>
            </a:r>
            <a:endParaRPr/>
          </a:p>
        </p:txBody>
      </p:sp>
      <p:sp>
        <p:nvSpPr>
          <p:cNvPr id="188" name="Google Shape;188;p5"/>
          <p:cNvSpPr txBox="1"/>
          <p:nvPr/>
        </p:nvSpPr>
        <p:spPr>
          <a:xfrm>
            <a:off x="4946989" y="3716863"/>
            <a:ext cx="4075091" cy="2143125"/>
          </a:xfrm>
          <a:prstGeom prst="rect">
            <a:avLst/>
          </a:prstGeom>
          <a:noFill/>
          <a:ln>
            <a:noFill/>
          </a:ln>
        </p:spPr>
        <p:txBody>
          <a:bodyPr anchorCtr="0" anchor="t" bIns="0" lIns="0" spcFirstLastPara="1" rIns="0" wrap="square" tIns="0">
            <a:spAutoFit/>
          </a:bodyPr>
          <a:lstStyle/>
          <a:p>
            <a:pPr indent="-215900" lvl="1" marL="431801" marR="0" rtl="0" algn="l">
              <a:lnSpc>
                <a:spcPct val="120000"/>
              </a:lnSpc>
              <a:spcBef>
                <a:spcPts val="0"/>
              </a:spcBef>
              <a:spcAft>
                <a:spcPts val="0"/>
              </a:spcAft>
              <a:buClr>
                <a:srgbClr val="724E39"/>
              </a:buClr>
              <a:buSzPts val="2000"/>
              <a:buFont typeface="Arial"/>
              <a:buChar char="•"/>
            </a:pPr>
            <a:r>
              <a:rPr b="0" i="0" lang="en-US" sz="2000" u="none" cap="none" strike="noStrike">
                <a:solidFill>
                  <a:srgbClr val="724E39"/>
                </a:solidFill>
                <a:latin typeface="Arial"/>
                <a:ea typeface="Arial"/>
                <a:cs typeface="Arial"/>
                <a:sym typeface="Arial"/>
              </a:rPr>
              <a:t>text models with image models</a:t>
            </a:r>
            <a:endParaRPr/>
          </a:p>
          <a:p>
            <a:pPr indent="-215900" lvl="1" marL="431801" marR="0" rtl="0" algn="l">
              <a:lnSpc>
                <a:spcPct val="120000"/>
              </a:lnSpc>
              <a:spcBef>
                <a:spcPts val="0"/>
              </a:spcBef>
              <a:spcAft>
                <a:spcPts val="0"/>
              </a:spcAft>
              <a:buClr>
                <a:srgbClr val="724E39"/>
              </a:buClr>
              <a:buSzPts val="2000"/>
              <a:buFont typeface="Arial"/>
              <a:buChar char="•"/>
            </a:pPr>
            <a:r>
              <a:rPr b="0" i="0" lang="en-US" sz="2000" u="none" cap="none" strike="noStrike">
                <a:solidFill>
                  <a:srgbClr val="724E39"/>
                </a:solidFill>
                <a:latin typeface="Arial"/>
                <a:ea typeface="Arial"/>
                <a:cs typeface="Arial"/>
                <a:sym typeface="Arial"/>
              </a:rPr>
              <a:t>Can predict unseen object by using test embedding with visual features.</a:t>
            </a:r>
            <a:endParaRPr/>
          </a:p>
          <a:p>
            <a:pPr indent="-215900" lvl="1" marL="431801" marR="0" rtl="0" algn="l">
              <a:lnSpc>
                <a:spcPct val="120000"/>
              </a:lnSpc>
              <a:spcBef>
                <a:spcPts val="0"/>
              </a:spcBef>
              <a:spcAft>
                <a:spcPts val="0"/>
              </a:spcAft>
              <a:buClr>
                <a:srgbClr val="724E39"/>
              </a:buClr>
              <a:buSzPts val="2000"/>
              <a:buFont typeface="Arial"/>
              <a:buChar char="•"/>
            </a:pPr>
            <a:r>
              <a:rPr b="0" i="0" lang="en-US" sz="2000" u="none" cap="none" strike="noStrike">
                <a:solidFill>
                  <a:srgbClr val="724E39"/>
                </a:solidFill>
                <a:latin typeface="Arial"/>
                <a:ea typeface="Arial"/>
                <a:cs typeface="Arial"/>
                <a:sym typeface="Arial"/>
              </a:rPr>
              <a:t>But previous open vocabulary are huge and slow.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192" name="Shape 192"/>
        <p:cNvGrpSpPr/>
        <p:nvPr/>
      </p:nvGrpSpPr>
      <p:grpSpPr>
        <a:xfrm>
          <a:off x="0" y="0"/>
          <a:ext cx="0" cy="0"/>
          <a:chOff x="0" y="0"/>
          <a:chExt cx="0" cy="0"/>
        </a:xfrm>
      </p:grpSpPr>
      <p:sp>
        <p:nvSpPr>
          <p:cNvPr id="193" name="Google Shape;193;p6"/>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194" name="Google Shape;194;p6"/>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195" name="Google Shape;195;p6"/>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196" name="Google Shape;196;p6"/>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197" name="Google Shape;197;p6"/>
          <p:cNvGrpSpPr/>
          <p:nvPr/>
        </p:nvGrpSpPr>
        <p:grpSpPr>
          <a:xfrm>
            <a:off x="731520" y="2193659"/>
            <a:ext cx="8290560" cy="4049201"/>
            <a:chOff x="0" y="-28575"/>
            <a:chExt cx="4094104" cy="1999606"/>
          </a:xfrm>
        </p:grpSpPr>
        <p:sp>
          <p:nvSpPr>
            <p:cNvPr id="198" name="Google Shape;198;p6"/>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0" name="Google Shape;200;p6"/>
          <p:cNvGrpSpPr/>
          <p:nvPr/>
        </p:nvGrpSpPr>
        <p:grpSpPr>
          <a:xfrm>
            <a:off x="731520" y="1014476"/>
            <a:ext cx="8290560" cy="1076412"/>
            <a:chOff x="0" y="-28575"/>
            <a:chExt cx="4094104" cy="531562"/>
          </a:xfrm>
        </p:grpSpPr>
        <p:sp>
          <p:nvSpPr>
            <p:cNvPr id="201" name="Google Shape;201;p6"/>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3" name="Google Shape;203;p6"/>
          <p:cNvSpPr/>
          <p:nvPr/>
        </p:nvSpPr>
        <p:spPr>
          <a:xfrm flipH="1" rot="3991733">
            <a:off x="-517269" y="5434667"/>
            <a:ext cx="1640991" cy="2084400"/>
          </a:xfrm>
          <a:custGeom>
            <a:rect b="b" l="l" r="r" t="t"/>
            <a:pathLst>
              <a:path extrusionOk="0" h="2084400" w="1640991">
                <a:moveTo>
                  <a:pt x="0" y="2084399"/>
                </a:moveTo>
                <a:lnTo>
                  <a:pt x="1640991" y="2084399"/>
                </a:lnTo>
                <a:lnTo>
                  <a:pt x="1640991" y="0"/>
                </a:lnTo>
                <a:lnTo>
                  <a:pt x="0" y="0"/>
                </a:lnTo>
                <a:lnTo>
                  <a:pt x="0" y="2084399"/>
                </a:lnTo>
                <a:close/>
              </a:path>
            </a:pathLst>
          </a:custGeom>
          <a:blipFill rotWithShape="1">
            <a:blip r:embed="rId7">
              <a:alphaModFix/>
            </a:blip>
            <a:stretch>
              <a:fillRect b="0" l="0" r="0" t="0"/>
            </a:stretch>
          </a:blipFill>
          <a:ln>
            <a:noFill/>
          </a:ln>
        </p:spPr>
      </p:sp>
      <p:sp>
        <p:nvSpPr>
          <p:cNvPr id="204" name="Google Shape;204;p6"/>
          <p:cNvSpPr/>
          <p:nvPr/>
        </p:nvSpPr>
        <p:spPr>
          <a:xfrm rot="-1391152">
            <a:off x="8395245" y="4957567"/>
            <a:ext cx="1248421" cy="2620731"/>
          </a:xfrm>
          <a:custGeom>
            <a:rect b="b" l="l" r="r" t="t"/>
            <a:pathLst>
              <a:path extrusionOk="0" h="2620731" w="1248421">
                <a:moveTo>
                  <a:pt x="0" y="0"/>
                </a:moveTo>
                <a:lnTo>
                  <a:pt x="1248421" y="0"/>
                </a:lnTo>
                <a:lnTo>
                  <a:pt x="1248421" y="2620731"/>
                </a:lnTo>
                <a:lnTo>
                  <a:pt x="0" y="2620731"/>
                </a:lnTo>
                <a:lnTo>
                  <a:pt x="0" y="0"/>
                </a:lnTo>
                <a:close/>
              </a:path>
            </a:pathLst>
          </a:custGeom>
          <a:blipFill rotWithShape="1">
            <a:blip r:embed="rId8">
              <a:alphaModFix/>
            </a:blip>
            <a:stretch>
              <a:fillRect b="0" l="0" r="0" t="0"/>
            </a:stretch>
          </a:blipFill>
          <a:ln>
            <a:noFill/>
          </a:ln>
        </p:spPr>
      </p:sp>
      <p:sp>
        <p:nvSpPr>
          <p:cNvPr id="205" name="Google Shape;205;p6"/>
          <p:cNvSpPr txBox="1"/>
          <p:nvPr/>
        </p:nvSpPr>
        <p:spPr>
          <a:xfrm>
            <a:off x="1324158" y="1367513"/>
            <a:ext cx="7105285" cy="4948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 CHAPTER 1 : INTRODUCTION</a:t>
            </a:r>
            <a:endParaRPr/>
          </a:p>
        </p:txBody>
      </p:sp>
      <p:sp>
        <p:nvSpPr>
          <p:cNvPr id="206" name="Google Shape;206;p6"/>
          <p:cNvSpPr txBox="1"/>
          <p:nvPr/>
        </p:nvSpPr>
        <p:spPr>
          <a:xfrm>
            <a:off x="731525" y="2308675"/>
            <a:ext cx="8148000" cy="101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311" u="none" cap="none" strike="noStrike">
                <a:solidFill>
                  <a:srgbClr val="724E39"/>
                </a:solidFill>
                <a:latin typeface="Fredoka"/>
                <a:ea typeface="Fredoka"/>
                <a:cs typeface="Fredoka"/>
                <a:sym typeface="Fredoka"/>
              </a:rPr>
              <a:t>WHAT CHANGES MADE BY YOLO WORLD WITH PREVIOUS OPEN VOCABULARY?</a:t>
            </a:r>
            <a:endParaRPr/>
          </a:p>
        </p:txBody>
      </p:sp>
      <p:sp>
        <p:nvSpPr>
          <p:cNvPr id="207" name="Google Shape;207;p6"/>
          <p:cNvSpPr txBox="1"/>
          <p:nvPr/>
        </p:nvSpPr>
        <p:spPr>
          <a:xfrm>
            <a:off x="731482" y="3328068"/>
            <a:ext cx="8148000" cy="334770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Old open vocabulary (Online vocabulary): </a:t>
            </a:r>
            <a:endParaRPr/>
          </a:p>
          <a:p>
            <a:pPr indent="0" lvl="0" marL="0" marR="0" rtl="0" algn="l">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Every times detect object in an image, it process image and text embedding at same time, try to blend the text features with image features during process (Every layers, calculate the relation between image pixel with text vectors ).</a:t>
            </a:r>
            <a:endParaRPr/>
          </a:p>
          <a:p>
            <a:pPr indent="0" lvl="0" marL="0" marR="0" rtl="0" algn="l">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YOLO-World (Offline vocabulary): </a:t>
            </a:r>
            <a:endParaRPr/>
          </a:p>
          <a:p>
            <a:pPr indent="0" lvl="0" marL="0" marR="0" rtl="0" algn="l">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Launch the text encoder first compute the prompt to the text embedding, then bake them into the model's weights at convolution layer (</a:t>
            </a:r>
            <a:r>
              <a:rPr b="1" i="0" lang="en-US" sz="1599" u="none" cap="none" strike="noStrike">
                <a:solidFill>
                  <a:srgbClr val="000000"/>
                </a:solidFill>
                <a:latin typeface="Arial"/>
                <a:ea typeface="Arial"/>
                <a:cs typeface="Arial"/>
                <a:sym typeface="Arial"/>
              </a:rPr>
              <a:t>Re-parameterization</a:t>
            </a:r>
            <a:r>
              <a:rPr b="0" i="0" lang="en-US" sz="1599" u="none" cap="none" strike="noStrike">
                <a:solidFill>
                  <a:srgbClr val="000000"/>
                </a:solidFill>
                <a:latin typeface="Arial"/>
                <a:ea typeface="Arial"/>
                <a:cs typeface="Arial"/>
                <a:sym typeface="Arial"/>
              </a:rPr>
              <a:t>) , and text encoder is not used anymore. Every image feature arrive to last step, have just need to interact with the pre-calculate text weight to get the final result.</a:t>
            </a:r>
            <a:endParaRPr/>
          </a:p>
          <a:p>
            <a:pPr indent="0" lvl="0" marL="0" marR="0" rtl="0" algn="l">
              <a:lnSpc>
                <a:spcPct val="140025"/>
              </a:lnSpc>
              <a:spcBef>
                <a:spcPts val="0"/>
              </a:spcBef>
              <a:spcAft>
                <a:spcPts val="0"/>
              </a:spcAft>
              <a:buNone/>
            </a:pPr>
            <a:r>
              <a:t/>
            </a:r>
            <a:endParaRPr b="0" i="0" sz="1599"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211" name="Shape 211"/>
        <p:cNvGrpSpPr/>
        <p:nvPr/>
      </p:nvGrpSpPr>
      <p:grpSpPr>
        <a:xfrm>
          <a:off x="0" y="0"/>
          <a:ext cx="0" cy="0"/>
          <a:chOff x="0" y="0"/>
          <a:chExt cx="0" cy="0"/>
        </a:xfrm>
      </p:grpSpPr>
      <p:sp>
        <p:nvSpPr>
          <p:cNvPr id="212" name="Google Shape;212;p7"/>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213" name="Google Shape;213;p7"/>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214" name="Google Shape;214;p7"/>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215" name="Google Shape;215;p7"/>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216" name="Google Shape;216;p7"/>
          <p:cNvGrpSpPr/>
          <p:nvPr/>
        </p:nvGrpSpPr>
        <p:grpSpPr>
          <a:xfrm>
            <a:off x="728895" y="2033024"/>
            <a:ext cx="8290560" cy="4049201"/>
            <a:chOff x="0" y="-28575"/>
            <a:chExt cx="4094104" cy="1999606"/>
          </a:xfrm>
        </p:grpSpPr>
        <p:sp>
          <p:nvSpPr>
            <p:cNvPr id="217" name="Google Shape;217;p7"/>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7"/>
          <p:cNvGrpSpPr/>
          <p:nvPr/>
        </p:nvGrpSpPr>
        <p:grpSpPr>
          <a:xfrm>
            <a:off x="731520" y="1014476"/>
            <a:ext cx="8290560" cy="1076412"/>
            <a:chOff x="0" y="-28575"/>
            <a:chExt cx="4094104" cy="531562"/>
          </a:xfrm>
        </p:grpSpPr>
        <p:sp>
          <p:nvSpPr>
            <p:cNvPr id="220" name="Google Shape;220;p7"/>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2" name="Google Shape;222;p7"/>
          <p:cNvSpPr/>
          <p:nvPr/>
        </p:nvSpPr>
        <p:spPr>
          <a:xfrm flipH="1" rot="3991733">
            <a:off x="-517269" y="5434667"/>
            <a:ext cx="1640991" cy="2084400"/>
          </a:xfrm>
          <a:custGeom>
            <a:rect b="b" l="l" r="r" t="t"/>
            <a:pathLst>
              <a:path extrusionOk="0" h="2084400" w="1640991">
                <a:moveTo>
                  <a:pt x="0" y="2084399"/>
                </a:moveTo>
                <a:lnTo>
                  <a:pt x="1640991" y="2084399"/>
                </a:lnTo>
                <a:lnTo>
                  <a:pt x="1640991" y="0"/>
                </a:lnTo>
                <a:lnTo>
                  <a:pt x="0" y="0"/>
                </a:lnTo>
                <a:lnTo>
                  <a:pt x="0" y="2084399"/>
                </a:lnTo>
                <a:close/>
              </a:path>
            </a:pathLst>
          </a:custGeom>
          <a:blipFill rotWithShape="1">
            <a:blip r:embed="rId7">
              <a:alphaModFix/>
            </a:blip>
            <a:stretch>
              <a:fillRect b="0" l="0" r="0" t="0"/>
            </a:stretch>
          </a:blipFill>
          <a:ln>
            <a:noFill/>
          </a:ln>
        </p:spPr>
      </p:sp>
      <p:sp>
        <p:nvSpPr>
          <p:cNvPr id="223" name="Google Shape;223;p7"/>
          <p:cNvSpPr/>
          <p:nvPr/>
        </p:nvSpPr>
        <p:spPr>
          <a:xfrm rot="-1391152">
            <a:off x="8395245" y="4957567"/>
            <a:ext cx="1248421" cy="2620731"/>
          </a:xfrm>
          <a:custGeom>
            <a:rect b="b" l="l" r="r" t="t"/>
            <a:pathLst>
              <a:path extrusionOk="0" h="2620731" w="1248421">
                <a:moveTo>
                  <a:pt x="0" y="0"/>
                </a:moveTo>
                <a:lnTo>
                  <a:pt x="1248421" y="0"/>
                </a:lnTo>
                <a:lnTo>
                  <a:pt x="1248421" y="2620731"/>
                </a:lnTo>
                <a:lnTo>
                  <a:pt x="0" y="2620731"/>
                </a:lnTo>
                <a:lnTo>
                  <a:pt x="0" y="0"/>
                </a:lnTo>
                <a:close/>
              </a:path>
            </a:pathLst>
          </a:custGeom>
          <a:blipFill rotWithShape="1">
            <a:blip r:embed="rId8">
              <a:alphaModFix/>
            </a:blip>
            <a:stretch>
              <a:fillRect b="0" l="0" r="0" t="0"/>
            </a:stretch>
          </a:blipFill>
          <a:ln>
            <a:noFill/>
          </a:ln>
        </p:spPr>
      </p:sp>
      <p:sp>
        <p:nvSpPr>
          <p:cNvPr id="224" name="Google Shape;224;p7"/>
          <p:cNvSpPr/>
          <p:nvPr/>
        </p:nvSpPr>
        <p:spPr>
          <a:xfrm>
            <a:off x="728895" y="2090888"/>
            <a:ext cx="8290560" cy="2991910"/>
          </a:xfrm>
          <a:custGeom>
            <a:rect b="b" l="l" r="r" t="t"/>
            <a:pathLst>
              <a:path extrusionOk="0" h="2991910" w="8290560">
                <a:moveTo>
                  <a:pt x="0" y="0"/>
                </a:moveTo>
                <a:lnTo>
                  <a:pt x="8290560" y="0"/>
                </a:lnTo>
                <a:lnTo>
                  <a:pt x="8290560" y="2991910"/>
                </a:lnTo>
                <a:lnTo>
                  <a:pt x="0" y="2991910"/>
                </a:lnTo>
                <a:lnTo>
                  <a:pt x="0" y="0"/>
                </a:lnTo>
                <a:close/>
              </a:path>
            </a:pathLst>
          </a:custGeom>
          <a:blipFill rotWithShape="1">
            <a:blip r:embed="rId9">
              <a:alphaModFix/>
            </a:blip>
            <a:stretch>
              <a:fillRect b="0" l="0" r="0" t="0"/>
            </a:stretch>
          </a:blipFill>
          <a:ln>
            <a:noFill/>
          </a:ln>
        </p:spPr>
      </p:sp>
      <p:sp>
        <p:nvSpPr>
          <p:cNvPr id="225" name="Google Shape;225;p7"/>
          <p:cNvSpPr txBox="1"/>
          <p:nvPr/>
        </p:nvSpPr>
        <p:spPr>
          <a:xfrm>
            <a:off x="1324158" y="1367411"/>
            <a:ext cx="7105285" cy="4948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 CHAPTER 1 : INTRODUCTION</a:t>
            </a:r>
            <a:endParaRPr/>
          </a:p>
        </p:txBody>
      </p:sp>
      <p:sp>
        <p:nvSpPr>
          <p:cNvPr id="226" name="Google Shape;226;p7"/>
          <p:cNvSpPr txBox="1"/>
          <p:nvPr/>
        </p:nvSpPr>
        <p:spPr>
          <a:xfrm>
            <a:off x="728895" y="5044698"/>
            <a:ext cx="8290560" cy="10991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FPS is frame per second what model processed.</a:t>
            </a:r>
            <a:endParaRPr/>
          </a:p>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YOLO-World model is much faster than other open vocabulary models.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230" name="Shape 230"/>
        <p:cNvGrpSpPr/>
        <p:nvPr/>
      </p:nvGrpSpPr>
      <p:grpSpPr>
        <a:xfrm>
          <a:off x="0" y="0"/>
          <a:ext cx="0" cy="0"/>
          <a:chOff x="0" y="0"/>
          <a:chExt cx="0" cy="0"/>
        </a:xfrm>
      </p:grpSpPr>
      <p:sp>
        <p:nvSpPr>
          <p:cNvPr id="231" name="Google Shape;231;p8"/>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232" name="Google Shape;232;p8"/>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233" name="Google Shape;233;p8"/>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234" name="Google Shape;234;p8"/>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235" name="Google Shape;235;p8"/>
          <p:cNvGrpSpPr/>
          <p:nvPr/>
        </p:nvGrpSpPr>
        <p:grpSpPr>
          <a:xfrm>
            <a:off x="731520" y="2033024"/>
            <a:ext cx="8290560" cy="4049201"/>
            <a:chOff x="0" y="-28575"/>
            <a:chExt cx="4094104" cy="1999606"/>
          </a:xfrm>
        </p:grpSpPr>
        <p:sp>
          <p:nvSpPr>
            <p:cNvPr id="236" name="Google Shape;236;p8"/>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8" name="Google Shape;238;p8"/>
          <p:cNvGrpSpPr/>
          <p:nvPr/>
        </p:nvGrpSpPr>
        <p:grpSpPr>
          <a:xfrm>
            <a:off x="731520" y="1014476"/>
            <a:ext cx="8290560" cy="1076412"/>
            <a:chOff x="0" y="-28575"/>
            <a:chExt cx="4094104" cy="531562"/>
          </a:xfrm>
        </p:grpSpPr>
        <p:sp>
          <p:nvSpPr>
            <p:cNvPr id="239" name="Google Shape;239;p8"/>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1" name="Google Shape;241;p8"/>
          <p:cNvSpPr/>
          <p:nvPr/>
        </p:nvSpPr>
        <p:spPr>
          <a:xfrm flipH="1" rot="3991733">
            <a:off x="-781724" y="5717255"/>
            <a:ext cx="1640991" cy="2084400"/>
          </a:xfrm>
          <a:custGeom>
            <a:rect b="b" l="l" r="r" t="t"/>
            <a:pathLst>
              <a:path extrusionOk="0" h="2084400" w="1640991">
                <a:moveTo>
                  <a:pt x="0" y="2084400"/>
                </a:moveTo>
                <a:lnTo>
                  <a:pt x="1640991" y="2084400"/>
                </a:lnTo>
                <a:lnTo>
                  <a:pt x="1640991" y="0"/>
                </a:lnTo>
                <a:lnTo>
                  <a:pt x="0" y="0"/>
                </a:lnTo>
                <a:lnTo>
                  <a:pt x="0" y="2084400"/>
                </a:lnTo>
                <a:close/>
              </a:path>
            </a:pathLst>
          </a:custGeom>
          <a:blipFill rotWithShape="1">
            <a:blip r:embed="rId7">
              <a:alphaModFix/>
            </a:blip>
            <a:stretch>
              <a:fillRect b="0" l="0" r="0" t="0"/>
            </a:stretch>
          </a:blipFill>
          <a:ln>
            <a:noFill/>
          </a:ln>
        </p:spPr>
      </p:sp>
      <p:sp>
        <p:nvSpPr>
          <p:cNvPr id="242" name="Google Shape;242;p8"/>
          <p:cNvSpPr/>
          <p:nvPr/>
        </p:nvSpPr>
        <p:spPr>
          <a:xfrm rot="-1391152">
            <a:off x="8784812" y="5449090"/>
            <a:ext cx="1248421" cy="2620731"/>
          </a:xfrm>
          <a:custGeom>
            <a:rect b="b" l="l" r="r" t="t"/>
            <a:pathLst>
              <a:path extrusionOk="0" h="2620731" w="1248421">
                <a:moveTo>
                  <a:pt x="0" y="0"/>
                </a:moveTo>
                <a:lnTo>
                  <a:pt x="1248421" y="0"/>
                </a:lnTo>
                <a:lnTo>
                  <a:pt x="1248421" y="2620730"/>
                </a:lnTo>
                <a:lnTo>
                  <a:pt x="0" y="2620730"/>
                </a:lnTo>
                <a:lnTo>
                  <a:pt x="0" y="0"/>
                </a:lnTo>
                <a:close/>
              </a:path>
            </a:pathLst>
          </a:custGeom>
          <a:blipFill rotWithShape="1">
            <a:blip r:embed="rId8">
              <a:alphaModFix/>
            </a:blip>
            <a:stretch>
              <a:fillRect b="0" l="0" r="0" t="0"/>
            </a:stretch>
          </a:blipFill>
          <a:ln>
            <a:noFill/>
          </a:ln>
        </p:spPr>
      </p:sp>
      <p:sp>
        <p:nvSpPr>
          <p:cNvPr id="243" name="Google Shape;243;p8"/>
          <p:cNvSpPr txBox="1"/>
          <p:nvPr/>
        </p:nvSpPr>
        <p:spPr>
          <a:xfrm>
            <a:off x="1321533" y="1129286"/>
            <a:ext cx="7105285" cy="96160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 CHAPTER 1 : MODEL ARCHITECTURE</a:t>
            </a:r>
            <a:endParaRPr/>
          </a:p>
        </p:txBody>
      </p:sp>
      <p:sp>
        <p:nvSpPr>
          <p:cNvPr id="244" name="Google Shape;244;p8"/>
          <p:cNvSpPr txBox="1"/>
          <p:nvPr/>
        </p:nvSpPr>
        <p:spPr>
          <a:xfrm>
            <a:off x="731520" y="2182644"/>
            <a:ext cx="8290500" cy="4396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100" u="none" cap="none" strike="noStrike">
                <a:solidFill>
                  <a:srgbClr val="000000"/>
                </a:solidFill>
                <a:latin typeface="Arial"/>
                <a:ea typeface="Arial"/>
                <a:cs typeface="Arial"/>
                <a:sym typeface="Arial"/>
              </a:rPr>
              <a:t>Text encoder</a:t>
            </a:r>
            <a:r>
              <a:rPr b="0" i="0" lang="en-US" sz="2100" u="none" cap="none" strike="noStrike">
                <a:solidFill>
                  <a:srgbClr val="000000"/>
                </a:solidFill>
                <a:latin typeface="Arial"/>
                <a:ea typeface="Arial"/>
                <a:cs typeface="Arial"/>
                <a:sym typeface="Arial"/>
              </a:rPr>
              <a:t> of YOLO-World: </a:t>
            </a:r>
            <a:endParaRPr/>
          </a:p>
          <a:p>
            <a:pPr indent="-226695" lvl="1" marL="453390" marR="0" rtl="0" algn="l">
              <a:lnSpc>
                <a:spcPct val="140000"/>
              </a:lnSpc>
              <a:spcBef>
                <a:spcPts val="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A pretrained model of CLIP</a:t>
            </a:r>
            <a:endParaRPr/>
          </a:p>
          <a:p>
            <a:pPr indent="0" lvl="0" marL="0" marR="0" rtl="0" algn="l">
              <a:lnSpc>
                <a:spcPct val="140000"/>
              </a:lnSpc>
              <a:spcBef>
                <a:spcPts val="0"/>
              </a:spcBef>
              <a:spcAft>
                <a:spcPts val="0"/>
              </a:spcAft>
              <a:buNone/>
            </a:pPr>
            <a:r>
              <a:rPr b="1" i="0" lang="en-US" sz="2100" u="none" cap="none" strike="noStrike">
                <a:solidFill>
                  <a:srgbClr val="000000"/>
                </a:solidFill>
                <a:latin typeface="Arial"/>
                <a:ea typeface="Arial"/>
                <a:cs typeface="Arial"/>
                <a:sym typeface="Arial"/>
              </a:rPr>
              <a:t>Image encoder</a:t>
            </a:r>
            <a:r>
              <a:rPr b="0" i="0" lang="en-US" sz="2100" u="none" cap="none" strike="noStrike">
                <a:solidFill>
                  <a:srgbClr val="000000"/>
                </a:solidFill>
                <a:latin typeface="Arial"/>
                <a:ea typeface="Arial"/>
                <a:cs typeface="Arial"/>
                <a:sym typeface="Arial"/>
              </a:rPr>
              <a:t> of YOLO-World:</a:t>
            </a:r>
            <a:endParaRPr/>
          </a:p>
          <a:p>
            <a:pPr indent="-226695" lvl="1" marL="453390" marR="0" rtl="0" algn="l">
              <a:lnSpc>
                <a:spcPct val="140000"/>
              </a:lnSpc>
              <a:spcBef>
                <a:spcPts val="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YOLOv8 backbone network (When an image is fed into it, it extracts multi-scale visual features )</a:t>
            </a:r>
            <a:endParaRPr/>
          </a:p>
          <a:p>
            <a:pPr indent="0" lvl="0" marL="0" marR="0" rtl="0" algn="l">
              <a:lnSpc>
                <a:spcPct val="140000"/>
              </a:lnSpc>
              <a:spcBef>
                <a:spcPts val="0"/>
              </a:spcBef>
              <a:spcAft>
                <a:spcPts val="0"/>
              </a:spcAft>
              <a:buNone/>
            </a:pPr>
            <a:r>
              <a:rPr b="1" i="0" lang="en-US" sz="2100" u="none" cap="none" strike="noStrike">
                <a:solidFill>
                  <a:srgbClr val="000000"/>
                </a:solidFill>
                <a:latin typeface="Arial"/>
                <a:ea typeface="Arial"/>
                <a:cs typeface="Arial"/>
                <a:sym typeface="Arial"/>
              </a:rPr>
              <a:t>RepVL-PAN</a:t>
            </a:r>
            <a:r>
              <a:rPr b="0" i="0" lang="en-US" sz="2100" u="none" cap="none" strike="noStrike">
                <a:solidFill>
                  <a:srgbClr val="000000"/>
                </a:solidFill>
                <a:latin typeface="Arial"/>
                <a:ea typeface="Arial"/>
                <a:cs typeface="Arial"/>
                <a:sym typeface="Arial"/>
              </a:rPr>
              <a:t> (Re-parameterizable Vision-Language Path Aggregation Network):</a:t>
            </a:r>
            <a:r>
              <a:rPr lang="en-US"/>
              <a:t> </a:t>
            </a:r>
            <a:r>
              <a:rPr b="0" i="0" lang="en-US" sz="2100" u="none" cap="none" strike="noStrike">
                <a:solidFill>
                  <a:srgbClr val="000000"/>
                </a:solidFill>
                <a:latin typeface="Arial"/>
                <a:ea typeface="Arial"/>
                <a:cs typeface="Arial"/>
                <a:sym typeface="Arial"/>
              </a:rPr>
              <a:t>The bridge between two encoders, as mentioned before, with this network text encoder is able to compute text vector first and baked into the visual layer and disconnect the text encoder.</a:t>
            </a:r>
            <a:endParaRPr/>
          </a:p>
          <a:p>
            <a:pPr indent="0" lvl="0" marL="0" marR="0" rtl="0" algn="l">
              <a:lnSpc>
                <a:spcPct val="140000"/>
              </a:lnSpc>
              <a:spcBef>
                <a:spcPts val="0"/>
              </a:spcBef>
              <a:spcAft>
                <a:spcPts val="0"/>
              </a:spcAft>
              <a:buNone/>
            </a:pPr>
            <a:r>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248" name="Shape 248"/>
        <p:cNvGrpSpPr/>
        <p:nvPr/>
      </p:nvGrpSpPr>
      <p:grpSpPr>
        <a:xfrm>
          <a:off x="0" y="0"/>
          <a:ext cx="0" cy="0"/>
          <a:chOff x="0" y="0"/>
          <a:chExt cx="0" cy="0"/>
        </a:xfrm>
      </p:grpSpPr>
      <p:sp>
        <p:nvSpPr>
          <p:cNvPr id="249" name="Google Shape;249;p9"/>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250" name="Google Shape;250;p9"/>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251" name="Google Shape;251;p9"/>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252" name="Google Shape;252;p9"/>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253" name="Google Shape;253;p9"/>
          <p:cNvGrpSpPr/>
          <p:nvPr/>
        </p:nvGrpSpPr>
        <p:grpSpPr>
          <a:xfrm>
            <a:off x="728895" y="2033024"/>
            <a:ext cx="8290560" cy="4049201"/>
            <a:chOff x="0" y="-28575"/>
            <a:chExt cx="4094104" cy="1999606"/>
          </a:xfrm>
        </p:grpSpPr>
        <p:sp>
          <p:nvSpPr>
            <p:cNvPr id="254" name="Google Shape;254;p9"/>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6" name="Google Shape;256;p9"/>
          <p:cNvGrpSpPr/>
          <p:nvPr/>
        </p:nvGrpSpPr>
        <p:grpSpPr>
          <a:xfrm>
            <a:off x="731520" y="1014476"/>
            <a:ext cx="8290560" cy="1076412"/>
            <a:chOff x="0" y="-28575"/>
            <a:chExt cx="4094104" cy="531562"/>
          </a:xfrm>
        </p:grpSpPr>
        <p:sp>
          <p:nvSpPr>
            <p:cNvPr id="257" name="Google Shape;257;p9"/>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9"/>
          <p:cNvSpPr/>
          <p:nvPr/>
        </p:nvSpPr>
        <p:spPr>
          <a:xfrm flipH="1" rot="3991733">
            <a:off x="-214273" y="5853090"/>
            <a:ext cx="1640991" cy="2084400"/>
          </a:xfrm>
          <a:custGeom>
            <a:rect b="b" l="l" r="r" t="t"/>
            <a:pathLst>
              <a:path extrusionOk="0" h="2084400" w="1640991">
                <a:moveTo>
                  <a:pt x="0" y="2084400"/>
                </a:moveTo>
                <a:lnTo>
                  <a:pt x="1640992" y="2084400"/>
                </a:lnTo>
                <a:lnTo>
                  <a:pt x="1640992" y="0"/>
                </a:lnTo>
                <a:lnTo>
                  <a:pt x="0" y="0"/>
                </a:lnTo>
                <a:lnTo>
                  <a:pt x="0" y="2084400"/>
                </a:lnTo>
                <a:close/>
              </a:path>
            </a:pathLst>
          </a:custGeom>
          <a:blipFill rotWithShape="1">
            <a:blip r:embed="rId7">
              <a:alphaModFix/>
            </a:blip>
            <a:stretch>
              <a:fillRect b="0" l="0" r="0" t="0"/>
            </a:stretch>
          </a:blipFill>
          <a:ln>
            <a:noFill/>
          </a:ln>
        </p:spPr>
      </p:sp>
      <p:sp>
        <p:nvSpPr>
          <p:cNvPr id="260" name="Google Shape;260;p9"/>
          <p:cNvSpPr/>
          <p:nvPr/>
        </p:nvSpPr>
        <p:spPr>
          <a:xfrm rot="-1391152">
            <a:off x="8505425" y="5799416"/>
            <a:ext cx="1248421" cy="2620731"/>
          </a:xfrm>
          <a:custGeom>
            <a:rect b="b" l="l" r="r" t="t"/>
            <a:pathLst>
              <a:path extrusionOk="0" h="2620731" w="1248421">
                <a:moveTo>
                  <a:pt x="0" y="0"/>
                </a:moveTo>
                <a:lnTo>
                  <a:pt x="1248421" y="0"/>
                </a:lnTo>
                <a:lnTo>
                  <a:pt x="1248421" y="2620730"/>
                </a:lnTo>
                <a:lnTo>
                  <a:pt x="0" y="2620730"/>
                </a:lnTo>
                <a:lnTo>
                  <a:pt x="0" y="0"/>
                </a:lnTo>
                <a:close/>
              </a:path>
            </a:pathLst>
          </a:custGeom>
          <a:blipFill rotWithShape="1">
            <a:blip r:embed="rId8">
              <a:alphaModFix/>
            </a:blip>
            <a:stretch>
              <a:fillRect b="0" l="0" r="0" t="0"/>
            </a:stretch>
          </a:blipFill>
          <a:ln>
            <a:noFill/>
          </a:ln>
        </p:spPr>
      </p:sp>
      <p:sp>
        <p:nvSpPr>
          <p:cNvPr id="261" name="Google Shape;261;p9"/>
          <p:cNvSpPr/>
          <p:nvPr/>
        </p:nvSpPr>
        <p:spPr>
          <a:xfrm>
            <a:off x="957037" y="2090888"/>
            <a:ext cx="7834277" cy="3568601"/>
          </a:xfrm>
          <a:custGeom>
            <a:rect b="b" l="l" r="r" t="t"/>
            <a:pathLst>
              <a:path extrusionOk="0" h="3568601" w="7834277">
                <a:moveTo>
                  <a:pt x="0" y="0"/>
                </a:moveTo>
                <a:lnTo>
                  <a:pt x="7834277" y="0"/>
                </a:lnTo>
                <a:lnTo>
                  <a:pt x="7834277" y="3568601"/>
                </a:lnTo>
                <a:lnTo>
                  <a:pt x="0" y="3568601"/>
                </a:lnTo>
                <a:lnTo>
                  <a:pt x="0" y="0"/>
                </a:lnTo>
                <a:close/>
              </a:path>
            </a:pathLst>
          </a:custGeom>
          <a:blipFill rotWithShape="1">
            <a:blip r:embed="rId9">
              <a:alphaModFix/>
            </a:blip>
            <a:stretch>
              <a:fillRect b="0" l="0" r="0" t="0"/>
            </a:stretch>
          </a:blipFill>
          <a:ln>
            <a:noFill/>
          </a:ln>
        </p:spPr>
      </p:sp>
      <p:sp>
        <p:nvSpPr>
          <p:cNvPr id="262" name="Google Shape;262;p9"/>
          <p:cNvSpPr txBox="1"/>
          <p:nvPr/>
        </p:nvSpPr>
        <p:spPr>
          <a:xfrm>
            <a:off x="1321533" y="1061211"/>
            <a:ext cx="7105200" cy="114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 CHAPTER 1 : MODEL ARCHITECTURE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266" name="Shape 266"/>
        <p:cNvGrpSpPr/>
        <p:nvPr/>
      </p:nvGrpSpPr>
      <p:grpSpPr>
        <a:xfrm>
          <a:off x="0" y="0"/>
          <a:ext cx="0" cy="0"/>
          <a:chOff x="0" y="0"/>
          <a:chExt cx="0" cy="0"/>
        </a:xfrm>
      </p:grpSpPr>
      <p:sp>
        <p:nvSpPr>
          <p:cNvPr id="267" name="Google Shape;267;p10"/>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268" name="Google Shape;268;p10"/>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269" name="Google Shape;269;p10"/>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270" name="Google Shape;270;p10"/>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271" name="Google Shape;271;p10"/>
          <p:cNvGrpSpPr/>
          <p:nvPr/>
        </p:nvGrpSpPr>
        <p:grpSpPr>
          <a:xfrm>
            <a:off x="832519" y="2033024"/>
            <a:ext cx="8290560" cy="4049201"/>
            <a:chOff x="0" y="-28575"/>
            <a:chExt cx="4094104" cy="1999606"/>
          </a:xfrm>
        </p:grpSpPr>
        <p:sp>
          <p:nvSpPr>
            <p:cNvPr id="272" name="Google Shape;272;p10"/>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4" name="Google Shape;274;p10"/>
          <p:cNvGrpSpPr/>
          <p:nvPr/>
        </p:nvGrpSpPr>
        <p:grpSpPr>
          <a:xfrm>
            <a:off x="731520" y="1014476"/>
            <a:ext cx="8290560" cy="1076412"/>
            <a:chOff x="0" y="-28575"/>
            <a:chExt cx="4094104" cy="531562"/>
          </a:xfrm>
        </p:grpSpPr>
        <p:sp>
          <p:nvSpPr>
            <p:cNvPr id="275" name="Google Shape;275;p10"/>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7" name="Google Shape;277;p10"/>
          <p:cNvSpPr/>
          <p:nvPr/>
        </p:nvSpPr>
        <p:spPr>
          <a:xfrm flipH="1" rot="3991733">
            <a:off x="-517269" y="5434667"/>
            <a:ext cx="1640991" cy="2084400"/>
          </a:xfrm>
          <a:custGeom>
            <a:rect b="b" l="l" r="r" t="t"/>
            <a:pathLst>
              <a:path extrusionOk="0" h="2084400" w="1640991">
                <a:moveTo>
                  <a:pt x="0" y="2084399"/>
                </a:moveTo>
                <a:lnTo>
                  <a:pt x="1640991" y="2084399"/>
                </a:lnTo>
                <a:lnTo>
                  <a:pt x="1640991" y="0"/>
                </a:lnTo>
                <a:lnTo>
                  <a:pt x="0" y="0"/>
                </a:lnTo>
                <a:lnTo>
                  <a:pt x="0" y="2084399"/>
                </a:lnTo>
                <a:close/>
              </a:path>
            </a:pathLst>
          </a:custGeom>
          <a:blipFill rotWithShape="1">
            <a:blip r:embed="rId7">
              <a:alphaModFix/>
            </a:blip>
            <a:stretch>
              <a:fillRect b="0" l="0" r="0" t="0"/>
            </a:stretch>
          </a:blipFill>
          <a:ln>
            <a:noFill/>
          </a:ln>
        </p:spPr>
      </p:sp>
      <p:sp>
        <p:nvSpPr>
          <p:cNvPr id="278" name="Google Shape;278;p10"/>
          <p:cNvSpPr/>
          <p:nvPr/>
        </p:nvSpPr>
        <p:spPr>
          <a:xfrm rot="-1391152">
            <a:off x="8892313" y="5273315"/>
            <a:ext cx="1248421" cy="2620731"/>
          </a:xfrm>
          <a:custGeom>
            <a:rect b="b" l="l" r="r" t="t"/>
            <a:pathLst>
              <a:path extrusionOk="0" h="2620731" w="1248421">
                <a:moveTo>
                  <a:pt x="0" y="0"/>
                </a:moveTo>
                <a:lnTo>
                  <a:pt x="1248421" y="0"/>
                </a:lnTo>
                <a:lnTo>
                  <a:pt x="1248421" y="2620730"/>
                </a:lnTo>
                <a:lnTo>
                  <a:pt x="0" y="2620730"/>
                </a:lnTo>
                <a:lnTo>
                  <a:pt x="0" y="0"/>
                </a:lnTo>
                <a:close/>
              </a:path>
            </a:pathLst>
          </a:custGeom>
          <a:blipFill rotWithShape="1">
            <a:blip r:embed="rId8">
              <a:alphaModFix/>
            </a:blip>
            <a:stretch>
              <a:fillRect b="0" l="0" r="0" t="0"/>
            </a:stretch>
          </a:blipFill>
          <a:ln>
            <a:noFill/>
          </a:ln>
        </p:spPr>
      </p:sp>
      <p:sp>
        <p:nvSpPr>
          <p:cNvPr id="279" name="Google Shape;279;p10"/>
          <p:cNvSpPr/>
          <p:nvPr/>
        </p:nvSpPr>
        <p:spPr>
          <a:xfrm>
            <a:off x="731520" y="2126624"/>
            <a:ext cx="3841663" cy="3919865"/>
          </a:xfrm>
          <a:custGeom>
            <a:rect b="b" l="l" r="r" t="t"/>
            <a:pathLst>
              <a:path extrusionOk="0" h="3919865" w="3841663">
                <a:moveTo>
                  <a:pt x="0" y="0"/>
                </a:moveTo>
                <a:lnTo>
                  <a:pt x="3841663" y="0"/>
                </a:lnTo>
                <a:lnTo>
                  <a:pt x="3841663" y="3919865"/>
                </a:lnTo>
                <a:lnTo>
                  <a:pt x="0" y="3919865"/>
                </a:lnTo>
                <a:lnTo>
                  <a:pt x="0" y="0"/>
                </a:lnTo>
                <a:close/>
              </a:path>
            </a:pathLst>
          </a:custGeom>
          <a:blipFill rotWithShape="1">
            <a:blip r:embed="rId9">
              <a:alphaModFix/>
            </a:blip>
            <a:stretch>
              <a:fillRect b="0" l="0" r="0" t="0"/>
            </a:stretch>
          </a:blipFill>
          <a:ln>
            <a:noFill/>
          </a:ln>
        </p:spPr>
      </p:sp>
      <p:sp>
        <p:nvSpPr>
          <p:cNvPr id="280" name="Google Shape;280;p10"/>
          <p:cNvSpPr/>
          <p:nvPr/>
        </p:nvSpPr>
        <p:spPr>
          <a:xfrm>
            <a:off x="303227" y="6485493"/>
            <a:ext cx="3928942" cy="562989"/>
          </a:xfrm>
          <a:custGeom>
            <a:rect b="b" l="l" r="r" t="t"/>
            <a:pathLst>
              <a:path extrusionOk="0" h="562989" w="3928942">
                <a:moveTo>
                  <a:pt x="0" y="0"/>
                </a:moveTo>
                <a:lnTo>
                  <a:pt x="3928941" y="0"/>
                </a:lnTo>
                <a:lnTo>
                  <a:pt x="3928941" y="562989"/>
                </a:lnTo>
                <a:lnTo>
                  <a:pt x="0" y="562989"/>
                </a:lnTo>
                <a:lnTo>
                  <a:pt x="0" y="0"/>
                </a:lnTo>
                <a:close/>
              </a:path>
            </a:pathLst>
          </a:custGeom>
          <a:blipFill rotWithShape="1">
            <a:blip r:embed="rId10">
              <a:alphaModFix/>
            </a:blip>
            <a:stretch>
              <a:fillRect b="0" l="0" r="0" t="0"/>
            </a:stretch>
          </a:blipFill>
          <a:ln>
            <a:noFill/>
          </a:ln>
        </p:spPr>
      </p:sp>
      <p:sp>
        <p:nvSpPr>
          <p:cNvPr id="281" name="Google Shape;281;p10"/>
          <p:cNvSpPr/>
          <p:nvPr/>
        </p:nvSpPr>
        <p:spPr>
          <a:xfrm>
            <a:off x="4784355" y="6476866"/>
            <a:ext cx="4718865" cy="571615"/>
          </a:xfrm>
          <a:custGeom>
            <a:rect b="b" l="l" r="r" t="t"/>
            <a:pathLst>
              <a:path extrusionOk="0" h="571615" w="4718865">
                <a:moveTo>
                  <a:pt x="0" y="0"/>
                </a:moveTo>
                <a:lnTo>
                  <a:pt x="4718865" y="0"/>
                </a:lnTo>
                <a:lnTo>
                  <a:pt x="4718865" y="571616"/>
                </a:lnTo>
                <a:lnTo>
                  <a:pt x="0" y="571616"/>
                </a:lnTo>
                <a:lnTo>
                  <a:pt x="0" y="0"/>
                </a:lnTo>
                <a:close/>
              </a:path>
            </a:pathLst>
          </a:custGeom>
          <a:blipFill rotWithShape="1">
            <a:blip r:embed="rId11">
              <a:alphaModFix/>
            </a:blip>
            <a:stretch>
              <a:fillRect b="0" l="0" r="0" t="0"/>
            </a:stretch>
          </a:blipFill>
          <a:ln>
            <a:noFill/>
          </a:ln>
        </p:spPr>
      </p:sp>
      <p:sp>
        <p:nvSpPr>
          <p:cNvPr id="282" name="Google Shape;282;p10"/>
          <p:cNvSpPr txBox="1"/>
          <p:nvPr/>
        </p:nvSpPr>
        <p:spPr>
          <a:xfrm>
            <a:off x="1321533" y="1074566"/>
            <a:ext cx="7105285" cy="107124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799" u="none" cap="none" strike="noStrike">
                <a:solidFill>
                  <a:srgbClr val="FFFFFF"/>
                </a:solidFill>
                <a:latin typeface="Fredoka"/>
                <a:ea typeface="Fredoka"/>
                <a:cs typeface="Fredoka"/>
                <a:sym typeface="Fredoka"/>
              </a:rPr>
              <a:t> CHAPTER 1 : MODEL ARCHITECTURE INSIDE THE REP-VL PAN AT TRAIN PHASE</a:t>
            </a:r>
            <a:endParaRPr/>
          </a:p>
        </p:txBody>
      </p:sp>
      <p:sp>
        <p:nvSpPr>
          <p:cNvPr id="283" name="Google Shape;283;p10"/>
          <p:cNvSpPr txBox="1"/>
          <p:nvPr/>
        </p:nvSpPr>
        <p:spPr>
          <a:xfrm>
            <a:off x="4573183" y="2052788"/>
            <a:ext cx="4549800" cy="4756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000000"/>
                </a:solidFill>
                <a:latin typeface="Arial"/>
                <a:ea typeface="Arial"/>
                <a:cs typeface="Arial"/>
                <a:sym typeface="Arial"/>
              </a:rPr>
              <a:t>P stand for the features pyramid, C stand for multi-scale image features.</a:t>
            </a:r>
            <a:endParaRPr/>
          </a:p>
          <a:p>
            <a:pPr indent="0" lvl="0" marL="0" marR="0" rtl="0" algn="l">
              <a:lnSpc>
                <a:spcPct val="140000"/>
              </a:lnSpc>
              <a:spcBef>
                <a:spcPts val="0"/>
              </a:spcBef>
              <a:spcAft>
                <a:spcPts val="0"/>
              </a:spcAft>
              <a:buNone/>
            </a:pPr>
            <a:r>
              <a:rPr b="0" i="0" lang="en-US" sz="1500" u="none" cap="none" strike="noStrike">
                <a:solidFill>
                  <a:srgbClr val="000000"/>
                </a:solidFill>
                <a:latin typeface="Arial"/>
                <a:ea typeface="Arial"/>
                <a:cs typeface="Arial"/>
                <a:sym typeface="Arial"/>
              </a:rPr>
              <a:t>Following two </a:t>
            </a:r>
            <a:r>
              <a:rPr lang="en-US" sz="1500"/>
              <a:t>component</a:t>
            </a:r>
            <a:r>
              <a:rPr b="0" i="0" lang="en-US" sz="1500" u="none" cap="none" strike="noStrike">
                <a:solidFill>
                  <a:srgbClr val="000000"/>
                </a:solidFill>
                <a:latin typeface="Arial"/>
                <a:ea typeface="Arial"/>
                <a:cs typeface="Arial"/>
                <a:sym typeface="Arial"/>
              </a:rPr>
              <a:t> are used to enhance the interaction between the image features with text features:</a:t>
            </a:r>
            <a:endParaRPr/>
          </a:p>
          <a:p>
            <a:pPr indent="0" lvl="0" marL="0" marR="0" rtl="0" algn="l">
              <a:lnSpc>
                <a:spcPct val="140000"/>
              </a:lnSpc>
              <a:spcBef>
                <a:spcPts val="0"/>
              </a:spcBef>
              <a:spcAft>
                <a:spcPts val="0"/>
              </a:spcAft>
              <a:buNone/>
            </a:pPr>
            <a:r>
              <a:rPr b="1" i="0" lang="en-US" sz="1500" u="none" cap="none" strike="noStrike">
                <a:solidFill>
                  <a:srgbClr val="000000"/>
                </a:solidFill>
                <a:latin typeface="Arial"/>
                <a:ea typeface="Arial"/>
                <a:cs typeface="Arial"/>
                <a:sym typeface="Arial"/>
              </a:rPr>
              <a:t>Text-guided CSPLayer</a:t>
            </a:r>
            <a:r>
              <a:rPr b="0" i="0" lang="en-US" sz="1500" u="none" cap="none" strike="noStrike">
                <a:solidFill>
                  <a:srgbClr val="000000"/>
                </a:solidFill>
                <a:latin typeface="Arial"/>
                <a:ea typeface="Arial"/>
                <a:cs typeface="Arial"/>
                <a:sym typeface="Arial"/>
              </a:rPr>
              <a:t> (cross-stage partial layers) : This highlight the part of image more matches with text embedding.</a:t>
            </a:r>
            <a:endParaRPr/>
          </a:p>
          <a:p>
            <a:pPr indent="0" lvl="0" marL="0" marR="0" rtl="0" algn="l">
              <a:lnSpc>
                <a:spcPct val="140000"/>
              </a:lnSpc>
              <a:spcBef>
                <a:spcPts val="0"/>
              </a:spcBef>
              <a:spcAft>
                <a:spcPts val="0"/>
              </a:spcAft>
              <a:buNone/>
            </a:pPr>
            <a:r>
              <a:rPr b="1" i="0" lang="en-US" sz="1500" u="none" cap="none" strike="noStrike">
                <a:solidFill>
                  <a:srgbClr val="000000"/>
                </a:solidFill>
                <a:latin typeface="Arial"/>
                <a:ea typeface="Arial"/>
                <a:cs typeface="Arial"/>
                <a:sym typeface="Arial"/>
              </a:rPr>
              <a:t>Image-Pooling Attention </a:t>
            </a:r>
            <a:r>
              <a:rPr b="0" i="0" lang="en-US" sz="1500" u="none" cap="none" strike="noStrike">
                <a:solidFill>
                  <a:srgbClr val="000000"/>
                </a:solidFill>
                <a:latin typeface="Arial"/>
                <a:ea typeface="Arial"/>
                <a:cs typeface="Arial"/>
                <a:sym typeface="Arial"/>
              </a:rPr>
              <a:t>(I-Pooling Attention):</a:t>
            </a:r>
            <a:endParaRPr/>
          </a:p>
          <a:p>
            <a:pPr indent="0" lvl="0" marL="0" marR="0" rtl="0" algn="l">
              <a:lnSpc>
                <a:spcPct val="140000"/>
              </a:lnSpc>
              <a:spcBef>
                <a:spcPts val="0"/>
              </a:spcBef>
              <a:spcAft>
                <a:spcPts val="0"/>
              </a:spcAft>
              <a:buNone/>
            </a:pPr>
            <a:r>
              <a:rPr lang="en-US" sz="1500"/>
              <a:t>It pool the image feature from high numbers of token </a:t>
            </a:r>
            <a:r>
              <a:rPr lang="en-US" sz="1500"/>
              <a:t>into</a:t>
            </a:r>
            <a:r>
              <a:rPr lang="en-US" sz="1500"/>
              <a:t> N tokens, then fusion </a:t>
            </a:r>
            <a:r>
              <a:rPr lang="en-US" sz="1500"/>
              <a:t>with</a:t>
            </a:r>
            <a:r>
              <a:rPr lang="en-US" sz="1500"/>
              <a:t> text embedding to generate </a:t>
            </a:r>
            <a:r>
              <a:rPr lang="en-US" sz="1500"/>
              <a:t>the</a:t>
            </a:r>
            <a:r>
              <a:rPr lang="en-US" sz="1500"/>
              <a:t> vision language feature.</a:t>
            </a:r>
            <a:endParaRPr/>
          </a:p>
          <a:p>
            <a:pPr indent="0" lvl="0" marL="0" marR="0" rtl="0" algn="l">
              <a:lnSpc>
                <a:spcPct val="140000"/>
              </a:lnSpc>
              <a:spcBef>
                <a:spcPts val="0"/>
              </a:spcBef>
              <a:spcAft>
                <a:spcPts val="0"/>
              </a:spcAft>
              <a:buNone/>
            </a:pPr>
            <a:r>
              <a:rPr b="0" i="0" lang="en-US" sz="1500" u="none" cap="none" strike="noStrike">
                <a:solidFill>
                  <a:srgbClr val="000000"/>
                </a:solidFill>
                <a:latin typeface="Arial"/>
                <a:ea typeface="Arial"/>
                <a:cs typeface="Arial"/>
                <a:sym typeface="Arial"/>
              </a:rPr>
              <a:t>W → Text embedding, after </a:t>
            </a:r>
            <a:r>
              <a:rPr lang="en-US" sz="1500"/>
              <a:t>reparametrization </a:t>
            </a:r>
            <a:r>
              <a:rPr b="0" i="0" lang="en-US" sz="1500" u="none" cap="none" strike="noStrike">
                <a:solidFill>
                  <a:srgbClr val="000000"/>
                </a:solidFill>
                <a:latin typeface="Arial"/>
                <a:ea typeface="Arial"/>
                <a:cs typeface="Arial"/>
                <a:sym typeface="Arial"/>
              </a:rPr>
              <a:t>become a constant value.</a:t>
            </a:r>
            <a:endParaRPr/>
          </a:p>
          <a:p>
            <a:pPr indent="0" lvl="0" marL="0" marR="0" rtl="0" algn="l">
              <a:lnSpc>
                <a:spcPct val="140000"/>
              </a:lnSpc>
              <a:spcBef>
                <a:spcPts val="0"/>
              </a:spcBef>
              <a:spcAft>
                <a:spcPts val="0"/>
              </a:spcAft>
              <a:buNone/>
            </a:pPr>
            <a:r>
              <a:rPr b="0" i="0" lang="en-US" sz="1500" u="none" cap="none" strike="noStrike">
                <a:solidFill>
                  <a:srgbClr val="000000"/>
                </a:solidFill>
                <a:latin typeface="Arial"/>
                <a:ea typeface="Arial"/>
                <a:cs typeface="Arial"/>
                <a:sym typeface="Arial"/>
              </a:rPr>
              <a:t>X → image features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287" name="Shape 287"/>
        <p:cNvGrpSpPr/>
        <p:nvPr/>
      </p:nvGrpSpPr>
      <p:grpSpPr>
        <a:xfrm>
          <a:off x="0" y="0"/>
          <a:ext cx="0" cy="0"/>
          <a:chOff x="0" y="0"/>
          <a:chExt cx="0" cy="0"/>
        </a:xfrm>
      </p:grpSpPr>
      <p:sp>
        <p:nvSpPr>
          <p:cNvPr id="288" name="Google Shape;288;p11"/>
          <p:cNvSpPr/>
          <p:nvPr/>
        </p:nvSpPr>
        <p:spPr>
          <a:xfrm rot="5400000">
            <a:off x="127733" y="-235877"/>
            <a:ext cx="1707995" cy="2179749"/>
          </a:xfrm>
          <a:custGeom>
            <a:rect b="b" l="l" r="r" t="t"/>
            <a:pathLst>
              <a:path extrusionOk="0" h="2179749" w="1707995">
                <a:moveTo>
                  <a:pt x="1707995" y="2179749"/>
                </a:moveTo>
                <a:lnTo>
                  <a:pt x="0" y="2179749"/>
                </a:lnTo>
                <a:lnTo>
                  <a:pt x="0" y="0"/>
                </a:lnTo>
                <a:lnTo>
                  <a:pt x="1707995" y="0"/>
                </a:lnTo>
                <a:lnTo>
                  <a:pt x="1707995" y="2179749"/>
                </a:lnTo>
                <a:close/>
              </a:path>
            </a:pathLst>
          </a:custGeom>
          <a:blipFill rotWithShape="1">
            <a:blip r:embed="rId3">
              <a:alphaModFix/>
            </a:blip>
            <a:stretch>
              <a:fillRect b="-47966" l="-57592" r="0" t="0"/>
            </a:stretch>
          </a:blipFill>
          <a:ln>
            <a:noFill/>
          </a:ln>
        </p:spPr>
      </p:sp>
      <p:sp>
        <p:nvSpPr>
          <p:cNvPr id="289" name="Google Shape;289;p11"/>
          <p:cNvSpPr/>
          <p:nvPr/>
        </p:nvSpPr>
        <p:spPr>
          <a:xfrm rot="-4516546">
            <a:off x="-2354282" y="-2721884"/>
            <a:ext cx="4206401" cy="4293859"/>
          </a:xfrm>
          <a:custGeom>
            <a:rect b="b" l="l" r="r" t="t"/>
            <a:pathLst>
              <a:path extrusionOk="0" h="4293859" w="4206401">
                <a:moveTo>
                  <a:pt x="0" y="0"/>
                </a:moveTo>
                <a:lnTo>
                  <a:pt x="4206401" y="0"/>
                </a:lnTo>
                <a:lnTo>
                  <a:pt x="4206401" y="4293858"/>
                </a:lnTo>
                <a:lnTo>
                  <a:pt x="0" y="4293858"/>
                </a:lnTo>
                <a:lnTo>
                  <a:pt x="0" y="0"/>
                </a:lnTo>
                <a:close/>
              </a:path>
            </a:pathLst>
          </a:custGeom>
          <a:blipFill rotWithShape="1">
            <a:blip r:embed="rId4">
              <a:alphaModFix/>
            </a:blip>
            <a:stretch>
              <a:fillRect b="0" l="0" r="0" t="0"/>
            </a:stretch>
          </a:blipFill>
          <a:ln>
            <a:noFill/>
          </a:ln>
        </p:spPr>
      </p:sp>
      <p:sp>
        <p:nvSpPr>
          <p:cNvPr id="290" name="Google Shape;290;p11"/>
          <p:cNvSpPr/>
          <p:nvPr/>
        </p:nvSpPr>
        <p:spPr>
          <a:xfrm rot="10458451">
            <a:off x="7934999" y="-54449"/>
            <a:ext cx="2174161" cy="2329711"/>
          </a:xfrm>
          <a:custGeom>
            <a:rect b="b" l="l" r="r" t="t"/>
            <a:pathLst>
              <a:path extrusionOk="0" h="2329711" w="2174161">
                <a:moveTo>
                  <a:pt x="0" y="0"/>
                </a:moveTo>
                <a:lnTo>
                  <a:pt x="2174162" y="0"/>
                </a:lnTo>
                <a:lnTo>
                  <a:pt x="2174162" y="2329711"/>
                </a:lnTo>
                <a:lnTo>
                  <a:pt x="0" y="2329711"/>
                </a:lnTo>
                <a:lnTo>
                  <a:pt x="0" y="0"/>
                </a:lnTo>
                <a:close/>
              </a:path>
            </a:pathLst>
          </a:custGeom>
          <a:blipFill rotWithShape="1">
            <a:blip r:embed="rId5">
              <a:alphaModFix/>
            </a:blip>
            <a:stretch>
              <a:fillRect b="0" l="0" r="0" t="0"/>
            </a:stretch>
          </a:blipFill>
          <a:ln>
            <a:noFill/>
          </a:ln>
        </p:spPr>
      </p:sp>
      <p:sp>
        <p:nvSpPr>
          <p:cNvPr id="291" name="Google Shape;291;p11"/>
          <p:cNvSpPr/>
          <p:nvPr/>
        </p:nvSpPr>
        <p:spPr>
          <a:xfrm rot="8839728">
            <a:off x="6259393" y="5462215"/>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292" name="Google Shape;292;p11"/>
          <p:cNvGrpSpPr/>
          <p:nvPr/>
        </p:nvGrpSpPr>
        <p:grpSpPr>
          <a:xfrm>
            <a:off x="832519" y="2033024"/>
            <a:ext cx="8290560" cy="4049201"/>
            <a:chOff x="0" y="-28575"/>
            <a:chExt cx="4094104" cy="1999606"/>
          </a:xfrm>
        </p:grpSpPr>
        <p:sp>
          <p:nvSpPr>
            <p:cNvPr id="293" name="Google Shape;293;p11"/>
            <p:cNvSpPr/>
            <p:nvPr/>
          </p:nvSpPr>
          <p:spPr>
            <a:xfrm>
              <a:off x="0" y="0"/>
              <a:ext cx="4094104" cy="1971031"/>
            </a:xfrm>
            <a:custGeom>
              <a:rect b="b" l="l" r="r" t="t"/>
              <a:pathLst>
                <a:path extrusionOk="0" h="1971031" w="4094104">
                  <a:moveTo>
                    <a:pt x="28015" y="0"/>
                  </a:moveTo>
                  <a:lnTo>
                    <a:pt x="4066089" y="0"/>
                  </a:lnTo>
                  <a:cubicBezTo>
                    <a:pt x="4073519" y="0"/>
                    <a:pt x="4080644" y="2952"/>
                    <a:pt x="4085898" y="8205"/>
                  </a:cubicBezTo>
                  <a:cubicBezTo>
                    <a:pt x="4091152" y="13459"/>
                    <a:pt x="4094104" y="20585"/>
                    <a:pt x="4094104" y="28015"/>
                  </a:cubicBezTo>
                  <a:lnTo>
                    <a:pt x="4094104" y="1943016"/>
                  </a:lnTo>
                  <a:cubicBezTo>
                    <a:pt x="4094104" y="1950446"/>
                    <a:pt x="4091152" y="1957572"/>
                    <a:pt x="4085898" y="1962825"/>
                  </a:cubicBezTo>
                  <a:cubicBezTo>
                    <a:pt x="4080644" y="1968079"/>
                    <a:pt x="4073519" y="1971031"/>
                    <a:pt x="4066089" y="1971031"/>
                  </a:cubicBezTo>
                  <a:lnTo>
                    <a:pt x="28015" y="1971031"/>
                  </a:lnTo>
                  <a:cubicBezTo>
                    <a:pt x="20585" y="1971031"/>
                    <a:pt x="13459" y="1968079"/>
                    <a:pt x="8205" y="1962825"/>
                  </a:cubicBezTo>
                  <a:cubicBezTo>
                    <a:pt x="2952" y="1957572"/>
                    <a:pt x="0" y="1950446"/>
                    <a:pt x="0" y="1943016"/>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txBox="1"/>
            <p:nvPr/>
          </p:nvSpPr>
          <p:spPr>
            <a:xfrm>
              <a:off x="0" y="-28575"/>
              <a:ext cx="4094104" cy="1999606"/>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p11"/>
          <p:cNvGrpSpPr/>
          <p:nvPr/>
        </p:nvGrpSpPr>
        <p:grpSpPr>
          <a:xfrm>
            <a:off x="731520" y="1014476"/>
            <a:ext cx="8290560" cy="1076412"/>
            <a:chOff x="0" y="-28575"/>
            <a:chExt cx="4094104" cy="531562"/>
          </a:xfrm>
        </p:grpSpPr>
        <p:sp>
          <p:nvSpPr>
            <p:cNvPr id="296" name="Google Shape;296;p11"/>
            <p:cNvSpPr/>
            <p:nvPr/>
          </p:nvSpPr>
          <p:spPr>
            <a:xfrm>
              <a:off x="0" y="0"/>
              <a:ext cx="4094104" cy="502987"/>
            </a:xfrm>
            <a:custGeom>
              <a:rect b="b" l="l" r="r" t="t"/>
              <a:pathLst>
                <a:path extrusionOk="0" h="502987" w="4094104">
                  <a:moveTo>
                    <a:pt x="28015" y="0"/>
                  </a:moveTo>
                  <a:lnTo>
                    <a:pt x="4066089" y="0"/>
                  </a:lnTo>
                  <a:cubicBezTo>
                    <a:pt x="4073519" y="0"/>
                    <a:pt x="4080644" y="2952"/>
                    <a:pt x="4085898" y="8205"/>
                  </a:cubicBezTo>
                  <a:cubicBezTo>
                    <a:pt x="4091152" y="13459"/>
                    <a:pt x="4094104" y="20585"/>
                    <a:pt x="4094104" y="28015"/>
                  </a:cubicBezTo>
                  <a:lnTo>
                    <a:pt x="4094104" y="474972"/>
                  </a:lnTo>
                  <a:cubicBezTo>
                    <a:pt x="4094104" y="490444"/>
                    <a:pt x="4081561" y="502987"/>
                    <a:pt x="4066089" y="502987"/>
                  </a:cubicBezTo>
                  <a:lnTo>
                    <a:pt x="28015" y="502987"/>
                  </a:lnTo>
                  <a:cubicBezTo>
                    <a:pt x="20585" y="502987"/>
                    <a:pt x="13459" y="500035"/>
                    <a:pt x="8205" y="494781"/>
                  </a:cubicBezTo>
                  <a:cubicBezTo>
                    <a:pt x="2952" y="489528"/>
                    <a:pt x="0" y="482402"/>
                    <a:pt x="0" y="474972"/>
                  </a:cubicBezTo>
                  <a:lnTo>
                    <a:pt x="0" y="28015"/>
                  </a:lnTo>
                  <a:cubicBezTo>
                    <a:pt x="0" y="20585"/>
                    <a:pt x="2952" y="13459"/>
                    <a:pt x="8205" y="8205"/>
                  </a:cubicBezTo>
                  <a:cubicBezTo>
                    <a:pt x="13459" y="2952"/>
                    <a:pt x="20585" y="0"/>
                    <a:pt x="28015"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txBox="1"/>
            <p:nvPr/>
          </p:nvSpPr>
          <p:spPr>
            <a:xfrm>
              <a:off x="0" y="-28575"/>
              <a:ext cx="4094104"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8" name="Google Shape;298;p11"/>
          <p:cNvSpPr/>
          <p:nvPr/>
        </p:nvSpPr>
        <p:spPr>
          <a:xfrm flipH="1" rot="3991733">
            <a:off x="-517269" y="5434667"/>
            <a:ext cx="1640991" cy="2084400"/>
          </a:xfrm>
          <a:custGeom>
            <a:rect b="b" l="l" r="r" t="t"/>
            <a:pathLst>
              <a:path extrusionOk="0" h="2084400" w="1640991">
                <a:moveTo>
                  <a:pt x="0" y="2084399"/>
                </a:moveTo>
                <a:lnTo>
                  <a:pt x="1640991" y="2084399"/>
                </a:lnTo>
                <a:lnTo>
                  <a:pt x="1640991" y="0"/>
                </a:lnTo>
                <a:lnTo>
                  <a:pt x="0" y="0"/>
                </a:lnTo>
                <a:lnTo>
                  <a:pt x="0" y="2084399"/>
                </a:lnTo>
                <a:close/>
              </a:path>
            </a:pathLst>
          </a:custGeom>
          <a:blipFill rotWithShape="1">
            <a:blip r:embed="rId7">
              <a:alphaModFix/>
            </a:blip>
            <a:stretch>
              <a:fillRect b="0" l="0" r="0" t="0"/>
            </a:stretch>
          </a:blipFill>
          <a:ln>
            <a:noFill/>
          </a:ln>
        </p:spPr>
      </p:sp>
      <p:sp>
        <p:nvSpPr>
          <p:cNvPr id="299" name="Google Shape;299;p11"/>
          <p:cNvSpPr/>
          <p:nvPr/>
        </p:nvSpPr>
        <p:spPr>
          <a:xfrm rot="-1391152">
            <a:off x="8892313" y="5273315"/>
            <a:ext cx="1248421" cy="2620731"/>
          </a:xfrm>
          <a:custGeom>
            <a:rect b="b" l="l" r="r" t="t"/>
            <a:pathLst>
              <a:path extrusionOk="0" h="2620731" w="1248421">
                <a:moveTo>
                  <a:pt x="0" y="0"/>
                </a:moveTo>
                <a:lnTo>
                  <a:pt x="1248421" y="0"/>
                </a:lnTo>
                <a:lnTo>
                  <a:pt x="1248421" y="2620730"/>
                </a:lnTo>
                <a:lnTo>
                  <a:pt x="0" y="2620730"/>
                </a:lnTo>
                <a:lnTo>
                  <a:pt x="0" y="0"/>
                </a:lnTo>
                <a:close/>
              </a:path>
            </a:pathLst>
          </a:custGeom>
          <a:blipFill rotWithShape="1">
            <a:blip r:embed="rId8">
              <a:alphaModFix/>
            </a:blip>
            <a:stretch>
              <a:fillRect b="0" l="0" r="0" t="0"/>
            </a:stretch>
          </a:blipFill>
          <a:ln>
            <a:noFill/>
          </a:ln>
        </p:spPr>
      </p:sp>
      <p:sp>
        <p:nvSpPr>
          <p:cNvPr id="300" name="Google Shape;300;p11"/>
          <p:cNvSpPr txBox="1"/>
          <p:nvPr/>
        </p:nvSpPr>
        <p:spPr>
          <a:xfrm>
            <a:off x="1321533" y="1129490"/>
            <a:ext cx="7105285" cy="7188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2799" u="none" cap="none" strike="noStrike">
                <a:solidFill>
                  <a:srgbClr val="FFFFFF"/>
                </a:solidFill>
                <a:latin typeface="Fredoka"/>
                <a:ea typeface="Fredoka"/>
                <a:cs typeface="Fredoka"/>
                <a:sym typeface="Fredoka"/>
              </a:rPr>
              <a:t> CHAPTER 1 : MODEL ARCHITECTURE PRETRAIN </a:t>
            </a:r>
            <a:endParaRPr/>
          </a:p>
        </p:txBody>
      </p:sp>
      <p:sp>
        <p:nvSpPr>
          <p:cNvPr id="301" name="Google Shape;301;p11"/>
          <p:cNvSpPr txBox="1"/>
          <p:nvPr/>
        </p:nvSpPr>
        <p:spPr>
          <a:xfrm>
            <a:off x="832519" y="2216572"/>
            <a:ext cx="8290500" cy="4233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724E39"/>
                </a:solidFill>
                <a:latin typeface="Arial"/>
                <a:ea typeface="Arial"/>
                <a:cs typeface="Arial"/>
                <a:sym typeface="Arial"/>
              </a:rPr>
              <a:t>YOLO-World use the pre-train methods called as:  </a:t>
            </a:r>
            <a:r>
              <a:rPr b="1" i="0" lang="en-US" sz="1800" u="none" cap="none" strike="noStrike">
                <a:solidFill>
                  <a:srgbClr val="724E39"/>
                </a:solidFill>
                <a:latin typeface="Arial"/>
                <a:ea typeface="Arial"/>
                <a:cs typeface="Arial"/>
                <a:sym typeface="Arial"/>
              </a:rPr>
              <a:t>Region-Text Contrastive Learning</a:t>
            </a:r>
            <a:endParaRPr/>
          </a:p>
          <a:p>
            <a:pPr indent="0" lvl="0" marL="0" marR="0" rtl="0" algn="l">
              <a:lnSpc>
                <a:spcPct val="140000"/>
              </a:lnSpc>
              <a:spcBef>
                <a:spcPts val="0"/>
              </a:spcBef>
              <a:spcAft>
                <a:spcPts val="0"/>
              </a:spcAft>
              <a:buNone/>
            </a:pPr>
            <a:r>
              <a:rPr b="0" i="0" lang="en-US" sz="1800" u="none" cap="none" strike="noStrike">
                <a:solidFill>
                  <a:srgbClr val="724E39"/>
                </a:solidFill>
                <a:latin typeface="Arial"/>
                <a:ea typeface="Arial"/>
                <a:cs typeface="Arial"/>
                <a:sym typeface="Arial"/>
              </a:rPr>
              <a:t>A mechanism called Region-Text Pairs, which associate bounding box with the text, and with amount of data to train.</a:t>
            </a:r>
            <a:endParaRPr/>
          </a:p>
          <a:p>
            <a:pPr indent="0" lvl="0" marL="0" marR="0" rtl="0" algn="l">
              <a:lnSpc>
                <a:spcPct val="140000"/>
              </a:lnSpc>
              <a:spcBef>
                <a:spcPts val="0"/>
              </a:spcBef>
              <a:spcAft>
                <a:spcPts val="0"/>
              </a:spcAft>
              <a:buNone/>
            </a:pPr>
            <a:r>
              <a:rPr b="0" i="0" lang="en-US" sz="1800" u="none" cap="none" strike="noStrike">
                <a:solidFill>
                  <a:srgbClr val="724E39"/>
                </a:solidFill>
                <a:latin typeface="Arial"/>
                <a:ea typeface="Arial"/>
                <a:cs typeface="Arial"/>
                <a:sym typeface="Arial"/>
              </a:rPr>
              <a:t>The data comes from different sources:</a:t>
            </a:r>
            <a:endParaRPr/>
          </a:p>
          <a:p>
            <a:pPr indent="-194310" lvl="1" marL="388620" marR="0" rtl="0" algn="l">
              <a:lnSpc>
                <a:spcPct val="140000"/>
              </a:lnSpc>
              <a:spcBef>
                <a:spcPts val="0"/>
              </a:spcBef>
              <a:spcAft>
                <a:spcPts val="0"/>
              </a:spcAft>
              <a:buClr>
                <a:srgbClr val="724E39"/>
              </a:buClr>
              <a:buSzPts val="1800"/>
              <a:buFont typeface="Arial"/>
              <a:buChar char="•"/>
            </a:pPr>
            <a:r>
              <a:rPr b="0" i="0" lang="en-US" sz="1800" u="none" cap="none" strike="noStrike">
                <a:solidFill>
                  <a:srgbClr val="724E39"/>
                </a:solidFill>
                <a:latin typeface="Arial"/>
                <a:ea typeface="Arial"/>
                <a:cs typeface="Arial"/>
                <a:sym typeface="Arial"/>
              </a:rPr>
              <a:t>Standard Detection Data: Like object365 (365 categories)</a:t>
            </a:r>
            <a:endParaRPr/>
          </a:p>
          <a:p>
            <a:pPr indent="-194310" lvl="1" marL="388620" marR="0" rtl="0" algn="l">
              <a:lnSpc>
                <a:spcPct val="140000"/>
              </a:lnSpc>
              <a:spcBef>
                <a:spcPts val="0"/>
              </a:spcBef>
              <a:spcAft>
                <a:spcPts val="0"/>
              </a:spcAft>
              <a:buClr>
                <a:srgbClr val="724E39"/>
              </a:buClr>
              <a:buSzPts val="1800"/>
              <a:buFont typeface="Arial"/>
              <a:buChar char="•"/>
            </a:pPr>
            <a:r>
              <a:rPr b="0" i="0" lang="en-US" sz="1800" u="none" cap="none" strike="noStrike">
                <a:solidFill>
                  <a:srgbClr val="724E39"/>
                </a:solidFill>
                <a:latin typeface="Arial"/>
                <a:ea typeface="Arial"/>
                <a:cs typeface="Arial"/>
                <a:sym typeface="Arial"/>
              </a:rPr>
              <a:t>Grounding Data</a:t>
            </a:r>
            <a:r>
              <a:rPr lang="en-US" sz="1800">
                <a:solidFill>
                  <a:srgbClr val="724E39"/>
                </a:solidFill>
              </a:rPr>
              <a:t> </a:t>
            </a:r>
            <a:r>
              <a:rPr b="0" i="0" lang="en-US" sz="1800" u="none" cap="none" strike="noStrike">
                <a:solidFill>
                  <a:srgbClr val="724E39"/>
                </a:solidFill>
                <a:latin typeface="Arial"/>
                <a:ea typeface="Arial"/>
                <a:cs typeface="Arial"/>
                <a:sym typeface="Arial"/>
              </a:rPr>
              <a:t>Datasets: Like GQA and Flickr30k where phrases in text are mapped to boxes in images. </a:t>
            </a:r>
            <a:endParaRPr/>
          </a:p>
          <a:p>
            <a:pPr indent="-194310" lvl="1" marL="388620" marR="0" rtl="0" algn="l">
              <a:lnSpc>
                <a:spcPct val="140000"/>
              </a:lnSpc>
              <a:spcBef>
                <a:spcPts val="0"/>
              </a:spcBef>
              <a:spcAft>
                <a:spcPts val="0"/>
              </a:spcAft>
              <a:buClr>
                <a:srgbClr val="724E39"/>
              </a:buClr>
              <a:buSzPts val="1800"/>
              <a:buFont typeface="Arial"/>
              <a:buChar char="•"/>
            </a:pPr>
            <a:r>
              <a:rPr b="0" i="0" lang="en-US" sz="1800" u="none" cap="none" strike="noStrike">
                <a:solidFill>
                  <a:srgbClr val="724E39"/>
                </a:solidFill>
                <a:latin typeface="Arial"/>
                <a:ea typeface="Arial"/>
                <a:cs typeface="Arial"/>
                <a:sym typeface="Arial"/>
              </a:rPr>
              <a:t>Pseudo-Labeled Image-Text Data: Extract the nouns from images with a text parser, then using an ai model to guess which part of image does this text correspond.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305" name="Shape 305"/>
        <p:cNvGrpSpPr/>
        <p:nvPr/>
      </p:nvGrpSpPr>
      <p:grpSpPr>
        <a:xfrm>
          <a:off x="0" y="0"/>
          <a:ext cx="0" cy="0"/>
          <a:chOff x="0" y="0"/>
          <a:chExt cx="0" cy="0"/>
        </a:xfrm>
      </p:grpSpPr>
      <p:sp>
        <p:nvSpPr>
          <p:cNvPr id="306" name="Google Shape;306;p12"/>
          <p:cNvSpPr/>
          <p:nvPr/>
        </p:nvSpPr>
        <p:spPr>
          <a:xfrm rot="5400000">
            <a:off x="269168" y="-269168"/>
            <a:ext cx="1949057" cy="2487393"/>
          </a:xfrm>
          <a:custGeom>
            <a:rect b="b" l="l" r="r" t="t"/>
            <a:pathLst>
              <a:path extrusionOk="0" h="2487393" w="1949057">
                <a:moveTo>
                  <a:pt x="1949057" y="2487393"/>
                </a:moveTo>
                <a:lnTo>
                  <a:pt x="0" y="2487393"/>
                </a:lnTo>
                <a:lnTo>
                  <a:pt x="0" y="0"/>
                </a:lnTo>
                <a:lnTo>
                  <a:pt x="1949057" y="0"/>
                </a:lnTo>
                <a:lnTo>
                  <a:pt x="1949057" y="2487393"/>
                </a:lnTo>
                <a:close/>
              </a:path>
            </a:pathLst>
          </a:custGeom>
          <a:blipFill rotWithShape="1">
            <a:blip r:embed="rId3">
              <a:alphaModFix/>
            </a:blip>
            <a:stretch>
              <a:fillRect b="-47966" l="-57592" r="0" t="0"/>
            </a:stretch>
          </a:blipFill>
          <a:ln>
            <a:noFill/>
          </a:ln>
        </p:spPr>
      </p:sp>
      <p:sp>
        <p:nvSpPr>
          <p:cNvPr id="307" name="Google Shape;307;p12"/>
          <p:cNvSpPr/>
          <p:nvPr/>
        </p:nvSpPr>
        <p:spPr>
          <a:xfrm rot="8100000">
            <a:off x="8338282" y="-272797"/>
            <a:ext cx="1667428" cy="1786724"/>
          </a:xfrm>
          <a:custGeom>
            <a:rect b="b" l="l" r="r" t="t"/>
            <a:pathLst>
              <a:path extrusionOk="0" h="1786724" w="1667428">
                <a:moveTo>
                  <a:pt x="0" y="0"/>
                </a:moveTo>
                <a:lnTo>
                  <a:pt x="1667428" y="0"/>
                </a:lnTo>
                <a:lnTo>
                  <a:pt x="1667428" y="1786724"/>
                </a:lnTo>
                <a:lnTo>
                  <a:pt x="0" y="1786724"/>
                </a:lnTo>
                <a:lnTo>
                  <a:pt x="0" y="0"/>
                </a:lnTo>
                <a:close/>
              </a:path>
            </a:pathLst>
          </a:custGeom>
          <a:blipFill rotWithShape="1">
            <a:blip r:embed="rId4">
              <a:alphaModFix/>
            </a:blip>
            <a:stretch>
              <a:fillRect b="0" l="0" r="0" t="0"/>
            </a:stretch>
          </a:blipFill>
          <a:ln>
            <a:noFill/>
          </a:ln>
        </p:spPr>
      </p:sp>
      <p:sp>
        <p:nvSpPr>
          <p:cNvPr id="308" name="Google Shape;308;p12"/>
          <p:cNvSpPr/>
          <p:nvPr/>
        </p:nvSpPr>
        <p:spPr>
          <a:xfrm rot="8669013">
            <a:off x="7156479" y="5553773"/>
            <a:ext cx="3731202" cy="2225153"/>
          </a:xfrm>
          <a:custGeom>
            <a:rect b="b" l="l" r="r" t="t"/>
            <a:pathLst>
              <a:path extrusionOk="0" h="2225153" w="3731202">
                <a:moveTo>
                  <a:pt x="0" y="0"/>
                </a:moveTo>
                <a:lnTo>
                  <a:pt x="3731202" y="0"/>
                </a:lnTo>
                <a:lnTo>
                  <a:pt x="3731202" y="2225153"/>
                </a:lnTo>
                <a:lnTo>
                  <a:pt x="0" y="2225153"/>
                </a:lnTo>
                <a:lnTo>
                  <a:pt x="0" y="0"/>
                </a:lnTo>
                <a:close/>
              </a:path>
            </a:pathLst>
          </a:custGeom>
          <a:blipFill rotWithShape="1">
            <a:blip r:embed="rId5">
              <a:alphaModFix/>
            </a:blip>
            <a:stretch>
              <a:fillRect b="0" l="0" r="0" t="0"/>
            </a:stretch>
          </a:blipFill>
          <a:ln>
            <a:noFill/>
          </a:ln>
        </p:spPr>
      </p:sp>
      <p:sp>
        <p:nvSpPr>
          <p:cNvPr id="309" name="Google Shape;309;p12"/>
          <p:cNvSpPr/>
          <p:nvPr/>
        </p:nvSpPr>
        <p:spPr>
          <a:xfrm rot="-1257821">
            <a:off x="-823771" y="5522527"/>
            <a:ext cx="2687376" cy="2743251"/>
          </a:xfrm>
          <a:custGeom>
            <a:rect b="b" l="l" r="r" t="t"/>
            <a:pathLst>
              <a:path extrusionOk="0" h="2743251" w="2687376">
                <a:moveTo>
                  <a:pt x="0" y="0"/>
                </a:moveTo>
                <a:lnTo>
                  <a:pt x="2687375" y="0"/>
                </a:lnTo>
                <a:lnTo>
                  <a:pt x="2687375" y="2743251"/>
                </a:lnTo>
                <a:lnTo>
                  <a:pt x="0" y="2743251"/>
                </a:lnTo>
                <a:lnTo>
                  <a:pt x="0" y="0"/>
                </a:lnTo>
                <a:close/>
              </a:path>
            </a:pathLst>
          </a:custGeom>
          <a:blipFill rotWithShape="1">
            <a:blip r:embed="rId6">
              <a:alphaModFix/>
            </a:blip>
            <a:stretch>
              <a:fillRect b="0" l="0" r="0" t="0"/>
            </a:stretch>
          </a:blipFill>
          <a:ln>
            <a:noFill/>
          </a:ln>
        </p:spPr>
      </p:sp>
      <p:grpSp>
        <p:nvGrpSpPr>
          <p:cNvPr id="310" name="Google Shape;310;p12"/>
          <p:cNvGrpSpPr/>
          <p:nvPr/>
        </p:nvGrpSpPr>
        <p:grpSpPr>
          <a:xfrm>
            <a:off x="731520" y="1302353"/>
            <a:ext cx="8290560" cy="5363996"/>
            <a:chOff x="0" y="-28575"/>
            <a:chExt cx="4094104" cy="2648887"/>
          </a:xfrm>
        </p:grpSpPr>
        <p:sp>
          <p:nvSpPr>
            <p:cNvPr id="311" name="Google Shape;311;p12"/>
            <p:cNvSpPr/>
            <p:nvPr/>
          </p:nvSpPr>
          <p:spPr>
            <a:xfrm>
              <a:off x="0" y="0"/>
              <a:ext cx="4094104" cy="2620312"/>
            </a:xfrm>
            <a:custGeom>
              <a:rect b="b" l="l" r="r" t="t"/>
              <a:pathLst>
                <a:path extrusionOk="0" h="2620312" w="4094104">
                  <a:moveTo>
                    <a:pt x="28015" y="0"/>
                  </a:moveTo>
                  <a:lnTo>
                    <a:pt x="4066089" y="0"/>
                  </a:lnTo>
                  <a:cubicBezTo>
                    <a:pt x="4073519" y="0"/>
                    <a:pt x="4080644" y="2952"/>
                    <a:pt x="4085898" y="8205"/>
                  </a:cubicBezTo>
                  <a:cubicBezTo>
                    <a:pt x="4091152" y="13459"/>
                    <a:pt x="4094104" y="20585"/>
                    <a:pt x="4094104" y="28015"/>
                  </a:cubicBezTo>
                  <a:lnTo>
                    <a:pt x="4094104" y="2592298"/>
                  </a:lnTo>
                  <a:cubicBezTo>
                    <a:pt x="4094104" y="2607770"/>
                    <a:pt x="4081561" y="2620312"/>
                    <a:pt x="4066089" y="2620312"/>
                  </a:cubicBezTo>
                  <a:lnTo>
                    <a:pt x="28015" y="2620312"/>
                  </a:lnTo>
                  <a:cubicBezTo>
                    <a:pt x="20585" y="2620312"/>
                    <a:pt x="13459" y="2617361"/>
                    <a:pt x="8205" y="2612107"/>
                  </a:cubicBezTo>
                  <a:cubicBezTo>
                    <a:pt x="2952" y="2606853"/>
                    <a:pt x="0" y="2599728"/>
                    <a:pt x="0" y="2592298"/>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txBox="1"/>
            <p:nvPr/>
          </p:nvSpPr>
          <p:spPr>
            <a:xfrm>
              <a:off x="0" y="-28575"/>
              <a:ext cx="4094104" cy="2648887"/>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3" name="Google Shape;313;p12"/>
          <p:cNvGrpSpPr/>
          <p:nvPr/>
        </p:nvGrpSpPr>
        <p:grpSpPr>
          <a:xfrm>
            <a:off x="1283927" y="793079"/>
            <a:ext cx="7185746" cy="1076412"/>
            <a:chOff x="0" y="-28575"/>
            <a:chExt cx="3548517" cy="531562"/>
          </a:xfrm>
        </p:grpSpPr>
        <p:sp>
          <p:nvSpPr>
            <p:cNvPr id="314" name="Google Shape;314;p12"/>
            <p:cNvSpPr/>
            <p:nvPr/>
          </p:nvSpPr>
          <p:spPr>
            <a:xfrm>
              <a:off x="0" y="0"/>
              <a:ext cx="3548517" cy="502987"/>
            </a:xfrm>
            <a:custGeom>
              <a:rect b="b" l="l" r="r" t="t"/>
              <a:pathLst>
                <a:path extrusionOk="0" h="502987" w="3548517">
                  <a:moveTo>
                    <a:pt x="32322" y="0"/>
                  </a:moveTo>
                  <a:lnTo>
                    <a:pt x="3516195" y="0"/>
                  </a:lnTo>
                  <a:cubicBezTo>
                    <a:pt x="3534046" y="0"/>
                    <a:pt x="3548517" y="14471"/>
                    <a:pt x="3548517" y="32322"/>
                  </a:cubicBezTo>
                  <a:lnTo>
                    <a:pt x="3548517" y="470665"/>
                  </a:lnTo>
                  <a:cubicBezTo>
                    <a:pt x="3548517" y="488516"/>
                    <a:pt x="3534046" y="502987"/>
                    <a:pt x="3516195" y="502987"/>
                  </a:cubicBezTo>
                  <a:lnTo>
                    <a:pt x="32322" y="502987"/>
                  </a:lnTo>
                  <a:cubicBezTo>
                    <a:pt x="23750" y="502987"/>
                    <a:pt x="15528" y="499581"/>
                    <a:pt x="9467" y="493520"/>
                  </a:cubicBezTo>
                  <a:cubicBezTo>
                    <a:pt x="3405" y="487458"/>
                    <a:pt x="0" y="479237"/>
                    <a:pt x="0" y="470665"/>
                  </a:cubicBezTo>
                  <a:lnTo>
                    <a:pt x="0" y="32322"/>
                  </a:lnTo>
                  <a:cubicBezTo>
                    <a:pt x="0" y="14471"/>
                    <a:pt x="14471" y="0"/>
                    <a:pt x="3232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txBox="1"/>
            <p:nvPr/>
          </p:nvSpPr>
          <p:spPr>
            <a:xfrm>
              <a:off x="0" y="-28575"/>
              <a:ext cx="3548517"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6" name="Google Shape;316;p12"/>
          <p:cNvSpPr txBox="1"/>
          <p:nvPr/>
        </p:nvSpPr>
        <p:spPr>
          <a:xfrm>
            <a:off x="1176333" y="976677"/>
            <a:ext cx="7253110" cy="8242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200" u="none" cap="none" strike="noStrike">
                <a:solidFill>
                  <a:srgbClr val="FFFFFF"/>
                </a:solidFill>
                <a:latin typeface="Fredoka"/>
                <a:ea typeface="Fredoka"/>
                <a:cs typeface="Fredoka"/>
                <a:sym typeface="Fredoka"/>
              </a:rPr>
              <a:t> CHAPTER 2 : DISCUSSION ABOUT PROCESS OF EXPERIMENT</a:t>
            </a:r>
            <a:endParaRPr/>
          </a:p>
        </p:txBody>
      </p:sp>
      <p:sp>
        <p:nvSpPr>
          <p:cNvPr id="317" name="Google Shape;317;p12"/>
          <p:cNvSpPr txBox="1"/>
          <p:nvPr/>
        </p:nvSpPr>
        <p:spPr>
          <a:xfrm>
            <a:off x="731520" y="1926641"/>
            <a:ext cx="8290560" cy="784241"/>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054" u="none" cap="none" strike="noStrike">
                <a:solidFill>
                  <a:srgbClr val="724E39"/>
                </a:solidFill>
                <a:latin typeface="Fredoka"/>
                <a:ea typeface="Fredoka"/>
                <a:cs typeface="Fredoka"/>
                <a:sym typeface="Fredoka"/>
              </a:rPr>
              <a:t>What experiment will be realized in this project?</a:t>
            </a:r>
            <a:endParaRPr/>
          </a:p>
        </p:txBody>
      </p:sp>
      <p:sp>
        <p:nvSpPr>
          <p:cNvPr id="318" name="Google Shape;318;p12"/>
          <p:cNvSpPr txBox="1"/>
          <p:nvPr/>
        </p:nvSpPr>
        <p:spPr>
          <a:xfrm>
            <a:off x="805254" y="3286225"/>
            <a:ext cx="8130666" cy="2913311"/>
          </a:xfrm>
          <a:prstGeom prst="rect">
            <a:avLst/>
          </a:prstGeom>
          <a:noFill/>
          <a:ln>
            <a:noFill/>
          </a:ln>
        </p:spPr>
        <p:txBody>
          <a:bodyPr anchorCtr="0" anchor="t" bIns="0" lIns="0" spcFirstLastPara="1" rIns="0" wrap="square" tIns="0">
            <a:spAutoFit/>
          </a:bodyPr>
          <a:lstStyle/>
          <a:p>
            <a:pPr indent="0" lvl="0" marL="0" marR="0" rtl="0" algn="just">
              <a:lnSpc>
                <a:spcPct val="119983"/>
              </a:lnSpc>
              <a:spcBef>
                <a:spcPts val="0"/>
              </a:spcBef>
              <a:spcAft>
                <a:spcPts val="0"/>
              </a:spcAft>
              <a:buNone/>
            </a:pPr>
            <a:r>
              <a:rPr b="0" i="0" lang="en-US" sz="2427" u="none" cap="none" strike="noStrike">
                <a:solidFill>
                  <a:srgbClr val="724E39"/>
                </a:solidFill>
                <a:latin typeface="Arial"/>
                <a:ea typeface="Arial"/>
                <a:cs typeface="Arial"/>
                <a:sym typeface="Arial"/>
              </a:rPr>
              <a:t>But different as paper described, instead of re-implement the experiment introduced in the paper.( fine tuning on different yolo world with different version of model and compare with zero shot version and different yolo models, it too heave to evaluate.)</a:t>
            </a:r>
            <a:endParaRPr/>
          </a:p>
          <a:p>
            <a:pPr indent="0" lvl="0" marL="0" marR="0" rtl="0" algn="just">
              <a:lnSpc>
                <a:spcPct val="119983"/>
              </a:lnSpc>
              <a:spcBef>
                <a:spcPts val="0"/>
              </a:spcBef>
              <a:spcAft>
                <a:spcPts val="0"/>
              </a:spcAft>
              <a:buNone/>
            </a:pPr>
            <a:r>
              <a:rPr b="0" i="0" lang="en-US" sz="2427" u="none" cap="none" strike="noStrike">
                <a:solidFill>
                  <a:srgbClr val="724E39"/>
                </a:solidFill>
                <a:latin typeface="Arial"/>
                <a:ea typeface="Arial"/>
                <a:cs typeface="Arial"/>
                <a:sym typeface="Arial"/>
              </a:rPr>
              <a:t>The aim of project is try to fine tune a small version of YOLO-World with a specific small dataset and compare it with the zero-shot version to see the differences.</a:t>
            </a:r>
            <a:endParaRPr/>
          </a:p>
        </p:txBody>
      </p:sp>
      <p:sp>
        <p:nvSpPr>
          <p:cNvPr id="319" name="Google Shape;319;p12"/>
          <p:cNvSpPr txBox="1"/>
          <p:nvPr/>
        </p:nvSpPr>
        <p:spPr>
          <a:xfrm>
            <a:off x="1403321" y="2928119"/>
            <a:ext cx="6946957" cy="323850"/>
          </a:xfrm>
          <a:prstGeom prst="rect">
            <a:avLst/>
          </a:prstGeom>
          <a:noFill/>
          <a:ln>
            <a:noFill/>
          </a:ln>
        </p:spPr>
        <p:txBody>
          <a:bodyPr anchorCtr="0" anchor="t" bIns="0" lIns="0" spcFirstLastPara="1" rIns="0" wrap="square" tIns="0">
            <a:spAutoFit/>
          </a:bodyPr>
          <a:lstStyle/>
          <a:p>
            <a:pPr indent="0" lvl="0" marL="0" marR="0" rtl="0" algn="ctr">
              <a:lnSpc>
                <a:spcPct val="119971"/>
              </a:lnSpc>
              <a:spcBef>
                <a:spcPts val="0"/>
              </a:spcBef>
              <a:spcAft>
                <a:spcPts val="0"/>
              </a:spcAft>
              <a:buNone/>
            </a:pPr>
            <a:r>
              <a:rPr b="1" i="0" lang="en-US" sz="2133" u="none" cap="none" strike="noStrike">
                <a:solidFill>
                  <a:srgbClr val="724E39"/>
                </a:solidFill>
                <a:latin typeface="Arial"/>
                <a:ea typeface="Arial"/>
                <a:cs typeface="Arial"/>
                <a:sym typeface="Arial"/>
              </a:rPr>
              <a:t>FINE TUNING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323" name="Shape 323"/>
        <p:cNvGrpSpPr/>
        <p:nvPr/>
      </p:nvGrpSpPr>
      <p:grpSpPr>
        <a:xfrm>
          <a:off x="0" y="0"/>
          <a:ext cx="0" cy="0"/>
          <a:chOff x="0" y="0"/>
          <a:chExt cx="0" cy="0"/>
        </a:xfrm>
      </p:grpSpPr>
      <p:sp>
        <p:nvSpPr>
          <p:cNvPr id="324" name="Google Shape;324;p13"/>
          <p:cNvSpPr/>
          <p:nvPr/>
        </p:nvSpPr>
        <p:spPr>
          <a:xfrm rot="5400000">
            <a:off x="149827" y="-494600"/>
            <a:ext cx="1949057" cy="2487393"/>
          </a:xfrm>
          <a:custGeom>
            <a:rect b="b" l="l" r="r" t="t"/>
            <a:pathLst>
              <a:path extrusionOk="0" h="2487393" w="1949057">
                <a:moveTo>
                  <a:pt x="1949057" y="2487392"/>
                </a:moveTo>
                <a:lnTo>
                  <a:pt x="0" y="2487392"/>
                </a:lnTo>
                <a:lnTo>
                  <a:pt x="0" y="0"/>
                </a:lnTo>
                <a:lnTo>
                  <a:pt x="1949057" y="0"/>
                </a:lnTo>
                <a:lnTo>
                  <a:pt x="1949057" y="2487392"/>
                </a:lnTo>
                <a:close/>
              </a:path>
            </a:pathLst>
          </a:custGeom>
          <a:blipFill rotWithShape="1">
            <a:blip r:embed="rId3">
              <a:alphaModFix/>
            </a:blip>
            <a:stretch>
              <a:fillRect b="-47966" l="-57592" r="0" t="0"/>
            </a:stretch>
          </a:blipFill>
          <a:ln>
            <a:noFill/>
          </a:ln>
        </p:spPr>
      </p:sp>
      <p:sp>
        <p:nvSpPr>
          <p:cNvPr id="325" name="Google Shape;325;p13"/>
          <p:cNvSpPr/>
          <p:nvPr/>
        </p:nvSpPr>
        <p:spPr>
          <a:xfrm rot="-5098881">
            <a:off x="-748415" y="-3108077"/>
            <a:ext cx="3984223" cy="4067061"/>
          </a:xfrm>
          <a:custGeom>
            <a:rect b="b" l="l" r="r" t="t"/>
            <a:pathLst>
              <a:path extrusionOk="0" h="4067061" w="3984223">
                <a:moveTo>
                  <a:pt x="0" y="0"/>
                </a:moveTo>
                <a:lnTo>
                  <a:pt x="3984223" y="0"/>
                </a:lnTo>
                <a:lnTo>
                  <a:pt x="3984223" y="4067062"/>
                </a:lnTo>
                <a:lnTo>
                  <a:pt x="0" y="4067062"/>
                </a:lnTo>
                <a:lnTo>
                  <a:pt x="0" y="0"/>
                </a:lnTo>
                <a:close/>
              </a:path>
            </a:pathLst>
          </a:custGeom>
          <a:blipFill rotWithShape="1">
            <a:blip r:embed="rId4">
              <a:alphaModFix/>
            </a:blip>
            <a:stretch>
              <a:fillRect b="0" l="0" r="0" t="0"/>
            </a:stretch>
          </a:blipFill>
          <a:ln>
            <a:noFill/>
          </a:ln>
        </p:spPr>
      </p:sp>
      <p:sp>
        <p:nvSpPr>
          <p:cNvPr id="326" name="Google Shape;326;p13"/>
          <p:cNvSpPr/>
          <p:nvPr/>
        </p:nvSpPr>
        <p:spPr>
          <a:xfrm>
            <a:off x="7815189" y="-225433"/>
            <a:ext cx="2174161" cy="2329711"/>
          </a:xfrm>
          <a:custGeom>
            <a:rect b="b" l="l" r="r" t="t"/>
            <a:pathLst>
              <a:path extrusionOk="0" h="2329711" w="2174161">
                <a:moveTo>
                  <a:pt x="0" y="0"/>
                </a:moveTo>
                <a:lnTo>
                  <a:pt x="2174162" y="0"/>
                </a:lnTo>
                <a:lnTo>
                  <a:pt x="2174162" y="2329712"/>
                </a:lnTo>
                <a:lnTo>
                  <a:pt x="0" y="2329712"/>
                </a:lnTo>
                <a:lnTo>
                  <a:pt x="0" y="0"/>
                </a:lnTo>
                <a:close/>
              </a:path>
            </a:pathLst>
          </a:custGeom>
          <a:blipFill rotWithShape="1">
            <a:blip r:embed="rId5">
              <a:alphaModFix/>
            </a:blip>
            <a:stretch>
              <a:fillRect b="0" l="0" r="0" t="0"/>
            </a:stretch>
          </a:blipFill>
          <a:ln>
            <a:noFill/>
          </a:ln>
        </p:spPr>
      </p:sp>
      <p:sp>
        <p:nvSpPr>
          <p:cNvPr id="327" name="Google Shape;327;p13"/>
          <p:cNvSpPr/>
          <p:nvPr/>
        </p:nvSpPr>
        <p:spPr>
          <a:xfrm rot="8839728">
            <a:off x="6785703" y="5681761"/>
            <a:ext cx="5525374" cy="3295132"/>
          </a:xfrm>
          <a:custGeom>
            <a:rect b="b" l="l" r="r" t="t"/>
            <a:pathLst>
              <a:path extrusionOk="0" h="3295132" w="5525374">
                <a:moveTo>
                  <a:pt x="0" y="0"/>
                </a:moveTo>
                <a:lnTo>
                  <a:pt x="5525374" y="0"/>
                </a:lnTo>
                <a:lnTo>
                  <a:pt x="5525374" y="3295132"/>
                </a:lnTo>
                <a:lnTo>
                  <a:pt x="0" y="3295132"/>
                </a:lnTo>
                <a:lnTo>
                  <a:pt x="0" y="0"/>
                </a:lnTo>
                <a:close/>
              </a:path>
            </a:pathLst>
          </a:custGeom>
          <a:blipFill rotWithShape="1">
            <a:blip r:embed="rId6">
              <a:alphaModFix/>
            </a:blip>
            <a:stretch>
              <a:fillRect b="0" l="0" r="0" t="0"/>
            </a:stretch>
          </a:blipFill>
          <a:ln>
            <a:noFill/>
          </a:ln>
        </p:spPr>
      </p:sp>
      <p:grpSp>
        <p:nvGrpSpPr>
          <p:cNvPr id="328" name="Google Shape;328;p13"/>
          <p:cNvGrpSpPr/>
          <p:nvPr/>
        </p:nvGrpSpPr>
        <p:grpSpPr>
          <a:xfrm>
            <a:off x="731520" y="1539231"/>
            <a:ext cx="8290560" cy="4688148"/>
            <a:chOff x="0" y="-28575"/>
            <a:chExt cx="4094104" cy="2315135"/>
          </a:xfrm>
        </p:grpSpPr>
        <p:sp>
          <p:nvSpPr>
            <p:cNvPr id="329" name="Google Shape;329;p13"/>
            <p:cNvSpPr/>
            <p:nvPr/>
          </p:nvSpPr>
          <p:spPr>
            <a:xfrm>
              <a:off x="0" y="0"/>
              <a:ext cx="4094104" cy="2286560"/>
            </a:xfrm>
            <a:custGeom>
              <a:rect b="b" l="l" r="r" t="t"/>
              <a:pathLst>
                <a:path extrusionOk="0" h="2286560" w="4094104">
                  <a:moveTo>
                    <a:pt x="28015" y="0"/>
                  </a:moveTo>
                  <a:lnTo>
                    <a:pt x="4066089" y="0"/>
                  </a:lnTo>
                  <a:cubicBezTo>
                    <a:pt x="4073519" y="0"/>
                    <a:pt x="4080644" y="2952"/>
                    <a:pt x="4085898" y="8205"/>
                  </a:cubicBezTo>
                  <a:cubicBezTo>
                    <a:pt x="4091152" y="13459"/>
                    <a:pt x="4094104" y="20585"/>
                    <a:pt x="4094104" y="28015"/>
                  </a:cubicBezTo>
                  <a:lnTo>
                    <a:pt x="4094104" y="2258545"/>
                  </a:lnTo>
                  <a:cubicBezTo>
                    <a:pt x="4094104" y="2274017"/>
                    <a:pt x="4081561" y="2286560"/>
                    <a:pt x="4066089" y="2286560"/>
                  </a:cubicBezTo>
                  <a:lnTo>
                    <a:pt x="28015" y="2286560"/>
                  </a:lnTo>
                  <a:cubicBezTo>
                    <a:pt x="20585" y="2286560"/>
                    <a:pt x="13459" y="2283608"/>
                    <a:pt x="8205" y="2278355"/>
                  </a:cubicBezTo>
                  <a:cubicBezTo>
                    <a:pt x="2952" y="2273101"/>
                    <a:pt x="0" y="2265975"/>
                    <a:pt x="0" y="2258545"/>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txBox="1"/>
            <p:nvPr/>
          </p:nvSpPr>
          <p:spPr>
            <a:xfrm>
              <a:off x="0" y="-28575"/>
              <a:ext cx="4094104" cy="2315135"/>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1" name="Google Shape;331;p13"/>
          <p:cNvSpPr/>
          <p:nvPr/>
        </p:nvSpPr>
        <p:spPr>
          <a:xfrm flipH="1" rot="3991733">
            <a:off x="-288591" y="5243867"/>
            <a:ext cx="1548585" cy="1967024"/>
          </a:xfrm>
          <a:custGeom>
            <a:rect b="b" l="l" r="r" t="t"/>
            <a:pathLst>
              <a:path extrusionOk="0" h="1967024" w="1548585">
                <a:moveTo>
                  <a:pt x="0" y="1967024"/>
                </a:moveTo>
                <a:lnTo>
                  <a:pt x="1548585" y="1967024"/>
                </a:lnTo>
                <a:lnTo>
                  <a:pt x="1548585" y="0"/>
                </a:lnTo>
                <a:lnTo>
                  <a:pt x="0" y="0"/>
                </a:lnTo>
                <a:lnTo>
                  <a:pt x="0" y="1967024"/>
                </a:lnTo>
                <a:close/>
              </a:path>
            </a:pathLst>
          </a:custGeom>
          <a:blipFill rotWithShape="1">
            <a:blip r:embed="rId7">
              <a:alphaModFix/>
            </a:blip>
            <a:stretch>
              <a:fillRect b="0" l="0" r="0" t="0"/>
            </a:stretch>
          </a:blipFill>
          <a:ln>
            <a:noFill/>
          </a:ln>
        </p:spPr>
      </p:sp>
      <p:grpSp>
        <p:nvGrpSpPr>
          <p:cNvPr id="332" name="Google Shape;332;p13"/>
          <p:cNvGrpSpPr/>
          <p:nvPr/>
        </p:nvGrpSpPr>
        <p:grpSpPr>
          <a:xfrm>
            <a:off x="914033" y="1029957"/>
            <a:ext cx="7896771" cy="1076412"/>
            <a:chOff x="0" y="-28575"/>
            <a:chExt cx="3899640" cy="531562"/>
          </a:xfrm>
        </p:grpSpPr>
        <p:sp>
          <p:nvSpPr>
            <p:cNvPr id="333" name="Google Shape;333;p13"/>
            <p:cNvSpPr/>
            <p:nvPr/>
          </p:nvSpPr>
          <p:spPr>
            <a:xfrm>
              <a:off x="0" y="0"/>
              <a:ext cx="3899640" cy="502987"/>
            </a:xfrm>
            <a:custGeom>
              <a:rect b="b" l="l" r="r" t="t"/>
              <a:pathLst>
                <a:path extrusionOk="0" h="502987" w="3899640">
                  <a:moveTo>
                    <a:pt x="29412" y="0"/>
                  </a:moveTo>
                  <a:lnTo>
                    <a:pt x="3870228" y="0"/>
                  </a:lnTo>
                  <a:cubicBezTo>
                    <a:pt x="3878029" y="0"/>
                    <a:pt x="3885510" y="3099"/>
                    <a:pt x="3891025" y="8614"/>
                  </a:cubicBezTo>
                  <a:cubicBezTo>
                    <a:pt x="3896541" y="14130"/>
                    <a:pt x="3899640" y="21611"/>
                    <a:pt x="3899640" y="29412"/>
                  </a:cubicBezTo>
                  <a:lnTo>
                    <a:pt x="3899640" y="473575"/>
                  </a:lnTo>
                  <a:cubicBezTo>
                    <a:pt x="3899640" y="489819"/>
                    <a:pt x="3886472" y="502987"/>
                    <a:pt x="3870228" y="502987"/>
                  </a:cubicBezTo>
                  <a:lnTo>
                    <a:pt x="29412" y="502987"/>
                  </a:lnTo>
                  <a:cubicBezTo>
                    <a:pt x="21611" y="502987"/>
                    <a:pt x="14130" y="499888"/>
                    <a:pt x="8614" y="494372"/>
                  </a:cubicBezTo>
                  <a:cubicBezTo>
                    <a:pt x="3099" y="488856"/>
                    <a:pt x="0" y="481375"/>
                    <a:pt x="0" y="473575"/>
                  </a:cubicBezTo>
                  <a:lnTo>
                    <a:pt x="0" y="29412"/>
                  </a:lnTo>
                  <a:cubicBezTo>
                    <a:pt x="0" y="13168"/>
                    <a:pt x="13168" y="0"/>
                    <a:pt x="2941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txBox="1"/>
            <p:nvPr/>
          </p:nvSpPr>
          <p:spPr>
            <a:xfrm>
              <a:off x="0" y="-28575"/>
              <a:ext cx="3899640"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5" name="Google Shape;335;p13"/>
          <p:cNvSpPr txBox="1"/>
          <p:nvPr/>
        </p:nvSpPr>
        <p:spPr>
          <a:xfrm>
            <a:off x="608447" y="1380137"/>
            <a:ext cx="8536706" cy="47074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533" u="none" cap="none" strike="noStrike">
                <a:solidFill>
                  <a:srgbClr val="FFFFFF"/>
                </a:solidFill>
                <a:latin typeface="Fredoka"/>
                <a:ea typeface="Fredoka"/>
                <a:cs typeface="Fredoka"/>
                <a:sym typeface="Fredoka"/>
              </a:rPr>
              <a:t>CONTINUATION OF CHAPTER 2</a:t>
            </a:r>
            <a:endParaRPr/>
          </a:p>
        </p:txBody>
      </p:sp>
      <p:sp>
        <p:nvSpPr>
          <p:cNvPr id="336" name="Google Shape;336;p13"/>
          <p:cNvSpPr txBox="1"/>
          <p:nvPr/>
        </p:nvSpPr>
        <p:spPr>
          <a:xfrm>
            <a:off x="1453328" y="3109487"/>
            <a:ext cx="6846943" cy="942975"/>
          </a:xfrm>
          <a:prstGeom prst="rect">
            <a:avLst/>
          </a:prstGeom>
          <a:noFill/>
          <a:ln>
            <a:noFill/>
          </a:ln>
        </p:spPr>
        <p:txBody>
          <a:bodyPr anchorCtr="0" anchor="t" bIns="0" lIns="0" spcFirstLastPara="1" rIns="0" wrap="square" tIns="0">
            <a:spAutoFit/>
          </a:bodyPr>
          <a:lstStyle/>
          <a:p>
            <a:pPr indent="-226695" lvl="1" marL="453390" marR="0" rtl="0" algn="l">
              <a:lnSpc>
                <a:spcPct val="120000"/>
              </a:lnSpc>
              <a:spcBef>
                <a:spcPts val="0"/>
              </a:spcBef>
              <a:spcAft>
                <a:spcPts val="0"/>
              </a:spcAft>
              <a:buClr>
                <a:srgbClr val="724E39"/>
              </a:buClr>
              <a:buSzPts val="2100"/>
              <a:buFont typeface="Arial"/>
              <a:buAutoNum type="arabicPeriod"/>
            </a:pPr>
            <a:r>
              <a:rPr b="0" i="0" lang="en-US" sz="2100" u="none" cap="none" strike="noStrike">
                <a:solidFill>
                  <a:srgbClr val="724E39"/>
                </a:solidFill>
                <a:latin typeface="Arial"/>
                <a:ea typeface="Arial"/>
                <a:cs typeface="Arial"/>
                <a:sym typeface="Arial"/>
              </a:rPr>
              <a:t> Fine tune YOLO-World with a closed-set( multi modal dataset), after fine tuning, yolo world lost its generality, act as the normal YOLO models. </a:t>
            </a:r>
            <a:endParaRPr/>
          </a:p>
        </p:txBody>
      </p:sp>
      <p:sp>
        <p:nvSpPr>
          <p:cNvPr id="337" name="Google Shape;337;p13"/>
          <p:cNvSpPr txBox="1"/>
          <p:nvPr/>
        </p:nvSpPr>
        <p:spPr>
          <a:xfrm>
            <a:off x="1243696" y="2284078"/>
            <a:ext cx="7225977" cy="647700"/>
          </a:xfrm>
          <a:prstGeom prst="rect">
            <a:avLst/>
          </a:prstGeom>
          <a:noFill/>
          <a:ln>
            <a:noFill/>
          </a:ln>
        </p:spPr>
        <p:txBody>
          <a:bodyPr anchorCtr="0" anchor="t" bIns="0" lIns="0" spcFirstLastPara="1" rIns="0" wrap="square" tIns="0">
            <a:spAutoFit/>
          </a:bodyPr>
          <a:lstStyle/>
          <a:p>
            <a:pPr indent="0" lvl="0" marL="0" marR="0" rtl="0" algn="ctr">
              <a:lnSpc>
                <a:spcPct val="119971"/>
              </a:lnSpc>
              <a:spcBef>
                <a:spcPts val="0"/>
              </a:spcBef>
              <a:spcAft>
                <a:spcPts val="0"/>
              </a:spcAft>
              <a:buNone/>
            </a:pPr>
            <a:r>
              <a:rPr b="1" i="0" lang="en-US" sz="2133" u="none" cap="none" strike="noStrike">
                <a:solidFill>
                  <a:srgbClr val="724E39"/>
                </a:solidFill>
                <a:latin typeface="Arial"/>
                <a:ea typeface="Arial"/>
                <a:cs typeface="Arial"/>
                <a:sym typeface="Arial"/>
              </a:rPr>
              <a:t>TWO DIFFERENT WAY TO FINE TUNE THE YOLO-WORLD</a:t>
            </a:r>
            <a:endParaRPr/>
          </a:p>
        </p:txBody>
      </p:sp>
      <p:sp>
        <p:nvSpPr>
          <p:cNvPr id="338" name="Google Shape;338;p13"/>
          <p:cNvSpPr txBox="1"/>
          <p:nvPr/>
        </p:nvSpPr>
        <p:spPr>
          <a:xfrm>
            <a:off x="1622778" y="4230162"/>
            <a:ext cx="6846900" cy="2133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100">
                <a:solidFill>
                  <a:srgbClr val="724E39"/>
                </a:solidFill>
              </a:rPr>
              <a:t>2. </a:t>
            </a:r>
            <a:r>
              <a:rPr b="0" i="0" lang="en-US" sz="2100" u="none" cap="none" strike="noStrike">
                <a:solidFill>
                  <a:srgbClr val="724E39"/>
                </a:solidFill>
                <a:latin typeface="Arial"/>
                <a:ea typeface="Arial"/>
                <a:cs typeface="Arial"/>
                <a:sym typeface="Arial"/>
              </a:rPr>
              <a:t>Fine tune YOLO-World with the Mixed Grounding Dataset (Open-Vocabulary), this keep its ability to understand random text prompts. (Need to pairs images with rich text descriptions or phrase-grounding annotations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342" name="Shape 342"/>
        <p:cNvGrpSpPr/>
        <p:nvPr/>
      </p:nvGrpSpPr>
      <p:grpSpPr>
        <a:xfrm>
          <a:off x="0" y="0"/>
          <a:ext cx="0" cy="0"/>
          <a:chOff x="0" y="0"/>
          <a:chExt cx="0" cy="0"/>
        </a:xfrm>
      </p:grpSpPr>
      <p:sp>
        <p:nvSpPr>
          <p:cNvPr id="343" name="Google Shape;343;p14"/>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344" name="Google Shape;344;p14"/>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345" name="Google Shape;345;p14"/>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346" name="Google Shape;346;p14"/>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347" name="Google Shape;347;p14"/>
          <p:cNvGrpSpPr/>
          <p:nvPr/>
        </p:nvGrpSpPr>
        <p:grpSpPr>
          <a:xfrm>
            <a:off x="731520" y="1519519"/>
            <a:ext cx="8290560" cy="5064161"/>
            <a:chOff x="0" y="-28575"/>
            <a:chExt cx="4094104" cy="2500820"/>
          </a:xfrm>
        </p:grpSpPr>
        <p:sp>
          <p:nvSpPr>
            <p:cNvPr id="348" name="Google Shape;348;p14"/>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0" name="Google Shape;350;p14"/>
          <p:cNvGrpSpPr/>
          <p:nvPr/>
        </p:nvGrpSpPr>
        <p:grpSpPr>
          <a:xfrm>
            <a:off x="976005" y="793079"/>
            <a:ext cx="7784260" cy="1076412"/>
            <a:chOff x="0" y="-28575"/>
            <a:chExt cx="3844079" cy="531562"/>
          </a:xfrm>
        </p:grpSpPr>
        <p:sp>
          <p:nvSpPr>
            <p:cNvPr id="351" name="Google Shape;351;p14"/>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4"/>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3" name="Google Shape;353;p14"/>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CONTINUATION OF CHAPTER 2</a:t>
            </a:r>
            <a:endParaRPr/>
          </a:p>
        </p:txBody>
      </p:sp>
      <p:sp>
        <p:nvSpPr>
          <p:cNvPr id="354" name="Google Shape;354;p14"/>
          <p:cNvSpPr txBox="1"/>
          <p:nvPr/>
        </p:nvSpPr>
        <p:spPr>
          <a:xfrm>
            <a:off x="722855" y="2520353"/>
            <a:ext cx="8290560" cy="3667125"/>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2000" u="none" cap="none" strike="noStrike">
                <a:solidFill>
                  <a:srgbClr val="724E39"/>
                </a:solidFill>
                <a:latin typeface="Arial"/>
                <a:ea typeface="Arial"/>
                <a:cs typeface="Arial"/>
                <a:sym typeface="Arial"/>
              </a:rPr>
              <a:t>The first one is chosen, fine tuning with a multimodal dataset, this lost its generality, but get more accurate values at prediction. This makes the model become a closed-vocabulary model as the general YOLO models,  but it is less costs respect the general YOLO models.</a:t>
            </a:r>
            <a:endParaRPr/>
          </a:p>
          <a:p>
            <a:pPr indent="0" lvl="0" marL="0" marR="0" rtl="0" algn="just">
              <a:lnSpc>
                <a:spcPct val="120000"/>
              </a:lnSpc>
              <a:spcBef>
                <a:spcPts val="0"/>
              </a:spcBef>
              <a:spcAft>
                <a:spcPts val="0"/>
              </a:spcAft>
              <a:buNone/>
            </a:pPr>
            <a:r>
              <a:rPr b="0" i="0" lang="en-US" sz="2000" u="none" cap="none" strike="noStrike">
                <a:solidFill>
                  <a:srgbClr val="724E39"/>
                </a:solidFill>
                <a:latin typeface="Arial"/>
                <a:ea typeface="Arial"/>
                <a:cs typeface="Arial"/>
                <a:sym typeface="Arial"/>
              </a:rPr>
              <a:t>For its capability of zero shot( or open-vocabulary), when we need model to focus into a specific fields that model never seen before, the current can converge very quickly and have a good  improvement even with the small sample of train. Just need 50-80 epochs to converge.</a:t>
            </a:r>
            <a:endParaRPr/>
          </a:p>
          <a:p>
            <a:pPr indent="0" lvl="0" marL="0" marR="0" rtl="0" algn="just">
              <a:lnSpc>
                <a:spcPct val="120000"/>
              </a:lnSpc>
              <a:spcBef>
                <a:spcPts val="0"/>
              </a:spcBef>
              <a:spcAft>
                <a:spcPts val="0"/>
              </a:spcAft>
              <a:buNone/>
            </a:pPr>
            <a:r>
              <a:rPr b="0" i="0" lang="en-US" sz="2000" u="none" cap="none" strike="noStrike">
                <a:solidFill>
                  <a:srgbClr val="724E39"/>
                </a:solidFill>
                <a:latin typeface="Arial"/>
                <a:ea typeface="Arial"/>
                <a:cs typeface="Arial"/>
                <a:sym typeface="Arial"/>
              </a:rPr>
              <a:t>If we want let YOLO models to understand a new field, we need more epochs to let model understand.( requires more computational cost, because it can just learn from the image sharps)</a:t>
            </a:r>
            <a:endParaRPr/>
          </a:p>
        </p:txBody>
      </p:sp>
      <p:sp>
        <p:nvSpPr>
          <p:cNvPr id="355" name="Google Shape;355;p14"/>
          <p:cNvSpPr txBox="1"/>
          <p:nvPr/>
        </p:nvSpPr>
        <p:spPr>
          <a:xfrm>
            <a:off x="1243696" y="2091728"/>
            <a:ext cx="7413000" cy="328200"/>
          </a:xfrm>
          <a:prstGeom prst="rect">
            <a:avLst/>
          </a:prstGeom>
          <a:noFill/>
          <a:ln>
            <a:noFill/>
          </a:ln>
        </p:spPr>
        <p:txBody>
          <a:bodyPr anchorCtr="0" anchor="t" bIns="0" lIns="0" spcFirstLastPara="1" rIns="0" wrap="square" tIns="0">
            <a:spAutoFit/>
          </a:bodyPr>
          <a:lstStyle/>
          <a:p>
            <a:pPr indent="0" lvl="0" marL="0" marR="0" rtl="0" algn="ctr">
              <a:lnSpc>
                <a:spcPct val="119971"/>
              </a:lnSpc>
              <a:spcBef>
                <a:spcPts val="0"/>
              </a:spcBef>
              <a:spcAft>
                <a:spcPts val="0"/>
              </a:spcAft>
              <a:buNone/>
            </a:pPr>
            <a:r>
              <a:rPr b="1" i="0" lang="en-US" sz="2133" u="none" cap="none" strike="noStrike">
                <a:solidFill>
                  <a:srgbClr val="724E39"/>
                </a:solidFill>
                <a:latin typeface="Arial"/>
                <a:ea typeface="Arial"/>
                <a:cs typeface="Arial"/>
                <a:sym typeface="Arial"/>
              </a:rPr>
              <a:t>WHAT KIND OF FINE TUNING CHOSEN?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359" name="Shape 359"/>
        <p:cNvGrpSpPr/>
        <p:nvPr/>
      </p:nvGrpSpPr>
      <p:grpSpPr>
        <a:xfrm>
          <a:off x="0" y="0"/>
          <a:ext cx="0" cy="0"/>
          <a:chOff x="0" y="0"/>
          <a:chExt cx="0" cy="0"/>
        </a:xfrm>
      </p:grpSpPr>
      <p:sp>
        <p:nvSpPr>
          <p:cNvPr id="360" name="Google Shape;360;p15"/>
          <p:cNvSpPr/>
          <p:nvPr/>
        </p:nvSpPr>
        <p:spPr>
          <a:xfrm>
            <a:off x="0" y="24503"/>
            <a:ext cx="1367108" cy="1464917"/>
          </a:xfrm>
          <a:custGeom>
            <a:rect b="b" l="l" r="r" t="t"/>
            <a:pathLst>
              <a:path extrusionOk="0" h="1464917" w="1367108">
                <a:moveTo>
                  <a:pt x="0" y="0"/>
                </a:moveTo>
                <a:lnTo>
                  <a:pt x="1367108" y="0"/>
                </a:lnTo>
                <a:lnTo>
                  <a:pt x="1367108" y="1464918"/>
                </a:lnTo>
                <a:lnTo>
                  <a:pt x="0" y="1464918"/>
                </a:lnTo>
                <a:lnTo>
                  <a:pt x="0" y="0"/>
                </a:lnTo>
                <a:close/>
              </a:path>
            </a:pathLst>
          </a:custGeom>
          <a:blipFill rotWithShape="1">
            <a:blip r:embed="rId3">
              <a:alphaModFix/>
            </a:blip>
            <a:stretch>
              <a:fillRect b="0" l="0" r="0" t="0"/>
            </a:stretch>
          </a:blipFill>
          <a:ln>
            <a:noFill/>
          </a:ln>
        </p:spPr>
      </p:sp>
      <p:sp>
        <p:nvSpPr>
          <p:cNvPr id="361" name="Google Shape;361;p15"/>
          <p:cNvSpPr/>
          <p:nvPr/>
        </p:nvSpPr>
        <p:spPr>
          <a:xfrm rot="-9600471">
            <a:off x="-1556721" y="5713656"/>
            <a:ext cx="4210722" cy="2511122"/>
          </a:xfrm>
          <a:custGeom>
            <a:rect b="b" l="l" r="r" t="t"/>
            <a:pathLst>
              <a:path extrusionOk="0" h="2511122" w="4210722">
                <a:moveTo>
                  <a:pt x="0" y="0"/>
                </a:moveTo>
                <a:lnTo>
                  <a:pt x="4210722" y="0"/>
                </a:lnTo>
                <a:lnTo>
                  <a:pt x="4210722" y="2511122"/>
                </a:lnTo>
                <a:lnTo>
                  <a:pt x="0" y="2511122"/>
                </a:lnTo>
                <a:lnTo>
                  <a:pt x="0" y="0"/>
                </a:lnTo>
                <a:close/>
              </a:path>
            </a:pathLst>
          </a:custGeom>
          <a:blipFill rotWithShape="1">
            <a:blip r:embed="rId4">
              <a:alphaModFix/>
            </a:blip>
            <a:stretch>
              <a:fillRect b="0" l="0" r="0" t="0"/>
            </a:stretch>
          </a:blipFill>
          <a:ln>
            <a:noFill/>
          </a:ln>
        </p:spPr>
      </p:sp>
      <p:grpSp>
        <p:nvGrpSpPr>
          <p:cNvPr id="362" name="Google Shape;362;p15"/>
          <p:cNvGrpSpPr/>
          <p:nvPr/>
        </p:nvGrpSpPr>
        <p:grpSpPr>
          <a:xfrm>
            <a:off x="731520" y="1940831"/>
            <a:ext cx="8290560" cy="3884948"/>
            <a:chOff x="0" y="-28575"/>
            <a:chExt cx="4094104" cy="1918493"/>
          </a:xfrm>
        </p:grpSpPr>
        <p:sp>
          <p:nvSpPr>
            <p:cNvPr id="363" name="Google Shape;363;p15"/>
            <p:cNvSpPr/>
            <p:nvPr/>
          </p:nvSpPr>
          <p:spPr>
            <a:xfrm>
              <a:off x="0" y="0"/>
              <a:ext cx="4094104" cy="1889918"/>
            </a:xfrm>
            <a:custGeom>
              <a:rect b="b" l="l" r="r" t="t"/>
              <a:pathLst>
                <a:path extrusionOk="0" h="1889918" w="4094104">
                  <a:moveTo>
                    <a:pt x="28015" y="0"/>
                  </a:moveTo>
                  <a:lnTo>
                    <a:pt x="4066089" y="0"/>
                  </a:lnTo>
                  <a:cubicBezTo>
                    <a:pt x="4073519" y="0"/>
                    <a:pt x="4080644" y="2952"/>
                    <a:pt x="4085898" y="8205"/>
                  </a:cubicBezTo>
                  <a:cubicBezTo>
                    <a:pt x="4091152" y="13459"/>
                    <a:pt x="4094104" y="20585"/>
                    <a:pt x="4094104" y="28015"/>
                  </a:cubicBezTo>
                  <a:lnTo>
                    <a:pt x="4094104" y="1861903"/>
                  </a:lnTo>
                  <a:cubicBezTo>
                    <a:pt x="4094104" y="1877376"/>
                    <a:pt x="4081561" y="1889918"/>
                    <a:pt x="4066089" y="1889918"/>
                  </a:cubicBezTo>
                  <a:lnTo>
                    <a:pt x="28015" y="1889918"/>
                  </a:lnTo>
                  <a:cubicBezTo>
                    <a:pt x="20585" y="1889918"/>
                    <a:pt x="13459" y="1886967"/>
                    <a:pt x="8205" y="1881713"/>
                  </a:cubicBezTo>
                  <a:cubicBezTo>
                    <a:pt x="2952" y="1876459"/>
                    <a:pt x="0" y="1869333"/>
                    <a:pt x="0" y="1861903"/>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txBox="1"/>
            <p:nvPr/>
          </p:nvSpPr>
          <p:spPr>
            <a:xfrm>
              <a:off x="0" y="-28575"/>
              <a:ext cx="4094104" cy="1918493"/>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5" name="Google Shape;365;p15"/>
          <p:cNvSpPr/>
          <p:nvPr/>
        </p:nvSpPr>
        <p:spPr>
          <a:xfrm flipH="1" rot="3991733">
            <a:off x="-176522" y="4488125"/>
            <a:ext cx="1747349" cy="2219496"/>
          </a:xfrm>
          <a:custGeom>
            <a:rect b="b" l="l" r="r" t="t"/>
            <a:pathLst>
              <a:path extrusionOk="0" h="2219496" w="1747349">
                <a:moveTo>
                  <a:pt x="0" y="2219496"/>
                </a:moveTo>
                <a:lnTo>
                  <a:pt x="1747349" y="2219496"/>
                </a:lnTo>
                <a:lnTo>
                  <a:pt x="1747349" y="0"/>
                </a:lnTo>
                <a:lnTo>
                  <a:pt x="0" y="0"/>
                </a:lnTo>
                <a:lnTo>
                  <a:pt x="0" y="2219496"/>
                </a:lnTo>
                <a:close/>
              </a:path>
            </a:pathLst>
          </a:custGeom>
          <a:blipFill rotWithShape="1">
            <a:blip r:embed="rId5">
              <a:alphaModFix/>
            </a:blip>
            <a:stretch>
              <a:fillRect b="0" l="0" r="0" t="0"/>
            </a:stretch>
          </a:blipFill>
          <a:ln>
            <a:noFill/>
          </a:ln>
        </p:spPr>
      </p:sp>
      <p:sp>
        <p:nvSpPr>
          <p:cNvPr id="366" name="Google Shape;366;p15"/>
          <p:cNvSpPr/>
          <p:nvPr/>
        </p:nvSpPr>
        <p:spPr>
          <a:xfrm rot="-3650248">
            <a:off x="8212510" y="5041997"/>
            <a:ext cx="1740944" cy="2211360"/>
          </a:xfrm>
          <a:custGeom>
            <a:rect b="b" l="l" r="r" t="t"/>
            <a:pathLst>
              <a:path extrusionOk="0" h="2211360" w="1740944">
                <a:moveTo>
                  <a:pt x="1740944" y="2211360"/>
                </a:moveTo>
                <a:lnTo>
                  <a:pt x="0" y="2211360"/>
                </a:lnTo>
                <a:lnTo>
                  <a:pt x="0" y="0"/>
                </a:lnTo>
                <a:lnTo>
                  <a:pt x="1740944" y="0"/>
                </a:lnTo>
                <a:lnTo>
                  <a:pt x="1740944" y="2211360"/>
                </a:lnTo>
                <a:close/>
              </a:path>
            </a:pathLst>
          </a:custGeom>
          <a:blipFill rotWithShape="1">
            <a:blip r:embed="rId5">
              <a:alphaModFix/>
            </a:blip>
            <a:stretch>
              <a:fillRect b="0" l="0" r="0" t="0"/>
            </a:stretch>
          </a:blipFill>
          <a:ln>
            <a:noFill/>
          </a:ln>
        </p:spPr>
      </p:sp>
      <p:grpSp>
        <p:nvGrpSpPr>
          <p:cNvPr id="367" name="Google Shape;367;p15"/>
          <p:cNvGrpSpPr/>
          <p:nvPr/>
        </p:nvGrpSpPr>
        <p:grpSpPr>
          <a:xfrm>
            <a:off x="1283927" y="1431557"/>
            <a:ext cx="7185746" cy="1076412"/>
            <a:chOff x="0" y="-28575"/>
            <a:chExt cx="3548517" cy="531562"/>
          </a:xfrm>
        </p:grpSpPr>
        <p:sp>
          <p:nvSpPr>
            <p:cNvPr id="368" name="Google Shape;368;p15"/>
            <p:cNvSpPr/>
            <p:nvPr/>
          </p:nvSpPr>
          <p:spPr>
            <a:xfrm>
              <a:off x="0" y="0"/>
              <a:ext cx="3548517" cy="502987"/>
            </a:xfrm>
            <a:custGeom>
              <a:rect b="b" l="l" r="r" t="t"/>
              <a:pathLst>
                <a:path extrusionOk="0" h="502987" w="3548517">
                  <a:moveTo>
                    <a:pt x="32322" y="0"/>
                  </a:moveTo>
                  <a:lnTo>
                    <a:pt x="3516195" y="0"/>
                  </a:lnTo>
                  <a:cubicBezTo>
                    <a:pt x="3534046" y="0"/>
                    <a:pt x="3548517" y="14471"/>
                    <a:pt x="3548517" y="32322"/>
                  </a:cubicBezTo>
                  <a:lnTo>
                    <a:pt x="3548517" y="470665"/>
                  </a:lnTo>
                  <a:cubicBezTo>
                    <a:pt x="3548517" y="488516"/>
                    <a:pt x="3534046" y="502987"/>
                    <a:pt x="3516195" y="502987"/>
                  </a:cubicBezTo>
                  <a:lnTo>
                    <a:pt x="32322" y="502987"/>
                  </a:lnTo>
                  <a:cubicBezTo>
                    <a:pt x="23750" y="502987"/>
                    <a:pt x="15528" y="499581"/>
                    <a:pt x="9467" y="493520"/>
                  </a:cubicBezTo>
                  <a:cubicBezTo>
                    <a:pt x="3405" y="487458"/>
                    <a:pt x="0" y="479237"/>
                    <a:pt x="0" y="470665"/>
                  </a:cubicBezTo>
                  <a:lnTo>
                    <a:pt x="0" y="32322"/>
                  </a:lnTo>
                  <a:cubicBezTo>
                    <a:pt x="0" y="14471"/>
                    <a:pt x="14471" y="0"/>
                    <a:pt x="3232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txBox="1"/>
            <p:nvPr/>
          </p:nvSpPr>
          <p:spPr>
            <a:xfrm>
              <a:off x="0" y="-28575"/>
              <a:ext cx="3548517"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0" name="Google Shape;370;p15"/>
          <p:cNvSpPr/>
          <p:nvPr/>
        </p:nvSpPr>
        <p:spPr>
          <a:xfrm flipH="1" rot="-5400000">
            <a:off x="8360001" y="-166127"/>
            <a:ext cx="1224495" cy="1562704"/>
          </a:xfrm>
          <a:custGeom>
            <a:rect b="b" l="l" r="r" t="t"/>
            <a:pathLst>
              <a:path extrusionOk="0" h="1562704" w="1224495">
                <a:moveTo>
                  <a:pt x="1224494" y="0"/>
                </a:moveTo>
                <a:lnTo>
                  <a:pt x="0" y="0"/>
                </a:lnTo>
                <a:lnTo>
                  <a:pt x="0" y="1562704"/>
                </a:lnTo>
                <a:lnTo>
                  <a:pt x="1224494" y="1562704"/>
                </a:lnTo>
                <a:lnTo>
                  <a:pt x="1224494" y="0"/>
                </a:lnTo>
                <a:close/>
              </a:path>
            </a:pathLst>
          </a:custGeom>
          <a:blipFill rotWithShape="1">
            <a:blip r:embed="rId6">
              <a:alphaModFix/>
            </a:blip>
            <a:stretch>
              <a:fillRect b="-47966" l="-57592" r="0" t="0"/>
            </a:stretch>
          </a:blipFill>
          <a:ln>
            <a:noFill/>
          </a:ln>
        </p:spPr>
      </p:sp>
      <p:sp>
        <p:nvSpPr>
          <p:cNvPr id="371" name="Google Shape;371;p15"/>
          <p:cNvSpPr/>
          <p:nvPr/>
        </p:nvSpPr>
        <p:spPr>
          <a:xfrm rot="-5098881">
            <a:off x="7909806" y="-2462117"/>
            <a:ext cx="4075055" cy="4159782"/>
          </a:xfrm>
          <a:custGeom>
            <a:rect b="b" l="l" r="r" t="t"/>
            <a:pathLst>
              <a:path extrusionOk="0" h="4159782" w="4075055">
                <a:moveTo>
                  <a:pt x="0" y="0"/>
                </a:moveTo>
                <a:lnTo>
                  <a:pt x="4075055" y="0"/>
                </a:lnTo>
                <a:lnTo>
                  <a:pt x="4075055" y="4159782"/>
                </a:lnTo>
                <a:lnTo>
                  <a:pt x="0" y="4159782"/>
                </a:lnTo>
                <a:lnTo>
                  <a:pt x="0" y="0"/>
                </a:lnTo>
                <a:close/>
              </a:path>
            </a:pathLst>
          </a:custGeom>
          <a:blipFill rotWithShape="1">
            <a:blip r:embed="rId7">
              <a:alphaModFix/>
            </a:blip>
            <a:stretch>
              <a:fillRect b="0" l="0" r="0" t="0"/>
            </a:stretch>
          </a:blipFill>
          <a:ln>
            <a:noFill/>
          </a:ln>
        </p:spPr>
      </p:sp>
      <p:sp>
        <p:nvSpPr>
          <p:cNvPr id="372" name="Google Shape;372;p15"/>
          <p:cNvSpPr txBox="1"/>
          <p:nvPr/>
        </p:nvSpPr>
        <p:spPr>
          <a:xfrm>
            <a:off x="1367108" y="1551232"/>
            <a:ext cx="7066847" cy="96160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CHAPTER 3 : EXPERITMENT AND RESULT</a:t>
            </a:r>
            <a:endParaRPr/>
          </a:p>
        </p:txBody>
      </p:sp>
      <p:sp>
        <p:nvSpPr>
          <p:cNvPr id="373" name="Google Shape;373;p15"/>
          <p:cNvSpPr txBox="1"/>
          <p:nvPr/>
        </p:nvSpPr>
        <p:spPr>
          <a:xfrm>
            <a:off x="1729304" y="3149272"/>
            <a:ext cx="6294992" cy="1600200"/>
          </a:xfrm>
          <a:prstGeom prst="rect">
            <a:avLst/>
          </a:prstGeom>
          <a:noFill/>
          <a:ln>
            <a:noFill/>
          </a:ln>
        </p:spPr>
        <p:txBody>
          <a:bodyPr anchorCtr="0" anchor="t" bIns="0" lIns="0" spcFirstLastPara="1" rIns="0" wrap="square" tIns="0">
            <a:spAutoFit/>
          </a:bodyPr>
          <a:lstStyle/>
          <a:p>
            <a:pPr indent="0" lvl="0" marL="0" marR="0" rtl="0" algn="ctr">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Aim: Fine tune the YOLO World</a:t>
            </a:r>
            <a:endParaRPr/>
          </a:p>
          <a:p>
            <a:pPr indent="-230293" lvl="1" marL="460586" marR="0" rtl="0" algn="l">
              <a:lnSpc>
                <a:spcPct val="119971"/>
              </a:lnSpc>
              <a:spcBef>
                <a:spcPts val="0"/>
              </a:spcBef>
              <a:spcAft>
                <a:spcPts val="0"/>
              </a:spcAft>
              <a:buClr>
                <a:srgbClr val="724E39"/>
              </a:buClr>
              <a:buSzPts val="2133"/>
              <a:buFont typeface="Arial"/>
              <a:buChar char="•"/>
            </a:pPr>
            <a:r>
              <a:rPr b="0" i="0" lang="en-US" sz="2133" u="none" cap="none" strike="noStrike">
                <a:solidFill>
                  <a:srgbClr val="724E39"/>
                </a:solidFill>
                <a:latin typeface="Arial"/>
                <a:ea typeface="Arial"/>
                <a:cs typeface="Arial"/>
                <a:sym typeface="Arial"/>
              </a:rPr>
              <a:t> zero-shot prediction vs fine tuning prediction</a:t>
            </a:r>
            <a:endParaRPr/>
          </a:p>
          <a:p>
            <a:pPr indent="0" lvl="0" marL="0" marR="0" rtl="0" algn="l">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 By compare the difference to discover the difference between prediction before pretrain and after fine tuning.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377" name="Shape 377"/>
        <p:cNvGrpSpPr/>
        <p:nvPr/>
      </p:nvGrpSpPr>
      <p:grpSpPr>
        <a:xfrm>
          <a:off x="0" y="0"/>
          <a:ext cx="0" cy="0"/>
          <a:chOff x="0" y="0"/>
          <a:chExt cx="0" cy="0"/>
        </a:xfrm>
      </p:grpSpPr>
      <p:sp>
        <p:nvSpPr>
          <p:cNvPr id="378" name="Google Shape;378;p16"/>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379" name="Google Shape;379;p16"/>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380" name="Google Shape;380;p16"/>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381" name="Google Shape;381;p16"/>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382" name="Google Shape;382;p16"/>
          <p:cNvGrpSpPr/>
          <p:nvPr/>
        </p:nvGrpSpPr>
        <p:grpSpPr>
          <a:xfrm>
            <a:off x="731520" y="1519519"/>
            <a:ext cx="8290560" cy="5064161"/>
            <a:chOff x="0" y="-28575"/>
            <a:chExt cx="4094104" cy="2500820"/>
          </a:xfrm>
        </p:grpSpPr>
        <p:sp>
          <p:nvSpPr>
            <p:cNvPr id="383" name="Google Shape;383;p16"/>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6"/>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5" name="Google Shape;385;p16"/>
          <p:cNvGrpSpPr/>
          <p:nvPr/>
        </p:nvGrpSpPr>
        <p:grpSpPr>
          <a:xfrm>
            <a:off x="976005" y="793079"/>
            <a:ext cx="7784260" cy="1076412"/>
            <a:chOff x="0" y="-28575"/>
            <a:chExt cx="3844079" cy="531562"/>
          </a:xfrm>
        </p:grpSpPr>
        <p:sp>
          <p:nvSpPr>
            <p:cNvPr id="386" name="Google Shape;386;p16"/>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8" name="Google Shape;388;p16"/>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BACKGROUND</a:t>
            </a:r>
            <a:endParaRPr/>
          </a:p>
        </p:txBody>
      </p:sp>
      <p:sp>
        <p:nvSpPr>
          <p:cNvPr id="389" name="Google Shape;389;p16"/>
          <p:cNvSpPr txBox="1"/>
          <p:nvPr/>
        </p:nvSpPr>
        <p:spPr>
          <a:xfrm>
            <a:off x="1243696" y="1869491"/>
            <a:ext cx="7412949" cy="942975"/>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2100" u="none" cap="none" strike="noStrike">
                <a:solidFill>
                  <a:srgbClr val="724E39"/>
                </a:solidFill>
                <a:latin typeface="Arial"/>
                <a:ea typeface="Arial"/>
                <a:cs typeface="Arial"/>
                <a:sym typeface="Arial"/>
              </a:rPr>
              <a:t>Model: </a:t>
            </a:r>
            <a:endParaRPr/>
          </a:p>
          <a:p>
            <a:pPr indent="-226696" lvl="1" marL="453392" marR="0" rtl="0" algn="l">
              <a:lnSpc>
                <a:spcPct val="12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yolov8s-worldv2 (smallest pretrained model of yolo world) offered by Ultralytics (Creator of YOLO).</a:t>
            </a:r>
            <a:endParaRPr/>
          </a:p>
        </p:txBody>
      </p:sp>
      <p:sp>
        <p:nvSpPr>
          <p:cNvPr id="390" name="Google Shape;390;p16"/>
          <p:cNvSpPr txBox="1"/>
          <p:nvPr/>
        </p:nvSpPr>
        <p:spPr>
          <a:xfrm>
            <a:off x="1243696" y="2774366"/>
            <a:ext cx="7412949" cy="14706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00" u="none" cap="none" strike="noStrike">
                <a:solidFill>
                  <a:srgbClr val="724E39"/>
                </a:solidFill>
                <a:latin typeface="Arial"/>
                <a:ea typeface="Arial"/>
                <a:cs typeface="Arial"/>
                <a:sym typeface="Arial"/>
              </a:rPr>
              <a:t>Enviroments(Hardware): </a:t>
            </a:r>
            <a:endParaRPr/>
          </a:p>
          <a:p>
            <a:pPr indent="-226696" lvl="1" marL="453392" marR="0" rtl="0" algn="l">
              <a:lnSpc>
                <a:spcPct val="14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Kaggle notebook</a:t>
            </a:r>
            <a:endParaRPr/>
          </a:p>
          <a:p>
            <a:pPr indent="-226696" lvl="1" marL="453392" marR="0" rtl="0" algn="l">
              <a:lnSpc>
                <a:spcPct val="14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T4 GPU</a:t>
            </a:r>
            <a:endParaRPr/>
          </a:p>
          <a:p>
            <a:pPr indent="-226696" lvl="1" marL="453392" marR="0" rtl="0" algn="l">
              <a:lnSpc>
                <a:spcPct val="14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Image size: 640x640</a:t>
            </a:r>
            <a:endParaRPr/>
          </a:p>
        </p:txBody>
      </p:sp>
      <p:sp>
        <p:nvSpPr>
          <p:cNvPr id="391" name="Google Shape;391;p16"/>
          <p:cNvSpPr txBox="1"/>
          <p:nvPr/>
        </p:nvSpPr>
        <p:spPr>
          <a:xfrm>
            <a:off x="1243696" y="4206926"/>
            <a:ext cx="7412949" cy="25850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00" u="none" cap="none" strike="noStrike">
                <a:solidFill>
                  <a:srgbClr val="724E39"/>
                </a:solidFill>
                <a:latin typeface="Arial"/>
                <a:ea typeface="Arial"/>
                <a:cs typeface="Arial"/>
                <a:sym typeface="Arial"/>
              </a:rPr>
              <a:t>Dataset:</a:t>
            </a:r>
            <a:endParaRPr/>
          </a:p>
          <a:p>
            <a:pPr indent="-226695" lvl="1" marL="453390" marR="0" rtl="0" algn="l">
              <a:lnSpc>
                <a:spcPct val="14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VisDrone (Images are drone footage, from Kaggle dataset)</a:t>
            </a:r>
            <a:endParaRPr/>
          </a:p>
          <a:p>
            <a:pPr indent="-226695" lvl="1" marL="453390" marR="0" rtl="0" algn="l">
              <a:lnSpc>
                <a:spcPct val="14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Why use this dataset, the pretrained model usually is trained by horizontal perspective  images, VisDrone images are taken from high perspective.</a:t>
            </a:r>
            <a:endParaRPr/>
          </a:p>
          <a:p>
            <a:pPr indent="0" lvl="0" marL="0" marR="0" rtl="0" algn="l">
              <a:lnSpc>
                <a:spcPct val="140000"/>
              </a:lnSpc>
              <a:spcBef>
                <a:spcPts val="0"/>
              </a:spcBef>
              <a:spcAft>
                <a:spcPts val="0"/>
              </a:spcAft>
              <a:buNone/>
            </a:pPr>
            <a:r>
              <a:t/>
            </a:r>
            <a:endParaRPr b="0" i="0" sz="2100" u="none" cap="none" strike="noStrike">
              <a:solidFill>
                <a:srgbClr val="724E39"/>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395" name="Shape 395"/>
        <p:cNvGrpSpPr/>
        <p:nvPr/>
      </p:nvGrpSpPr>
      <p:grpSpPr>
        <a:xfrm>
          <a:off x="0" y="0"/>
          <a:ext cx="0" cy="0"/>
          <a:chOff x="0" y="0"/>
          <a:chExt cx="0" cy="0"/>
        </a:xfrm>
      </p:grpSpPr>
      <p:sp>
        <p:nvSpPr>
          <p:cNvPr id="396" name="Google Shape;396;p17"/>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397" name="Google Shape;397;p17"/>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398" name="Google Shape;398;p17"/>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399" name="Google Shape;399;p17"/>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400" name="Google Shape;400;p17"/>
          <p:cNvGrpSpPr/>
          <p:nvPr/>
        </p:nvGrpSpPr>
        <p:grpSpPr>
          <a:xfrm>
            <a:off x="731520" y="1519519"/>
            <a:ext cx="8290560" cy="5064161"/>
            <a:chOff x="0" y="-28575"/>
            <a:chExt cx="4094104" cy="2500820"/>
          </a:xfrm>
        </p:grpSpPr>
        <p:sp>
          <p:nvSpPr>
            <p:cNvPr id="401" name="Google Shape;401;p17"/>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17"/>
          <p:cNvGrpSpPr/>
          <p:nvPr/>
        </p:nvGrpSpPr>
        <p:grpSpPr>
          <a:xfrm>
            <a:off x="976005" y="793079"/>
            <a:ext cx="7784260" cy="1076412"/>
            <a:chOff x="0" y="-28575"/>
            <a:chExt cx="3844079" cy="531562"/>
          </a:xfrm>
        </p:grpSpPr>
        <p:sp>
          <p:nvSpPr>
            <p:cNvPr id="404" name="Google Shape;404;p17"/>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7"/>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6" name="Google Shape;406;p17"/>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PROCESS BEFORE FINE TUNING</a:t>
            </a:r>
            <a:endParaRPr/>
          </a:p>
        </p:txBody>
      </p:sp>
      <p:sp>
        <p:nvSpPr>
          <p:cNvPr id="407" name="Google Shape;407;p17"/>
          <p:cNvSpPr txBox="1"/>
          <p:nvPr/>
        </p:nvSpPr>
        <p:spPr>
          <a:xfrm>
            <a:off x="1243696" y="2253653"/>
            <a:ext cx="7412949" cy="1571625"/>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2100" u="none" cap="none" strike="noStrike">
                <a:solidFill>
                  <a:srgbClr val="724E39"/>
                </a:solidFill>
                <a:latin typeface="Arial"/>
                <a:ea typeface="Arial"/>
                <a:cs typeface="Arial"/>
                <a:sym typeface="Arial"/>
              </a:rPr>
              <a:t>Data process: </a:t>
            </a:r>
            <a:endParaRPr/>
          </a:p>
          <a:p>
            <a:pPr indent="-226696" lvl="1" marL="453392" marR="0" rtl="0" algn="l">
              <a:lnSpc>
                <a:spcPct val="12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Download/import dataset to Kaggle notebook</a:t>
            </a:r>
            <a:endParaRPr/>
          </a:p>
          <a:p>
            <a:pPr indent="-226696" lvl="1" marL="453392" marR="0" rtl="0" algn="l">
              <a:lnSpc>
                <a:spcPct val="12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Convert into YOLO format dataset(images and labels, this format is accepted by Ultralytics, with original YOLO World they accept the COCO format object. )</a:t>
            </a:r>
            <a:endParaRPr/>
          </a:p>
        </p:txBody>
      </p:sp>
      <p:sp>
        <p:nvSpPr>
          <p:cNvPr id="408" name="Google Shape;408;p17"/>
          <p:cNvSpPr txBox="1"/>
          <p:nvPr/>
        </p:nvSpPr>
        <p:spPr>
          <a:xfrm>
            <a:off x="1243696" y="3890508"/>
            <a:ext cx="7412949" cy="184213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00" u="none" cap="none" strike="noStrike">
                <a:solidFill>
                  <a:srgbClr val="724E39"/>
                </a:solidFill>
                <a:latin typeface="Arial"/>
                <a:ea typeface="Arial"/>
                <a:cs typeface="Arial"/>
                <a:sym typeface="Arial"/>
              </a:rPr>
              <a:t>Fine tuning:</a:t>
            </a:r>
            <a:endParaRPr/>
          </a:p>
          <a:p>
            <a:pPr indent="-226695" lvl="1" marL="453390" marR="0" rtl="0" algn="l">
              <a:lnSpc>
                <a:spcPct val="14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Set model as the version of YOLO World predefined</a:t>
            </a:r>
            <a:endParaRPr/>
          </a:p>
          <a:p>
            <a:pPr indent="-226695" lvl="1" marL="453390" marR="0" rtl="0" algn="l">
              <a:lnSpc>
                <a:spcPct val="140000"/>
              </a:lnSpc>
              <a:spcBef>
                <a:spcPts val="0"/>
              </a:spcBef>
              <a:spcAft>
                <a:spcPts val="0"/>
              </a:spcAft>
              <a:buClr>
                <a:srgbClr val="724E39"/>
              </a:buClr>
              <a:buSzPts val="2100"/>
              <a:buFont typeface="Arial"/>
              <a:buChar char="•"/>
            </a:pPr>
            <a:r>
              <a:rPr b="0" i="0" lang="en-US" sz="2100" u="none" cap="none" strike="noStrike">
                <a:solidFill>
                  <a:srgbClr val="724E39"/>
                </a:solidFill>
                <a:latin typeface="Arial"/>
                <a:ea typeface="Arial"/>
                <a:cs typeface="Arial"/>
                <a:sym typeface="Arial"/>
              </a:rPr>
              <a:t>By description of YOLO World documentation about the fine tuning, the 80 epoch is enough.</a:t>
            </a:r>
            <a:endParaRPr/>
          </a:p>
          <a:p>
            <a:pPr indent="0" lvl="0" marL="0" marR="0" rtl="0" algn="l">
              <a:lnSpc>
                <a:spcPct val="140000"/>
              </a:lnSpc>
              <a:spcBef>
                <a:spcPts val="0"/>
              </a:spcBef>
              <a:spcAft>
                <a:spcPts val="0"/>
              </a:spcAft>
              <a:buNone/>
            </a:pPr>
            <a:r>
              <a:t/>
            </a:r>
            <a:endParaRPr b="0" i="0" sz="2100" u="none" cap="none" strike="noStrike">
              <a:solidFill>
                <a:srgbClr val="724E39"/>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412" name="Shape 412"/>
        <p:cNvGrpSpPr/>
        <p:nvPr/>
      </p:nvGrpSpPr>
      <p:grpSpPr>
        <a:xfrm>
          <a:off x="0" y="0"/>
          <a:ext cx="0" cy="0"/>
          <a:chOff x="0" y="0"/>
          <a:chExt cx="0" cy="0"/>
        </a:xfrm>
      </p:grpSpPr>
      <p:sp>
        <p:nvSpPr>
          <p:cNvPr id="413" name="Google Shape;413;p18"/>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414" name="Google Shape;414;p18"/>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415" name="Google Shape;415;p18"/>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416" name="Google Shape;416;p18"/>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417" name="Google Shape;417;p18"/>
          <p:cNvGrpSpPr/>
          <p:nvPr/>
        </p:nvGrpSpPr>
        <p:grpSpPr>
          <a:xfrm>
            <a:off x="731520" y="1519519"/>
            <a:ext cx="8290560" cy="5064161"/>
            <a:chOff x="0" y="-28575"/>
            <a:chExt cx="4094104" cy="2500820"/>
          </a:xfrm>
        </p:grpSpPr>
        <p:sp>
          <p:nvSpPr>
            <p:cNvPr id="418" name="Google Shape;418;p18"/>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8"/>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0" name="Google Shape;420;p18"/>
          <p:cNvGrpSpPr/>
          <p:nvPr/>
        </p:nvGrpSpPr>
        <p:grpSpPr>
          <a:xfrm>
            <a:off x="976005" y="793079"/>
            <a:ext cx="7784260" cy="1076412"/>
            <a:chOff x="0" y="-28575"/>
            <a:chExt cx="3844079" cy="531562"/>
          </a:xfrm>
        </p:grpSpPr>
        <p:sp>
          <p:nvSpPr>
            <p:cNvPr id="421" name="Google Shape;421;p18"/>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3" name="Google Shape;423;p18"/>
          <p:cNvSpPr/>
          <p:nvPr/>
        </p:nvSpPr>
        <p:spPr>
          <a:xfrm>
            <a:off x="976005" y="2158403"/>
            <a:ext cx="4041021" cy="4275483"/>
          </a:xfrm>
          <a:custGeom>
            <a:rect b="b" l="l" r="r" t="t"/>
            <a:pathLst>
              <a:path extrusionOk="0" h="4275483" w="4041021">
                <a:moveTo>
                  <a:pt x="0" y="0"/>
                </a:moveTo>
                <a:lnTo>
                  <a:pt x="4041021" y="0"/>
                </a:lnTo>
                <a:lnTo>
                  <a:pt x="4041021" y="4275483"/>
                </a:lnTo>
                <a:lnTo>
                  <a:pt x="0" y="4275483"/>
                </a:lnTo>
                <a:lnTo>
                  <a:pt x="0" y="0"/>
                </a:lnTo>
                <a:close/>
              </a:path>
            </a:pathLst>
          </a:custGeom>
          <a:blipFill rotWithShape="1">
            <a:blip r:embed="rId7">
              <a:alphaModFix/>
            </a:blip>
            <a:stretch>
              <a:fillRect b="0" l="0" r="0" t="0"/>
            </a:stretch>
          </a:blipFill>
          <a:ln>
            <a:noFill/>
          </a:ln>
        </p:spPr>
      </p:sp>
      <p:sp>
        <p:nvSpPr>
          <p:cNvPr id="424" name="Google Shape;424;p18"/>
          <p:cNvSpPr/>
          <p:nvPr/>
        </p:nvSpPr>
        <p:spPr>
          <a:xfrm>
            <a:off x="5435667" y="2801336"/>
            <a:ext cx="2934625" cy="2558391"/>
          </a:xfrm>
          <a:custGeom>
            <a:rect b="b" l="l" r="r" t="t"/>
            <a:pathLst>
              <a:path extrusionOk="0" h="2558391" w="2934625">
                <a:moveTo>
                  <a:pt x="0" y="0"/>
                </a:moveTo>
                <a:lnTo>
                  <a:pt x="2934626" y="0"/>
                </a:lnTo>
                <a:lnTo>
                  <a:pt x="2934626" y="2558391"/>
                </a:lnTo>
                <a:lnTo>
                  <a:pt x="0" y="2558391"/>
                </a:lnTo>
                <a:lnTo>
                  <a:pt x="0" y="0"/>
                </a:lnTo>
                <a:close/>
              </a:path>
            </a:pathLst>
          </a:custGeom>
          <a:blipFill rotWithShape="1">
            <a:blip r:embed="rId8">
              <a:alphaModFix/>
            </a:blip>
            <a:stretch>
              <a:fillRect b="0" l="0" r="0" t="0"/>
            </a:stretch>
          </a:blipFill>
          <a:ln>
            <a:noFill/>
          </a:ln>
        </p:spPr>
      </p:sp>
      <p:sp>
        <p:nvSpPr>
          <p:cNvPr id="425" name="Google Shape;425;p18"/>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DURING TRAING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429" name="Shape 429"/>
        <p:cNvGrpSpPr/>
        <p:nvPr/>
      </p:nvGrpSpPr>
      <p:grpSpPr>
        <a:xfrm>
          <a:off x="0" y="0"/>
          <a:ext cx="0" cy="0"/>
          <a:chOff x="0" y="0"/>
          <a:chExt cx="0" cy="0"/>
        </a:xfrm>
      </p:grpSpPr>
      <p:sp>
        <p:nvSpPr>
          <p:cNvPr id="430" name="Google Shape;430;p19"/>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431" name="Google Shape;431;p19"/>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432" name="Google Shape;432;p19"/>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433" name="Google Shape;433;p19"/>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434" name="Google Shape;434;p19"/>
          <p:cNvGrpSpPr/>
          <p:nvPr/>
        </p:nvGrpSpPr>
        <p:grpSpPr>
          <a:xfrm>
            <a:off x="731520" y="1519519"/>
            <a:ext cx="8290560" cy="5064161"/>
            <a:chOff x="0" y="-28575"/>
            <a:chExt cx="4094104" cy="2500820"/>
          </a:xfrm>
        </p:grpSpPr>
        <p:sp>
          <p:nvSpPr>
            <p:cNvPr id="435" name="Google Shape;435;p19"/>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7" name="Google Shape;437;p19"/>
          <p:cNvGrpSpPr/>
          <p:nvPr/>
        </p:nvGrpSpPr>
        <p:grpSpPr>
          <a:xfrm>
            <a:off x="976005" y="793079"/>
            <a:ext cx="7784260" cy="1076412"/>
            <a:chOff x="0" y="-28575"/>
            <a:chExt cx="3844079" cy="531562"/>
          </a:xfrm>
        </p:grpSpPr>
        <p:sp>
          <p:nvSpPr>
            <p:cNvPr id="438" name="Google Shape;438;p19"/>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0" name="Google Shape;440;p19"/>
          <p:cNvSpPr/>
          <p:nvPr/>
        </p:nvSpPr>
        <p:spPr>
          <a:xfrm>
            <a:off x="1298678" y="2322779"/>
            <a:ext cx="7156244" cy="3515505"/>
          </a:xfrm>
          <a:custGeom>
            <a:rect b="b" l="l" r="r" t="t"/>
            <a:pathLst>
              <a:path extrusionOk="0" h="3515505" w="7156244">
                <a:moveTo>
                  <a:pt x="0" y="0"/>
                </a:moveTo>
                <a:lnTo>
                  <a:pt x="7156244" y="0"/>
                </a:lnTo>
                <a:lnTo>
                  <a:pt x="7156244" y="3515505"/>
                </a:lnTo>
                <a:lnTo>
                  <a:pt x="0" y="3515505"/>
                </a:lnTo>
                <a:lnTo>
                  <a:pt x="0" y="0"/>
                </a:lnTo>
                <a:close/>
              </a:path>
            </a:pathLst>
          </a:custGeom>
          <a:blipFill rotWithShape="1">
            <a:blip r:embed="rId7">
              <a:alphaModFix/>
            </a:blip>
            <a:stretch>
              <a:fillRect b="0" l="0" r="0" t="0"/>
            </a:stretch>
          </a:blipFill>
          <a:ln>
            <a:noFill/>
          </a:ln>
        </p:spPr>
      </p:sp>
      <p:sp>
        <p:nvSpPr>
          <p:cNvPr id="441" name="Google Shape;441;p19"/>
          <p:cNvSpPr txBox="1"/>
          <p:nvPr/>
        </p:nvSpPr>
        <p:spPr>
          <a:xfrm>
            <a:off x="402649" y="1143259"/>
            <a:ext cx="8948400" cy="528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DURING </a:t>
            </a:r>
            <a:r>
              <a:rPr lang="en-US" sz="3433">
                <a:solidFill>
                  <a:srgbClr val="FFFFFF"/>
                </a:solidFill>
                <a:latin typeface="Fredoka"/>
                <a:ea typeface="Fredoka"/>
                <a:cs typeface="Fredoka"/>
                <a:sym typeface="Fredoka"/>
              </a:rPr>
              <a:t>TRAINING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445" name="Shape 445"/>
        <p:cNvGrpSpPr/>
        <p:nvPr/>
      </p:nvGrpSpPr>
      <p:grpSpPr>
        <a:xfrm>
          <a:off x="0" y="0"/>
          <a:ext cx="0" cy="0"/>
          <a:chOff x="0" y="0"/>
          <a:chExt cx="0" cy="0"/>
        </a:xfrm>
      </p:grpSpPr>
      <p:sp>
        <p:nvSpPr>
          <p:cNvPr id="446" name="Google Shape;446;p20"/>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447" name="Google Shape;447;p20"/>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448" name="Google Shape;448;p20"/>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449" name="Google Shape;449;p20"/>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450" name="Google Shape;450;p20"/>
          <p:cNvGrpSpPr/>
          <p:nvPr/>
        </p:nvGrpSpPr>
        <p:grpSpPr>
          <a:xfrm>
            <a:off x="731520" y="1519519"/>
            <a:ext cx="8290560" cy="5064161"/>
            <a:chOff x="0" y="-28575"/>
            <a:chExt cx="4094104" cy="2500820"/>
          </a:xfrm>
        </p:grpSpPr>
        <p:sp>
          <p:nvSpPr>
            <p:cNvPr id="451" name="Google Shape;451;p20"/>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0"/>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3" name="Google Shape;453;p20"/>
          <p:cNvGrpSpPr/>
          <p:nvPr/>
        </p:nvGrpSpPr>
        <p:grpSpPr>
          <a:xfrm>
            <a:off x="976005" y="793079"/>
            <a:ext cx="7784260" cy="1076412"/>
            <a:chOff x="0" y="-28575"/>
            <a:chExt cx="3844079" cy="531562"/>
          </a:xfrm>
        </p:grpSpPr>
        <p:sp>
          <p:nvSpPr>
            <p:cNvPr id="454" name="Google Shape;454;p20"/>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0"/>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6" name="Google Shape;456;p20"/>
          <p:cNvSpPr/>
          <p:nvPr/>
        </p:nvSpPr>
        <p:spPr>
          <a:xfrm>
            <a:off x="1044430" y="1717266"/>
            <a:ext cx="7647411" cy="3747232"/>
          </a:xfrm>
          <a:custGeom>
            <a:rect b="b" l="l" r="r" t="t"/>
            <a:pathLst>
              <a:path extrusionOk="0" h="3747232" w="7647411">
                <a:moveTo>
                  <a:pt x="0" y="0"/>
                </a:moveTo>
                <a:lnTo>
                  <a:pt x="7647411" y="0"/>
                </a:lnTo>
                <a:lnTo>
                  <a:pt x="7647411" y="3747231"/>
                </a:lnTo>
                <a:lnTo>
                  <a:pt x="0" y="3747231"/>
                </a:lnTo>
                <a:lnTo>
                  <a:pt x="0" y="0"/>
                </a:lnTo>
                <a:close/>
              </a:path>
            </a:pathLst>
          </a:custGeom>
          <a:blipFill rotWithShape="1">
            <a:blip r:embed="rId7">
              <a:alphaModFix/>
            </a:blip>
            <a:stretch>
              <a:fillRect b="0" l="0" r="0" t="0"/>
            </a:stretch>
          </a:blipFill>
          <a:ln>
            <a:noFill/>
          </a:ln>
        </p:spPr>
      </p:sp>
      <p:sp>
        <p:nvSpPr>
          <p:cNvPr id="457" name="Google Shape;457;p20"/>
          <p:cNvSpPr/>
          <p:nvPr/>
        </p:nvSpPr>
        <p:spPr>
          <a:xfrm>
            <a:off x="976005" y="6583680"/>
            <a:ext cx="5811540" cy="608583"/>
          </a:xfrm>
          <a:custGeom>
            <a:rect b="b" l="l" r="r" t="t"/>
            <a:pathLst>
              <a:path extrusionOk="0" h="608583" w="5811540">
                <a:moveTo>
                  <a:pt x="0" y="0"/>
                </a:moveTo>
                <a:lnTo>
                  <a:pt x="5811540" y="0"/>
                </a:lnTo>
                <a:lnTo>
                  <a:pt x="5811540" y="608583"/>
                </a:lnTo>
                <a:lnTo>
                  <a:pt x="0" y="608583"/>
                </a:lnTo>
                <a:lnTo>
                  <a:pt x="0" y="0"/>
                </a:lnTo>
                <a:close/>
              </a:path>
            </a:pathLst>
          </a:custGeom>
          <a:blipFill rotWithShape="1">
            <a:blip r:embed="rId8">
              <a:alphaModFix/>
            </a:blip>
            <a:stretch>
              <a:fillRect b="0" l="0" r="0" t="0"/>
            </a:stretch>
          </a:blipFill>
          <a:ln>
            <a:noFill/>
          </a:ln>
        </p:spPr>
      </p:sp>
      <p:sp>
        <p:nvSpPr>
          <p:cNvPr id="458" name="Google Shape;458;p20"/>
          <p:cNvSpPr txBox="1"/>
          <p:nvPr/>
        </p:nvSpPr>
        <p:spPr>
          <a:xfrm>
            <a:off x="402649" y="1143259"/>
            <a:ext cx="8948400" cy="528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DURING </a:t>
            </a:r>
            <a:r>
              <a:rPr lang="en-US" sz="3433">
                <a:solidFill>
                  <a:srgbClr val="FFFFFF"/>
                </a:solidFill>
                <a:latin typeface="Fredoka"/>
                <a:ea typeface="Fredoka"/>
                <a:cs typeface="Fredoka"/>
                <a:sym typeface="Fredoka"/>
              </a:rPr>
              <a:t>TRAINING</a:t>
            </a:r>
            <a:endParaRPr/>
          </a:p>
        </p:txBody>
      </p:sp>
      <p:sp>
        <p:nvSpPr>
          <p:cNvPr id="459" name="Google Shape;459;p20"/>
          <p:cNvSpPr txBox="1"/>
          <p:nvPr/>
        </p:nvSpPr>
        <p:spPr>
          <a:xfrm>
            <a:off x="731520" y="5481320"/>
            <a:ext cx="8290560" cy="1102360"/>
          </a:xfrm>
          <a:prstGeom prst="rect">
            <a:avLst/>
          </a:prstGeom>
          <a:noFill/>
          <a:ln>
            <a:noFill/>
          </a:ln>
        </p:spPr>
        <p:txBody>
          <a:bodyPr anchorCtr="0" anchor="t" bIns="0" lIns="0" spcFirstLastPara="1" rIns="0" wrap="square" tIns="0">
            <a:spAutoFit/>
          </a:bodyPr>
          <a:lstStyle/>
          <a:p>
            <a:pPr indent="-172720" lvl="1" marL="345439" marR="0" rtl="0" algn="l">
              <a:lnSpc>
                <a:spcPct val="140025"/>
              </a:lnSpc>
              <a:spcBef>
                <a:spcPts val="0"/>
              </a:spcBef>
              <a:spcAft>
                <a:spcPts val="0"/>
              </a:spcAft>
              <a:buClr>
                <a:srgbClr val="000000"/>
              </a:buClr>
              <a:buSzPts val="1599"/>
              <a:buFont typeface="Arial"/>
              <a:buChar char="•"/>
            </a:pPr>
            <a:r>
              <a:rPr b="0" i="0" lang="en-US" sz="1599" u="none" cap="none" strike="noStrike">
                <a:solidFill>
                  <a:srgbClr val="000000"/>
                </a:solidFill>
                <a:latin typeface="Arial"/>
                <a:ea typeface="Arial"/>
                <a:cs typeface="Arial"/>
                <a:sym typeface="Arial"/>
              </a:rPr>
              <a:t>Performance peaks around epoch 45–50, then decline. ( Evaluate on mAP50 and mAP50-95)</a:t>
            </a:r>
            <a:endParaRPr/>
          </a:p>
          <a:p>
            <a:pPr indent="-172720" lvl="1" marL="345439" marR="0" rtl="0" algn="l">
              <a:lnSpc>
                <a:spcPct val="140025"/>
              </a:lnSpc>
              <a:spcBef>
                <a:spcPts val="0"/>
              </a:spcBef>
              <a:spcAft>
                <a:spcPts val="0"/>
              </a:spcAft>
              <a:buClr>
                <a:srgbClr val="000000"/>
              </a:buClr>
              <a:buSzPts val="1599"/>
              <a:buFont typeface="Arial"/>
              <a:buChar char="•"/>
            </a:pPr>
            <a:r>
              <a:rPr b="0" i="0" lang="en-US" sz="1599" u="none" cap="none" strike="noStrike">
                <a:solidFill>
                  <a:srgbClr val="000000"/>
                </a:solidFill>
                <a:latin typeface="Arial"/>
                <a:ea typeface="Arial"/>
                <a:cs typeface="Arial"/>
                <a:sym typeface="Arial"/>
              </a:rPr>
              <a:t>val/box_loss become plateau after epoch 50, so the best weight is settle between 45 and 50 epoches.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463" name="Shape 463"/>
        <p:cNvGrpSpPr/>
        <p:nvPr/>
      </p:nvGrpSpPr>
      <p:grpSpPr>
        <a:xfrm>
          <a:off x="0" y="0"/>
          <a:ext cx="0" cy="0"/>
          <a:chOff x="0" y="0"/>
          <a:chExt cx="0" cy="0"/>
        </a:xfrm>
      </p:grpSpPr>
      <p:sp>
        <p:nvSpPr>
          <p:cNvPr id="464" name="Google Shape;464;p21"/>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465" name="Google Shape;465;p21"/>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466" name="Google Shape;466;p21"/>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467" name="Google Shape;467;p21"/>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468" name="Google Shape;468;p21"/>
          <p:cNvGrpSpPr/>
          <p:nvPr/>
        </p:nvGrpSpPr>
        <p:grpSpPr>
          <a:xfrm>
            <a:off x="731520" y="1519519"/>
            <a:ext cx="8290560" cy="5064161"/>
            <a:chOff x="0" y="-28575"/>
            <a:chExt cx="4094104" cy="2500820"/>
          </a:xfrm>
        </p:grpSpPr>
        <p:sp>
          <p:nvSpPr>
            <p:cNvPr id="469" name="Google Shape;469;p21"/>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1"/>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1" name="Google Shape;471;p21"/>
          <p:cNvGrpSpPr/>
          <p:nvPr/>
        </p:nvGrpSpPr>
        <p:grpSpPr>
          <a:xfrm>
            <a:off x="976005" y="793079"/>
            <a:ext cx="7784260" cy="1076412"/>
            <a:chOff x="0" y="-28575"/>
            <a:chExt cx="3844079" cy="531562"/>
          </a:xfrm>
        </p:grpSpPr>
        <p:sp>
          <p:nvSpPr>
            <p:cNvPr id="472" name="Google Shape;472;p21"/>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1"/>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4" name="Google Shape;474;p21"/>
          <p:cNvSpPr/>
          <p:nvPr/>
        </p:nvSpPr>
        <p:spPr>
          <a:xfrm>
            <a:off x="976005" y="1981596"/>
            <a:ext cx="6027338" cy="4015714"/>
          </a:xfrm>
          <a:custGeom>
            <a:rect b="b" l="l" r="r" t="t"/>
            <a:pathLst>
              <a:path extrusionOk="0" h="4015714" w="6027338">
                <a:moveTo>
                  <a:pt x="0" y="0"/>
                </a:moveTo>
                <a:lnTo>
                  <a:pt x="6027338" y="0"/>
                </a:lnTo>
                <a:lnTo>
                  <a:pt x="6027338" y="4015714"/>
                </a:lnTo>
                <a:lnTo>
                  <a:pt x="0" y="4015714"/>
                </a:lnTo>
                <a:lnTo>
                  <a:pt x="0" y="0"/>
                </a:lnTo>
                <a:close/>
              </a:path>
            </a:pathLst>
          </a:custGeom>
          <a:blipFill rotWithShape="1">
            <a:blip r:embed="rId7">
              <a:alphaModFix/>
            </a:blip>
            <a:stretch>
              <a:fillRect b="0" l="0" r="0" t="0"/>
            </a:stretch>
          </a:blipFill>
          <a:ln>
            <a:noFill/>
          </a:ln>
        </p:spPr>
      </p:sp>
      <p:sp>
        <p:nvSpPr>
          <p:cNvPr id="475" name="Google Shape;475;p21"/>
          <p:cNvSpPr/>
          <p:nvPr/>
        </p:nvSpPr>
        <p:spPr>
          <a:xfrm>
            <a:off x="5330575" y="5464497"/>
            <a:ext cx="3429690" cy="836191"/>
          </a:xfrm>
          <a:custGeom>
            <a:rect b="b" l="l" r="r" t="t"/>
            <a:pathLst>
              <a:path extrusionOk="0" h="836191" w="3429690">
                <a:moveTo>
                  <a:pt x="0" y="0"/>
                </a:moveTo>
                <a:lnTo>
                  <a:pt x="3429690" y="0"/>
                </a:lnTo>
                <a:lnTo>
                  <a:pt x="3429690" y="836192"/>
                </a:lnTo>
                <a:lnTo>
                  <a:pt x="0" y="836192"/>
                </a:lnTo>
                <a:lnTo>
                  <a:pt x="0" y="0"/>
                </a:lnTo>
                <a:close/>
              </a:path>
            </a:pathLst>
          </a:custGeom>
          <a:blipFill rotWithShape="1">
            <a:blip r:embed="rId8">
              <a:alphaModFix/>
            </a:blip>
            <a:stretch>
              <a:fillRect b="0" l="0" r="0" t="0"/>
            </a:stretch>
          </a:blipFill>
          <a:ln>
            <a:noFill/>
          </a:ln>
        </p:spPr>
      </p:sp>
      <p:sp>
        <p:nvSpPr>
          <p:cNvPr id="476" name="Google Shape;476;p21"/>
          <p:cNvSpPr txBox="1"/>
          <p:nvPr/>
        </p:nvSpPr>
        <p:spPr>
          <a:xfrm>
            <a:off x="402649" y="1143259"/>
            <a:ext cx="8948400" cy="528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DURING </a:t>
            </a:r>
            <a:r>
              <a:rPr lang="en-US" sz="3433">
                <a:solidFill>
                  <a:srgbClr val="FFFFFF"/>
                </a:solidFill>
                <a:latin typeface="Fredoka"/>
                <a:ea typeface="Fredoka"/>
                <a:cs typeface="Fredoka"/>
                <a:sym typeface="Fredoka"/>
              </a:rPr>
              <a:t>TRAINING</a:t>
            </a:r>
            <a:endParaRPr/>
          </a:p>
        </p:txBody>
      </p:sp>
      <p:sp>
        <p:nvSpPr>
          <p:cNvPr id="477" name="Google Shape;477;p21"/>
          <p:cNvSpPr txBox="1"/>
          <p:nvPr/>
        </p:nvSpPr>
        <p:spPr>
          <a:xfrm>
            <a:off x="7045420" y="2172658"/>
            <a:ext cx="1756922" cy="275971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600" u="none" cap="none" strike="noStrike">
                <a:solidFill>
                  <a:srgbClr val="000000"/>
                </a:solidFill>
                <a:latin typeface="Arial"/>
                <a:ea typeface="Arial"/>
                <a:cs typeface="Arial"/>
                <a:sym typeface="Arial"/>
              </a:rPr>
              <a:t>Confidence: The probability threshold(c). Only prediction over c are considered true. Only those images surpass c are considered valid bounding box</a:t>
            </a:r>
            <a:endParaRPr/>
          </a:p>
        </p:txBody>
      </p:sp>
      <p:sp>
        <p:nvSpPr>
          <p:cNvPr id="478" name="Google Shape;478;p21"/>
          <p:cNvSpPr txBox="1"/>
          <p:nvPr/>
        </p:nvSpPr>
        <p:spPr>
          <a:xfrm>
            <a:off x="5246421" y="4362137"/>
            <a:ext cx="1756922" cy="110236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US" sz="1599" u="none" cap="none" strike="noStrike">
                <a:solidFill>
                  <a:srgbClr val="000000"/>
                </a:solidFill>
                <a:latin typeface="Arial"/>
                <a:ea typeface="Arial"/>
                <a:cs typeface="Arial"/>
                <a:sym typeface="Arial"/>
              </a:rPr>
              <a:t>The F1-score is the harmonic mean of Precision and Recall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482" name="Shape 482"/>
        <p:cNvGrpSpPr/>
        <p:nvPr/>
      </p:nvGrpSpPr>
      <p:grpSpPr>
        <a:xfrm>
          <a:off x="0" y="0"/>
          <a:ext cx="0" cy="0"/>
          <a:chOff x="0" y="0"/>
          <a:chExt cx="0" cy="0"/>
        </a:xfrm>
      </p:grpSpPr>
      <p:sp>
        <p:nvSpPr>
          <p:cNvPr id="483" name="Google Shape;483;p23"/>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484" name="Google Shape;484;p23"/>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485" name="Google Shape;485;p23"/>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486" name="Google Shape;486;p23"/>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487" name="Google Shape;487;p23"/>
          <p:cNvGrpSpPr/>
          <p:nvPr/>
        </p:nvGrpSpPr>
        <p:grpSpPr>
          <a:xfrm>
            <a:off x="731520" y="1519519"/>
            <a:ext cx="8290560" cy="5064161"/>
            <a:chOff x="0" y="-28575"/>
            <a:chExt cx="4094104" cy="2500820"/>
          </a:xfrm>
        </p:grpSpPr>
        <p:sp>
          <p:nvSpPr>
            <p:cNvPr id="488" name="Google Shape;488;p23"/>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3"/>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0" name="Google Shape;490;p23"/>
          <p:cNvGrpSpPr/>
          <p:nvPr/>
        </p:nvGrpSpPr>
        <p:grpSpPr>
          <a:xfrm>
            <a:off x="976005" y="793079"/>
            <a:ext cx="7784260" cy="1076412"/>
            <a:chOff x="0" y="-28575"/>
            <a:chExt cx="3844079" cy="531562"/>
          </a:xfrm>
        </p:grpSpPr>
        <p:sp>
          <p:nvSpPr>
            <p:cNvPr id="491" name="Google Shape;491;p23"/>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3"/>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3" name="Google Shape;493;p23"/>
          <p:cNvSpPr/>
          <p:nvPr/>
        </p:nvSpPr>
        <p:spPr>
          <a:xfrm>
            <a:off x="1854466" y="2072675"/>
            <a:ext cx="6027338" cy="4015714"/>
          </a:xfrm>
          <a:custGeom>
            <a:rect b="b" l="l" r="r" t="t"/>
            <a:pathLst>
              <a:path extrusionOk="0" h="4015714" w="6027338">
                <a:moveTo>
                  <a:pt x="0" y="0"/>
                </a:moveTo>
                <a:lnTo>
                  <a:pt x="6027338" y="0"/>
                </a:lnTo>
                <a:lnTo>
                  <a:pt x="6027338" y="4015714"/>
                </a:lnTo>
                <a:lnTo>
                  <a:pt x="0" y="4015714"/>
                </a:lnTo>
                <a:lnTo>
                  <a:pt x="0" y="0"/>
                </a:lnTo>
                <a:close/>
              </a:path>
            </a:pathLst>
          </a:custGeom>
          <a:blipFill rotWithShape="1">
            <a:blip r:embed="rId7">
              <a:alphaModFix/>
            </a:blip>
            <a:stretch>
              <a:fillRect b="0" l="0" r="0" t="0"/>
            </a:stretch>
          </a:blipFill>
          <a:ln>
            <a:noFill/>
          </a:ln>
        </p:spPr>
      </p:sp>
      <p:sp>
        <p:nvSpPr>
          <p:cNvPr id="494" name="Google Shape;494;p23"/>
          <p:cNvSpPr txBox="1"/>
          <p:nvPr/>
        </p:nvSpPr>
        <p:spPr>
          <a:xfrm>
            <a:off x="402649" y="1143259"/>
            <a:ext cx="8948400" cy="528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DURING </a:t>
            </a:r>
            <a:r>
              <a:rPr lang="en-US" sz="3433">
                <a:solidFill>
                  <a:srgbClr val="FFFFFF"/>
                </a:solidFill>
                <a:latin typeface="Fredoka"/>
                <a:ea typeface="Fredoka"/>
                <a:cs typeface="Fredoka"/>
                <a:sym typeface="Fredoka"/>
              </a:rPr>
              <a:t>TRAINING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498" name="Shape 498"/>
        <p:cNvGrpSpPr/>
        <p:nvPr/>
      </p:nvGrpSpPr>
      <p:grpSpPr>
        <a:xfrm>
          <a:off x="0" y="0"/>
          <a:ext cx="0" cy="0"/>
          <a:chOff x="0" y="0"/>
          <a:chExt cx="0" cy="0"/>
        </a:xfrm>
      </p:grpSpPr>
      <p:sp>
        <p:nvSpPr>
          <p:cNvPr id="499" name="Google Shape;499;p22"/>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500" name="Google Shape;500;p22"/>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501" name="Google Shape;501;p22"/>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502" name="Google Shape;502;p22"/>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503" name="Google Shape;503;p22"/>
          <p:cNvGrpSpPr/>
          <p:nvPr/>
        </p:nvGrpSpPr>
        <p:grpSpPr>
          <a:xfrm>
            <a:off x="731520" y="1519519"/>
            <a:ext cx="8290560" cy="5064161"/>
            <a:chOff x="0" y="-28575"/>
            <a:chExt cx="4094104" cy="2500820"/>
          </a:xfrm>
        </p:grpSpPr>
        <p:sp>
          <p:nvSpPr>
            <p:cNvPr id="504" name="Google Shape;504;p22"/>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2"/>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2"/>
          <p:cNvGrpSpPr/>
          <p:nvPr/>
        </p:nvGrpSpPr>
        <p:grpSpPr>
          <a:xfrm>
            <a:off x="976005" y="793079"/>
            <a:ext cx="7784260" cy="1076412"/>
            <a:chOff x="0" y="-28575"/>
            <a:chExt cx="3844079" cy="531562"/>
          </a:xfrm>
        </p:grpSpPr>
        <p:sp>
          <p:nvSpPr>
            <p:cNvPr id="507" name="Google Shape;507;p22"/>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2"/>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9" name="Google Shape;509;p22"/>
          <p:cNvSpPr/>
          <p:nvPr/>
        </p:nvSpPr>
        <p:spPr>
          <a:xfrm>
            <a:off x="1757930" y="2008357"/>
            <a:ext cx="6220410" cy="4144348"/>
          </a:xfrm>
          <a:custGeom>
            <a:rect b="b" l="l" r="r" t="t"/>
            <a:pathLst>
              <a:path extrusionOk="0" h="4144348" w="6220410">
                <a:moveTo>
                  <a:pt x="0" y="0"/>
                </a:moveTo>
                <a:lnTo>
                  <a:pt x="6220410" y="0"/>
                </a:lnTo>
                <a:lnTo>
                  <a:pt x="6220410" y="4144349"/>
                </a:lnTo>
                <a:lnTo>
                  <a:pt x="0" y="4144349"/>
                </a:lnTo>
                <a:lnTo>
                  <a:pt x="0" y="0"/>
                </a:lnTo>
                <a:close/>
              </a:path>
            </a:pathLst>
          </a:custGeom>
          <a:blipFill rotWithShape="1">
            <a:blip r:embed="rId7">
              <a:alphaModFix/>
            </a:blip>
            <a:stretch>
              <a:fillRect b="0" l="0" r="0" t="0"/>
            </a:stretch>
          </a:blipFill>
          <a:ln>
            <a:noFill/>
          </a:ln>
        </p:spPr>
      </p:sp>
      <p:sp>
        <p:nvSpPr>
          <p:cNvPr id="510" name="Google Shape;510;p22"/>
          <p:cNvSpPr txBox="1"/>
          <p:nvPr/>
        </p:nvSpPr>
        <p:spPr>
          <a:xfrm>
            <a:off x="402649" y="1143259"/>
            <a:ext cx="8948400" cy="528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DURING </a:t>
            </a:r>
            <a:r>
              <a:rPr lang="en-US" sz="3433">
                <a:solidFill>
                  <a:srgbClr val="FFFFFF"/>
                </a:solidFill>
                <a:latin typeface="Fredoka"/>
                <a:ea typeface="Fredoka"/>
                <a:cs typeface="Fredoka"/>
                <a:sym typeface="Fredoka"/>
              </a:rPr>
              <a:t>TRAINING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514" name="Shape 514"/>
        <p:cNvGrpSpPr/>
        <p:nvPr/>
      </p:nvGrpSpPr>
      <p:grpSpPr>
        <a:xfrm>
          <a:off x="0" y="0"/>
          <a:ext cx="0" cy="0"/>
          <a:chOff x="0" y="0"/>
          <a:chExt cx="0" cy="0"/>
        </a:xfrm>
      </p:grpSpPr>
      <p:sp>
        <p:nvSpPr>
          <p:cNvPr id="515" name="Google Shape;515;p25"/>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516" name="Google Shape;516;p25"/>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517" name="Google Shape;517;p25"/>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518" name="Google Shape;518;p25"/>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519" name="Google Shape;519;p25"/>
          <p:cNvGrpSpPr/>
          <p:nvPr/>
        </p:nvGrpSpPr>
        <p:grpSpPr>
          <a:xfrm>
            <a:off x="731520" y="1519519"/>
            <a:ext cx="8290560" cy="5064161"/>
            <a:chOff x="0" y="-28575"/>
            <a:chExt cx="4094104" cy="2500820"/>
          </a:xfrm>
        </p:grpSpPr>
        <p:sp>
          <p:nvSpPr>
            <p:cNvPr id="520" name="Google Shape;520;p25"/>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5"/>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2" name="Google Shape;522;p25"/>
          <p:cNvGrpSpPr/>
          <p:nvPr/>
        </p:nvGrpSpPr>
        <p:grpSpPr>
          <a:xfrm>
            <a:off x="976005" y="793079"/>
            <a:ext cx="7784260" cy="1076412"/>
            <a:chOff x="0" y="-28575"/>
            <a:chExt cx="3844079" cy="531562"/>
          </a:xfrm>
        </p:grpSpPr>
        <p:sp>
          <p:nvSpPr>
            <p:cNvPr id="523" name="Google Shape;523;p25"/>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5"/>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5" name="Google Shape;525;p25"/>
          <p:cNvSpPr/>
          <p:nvPr/>
        </p:nvSpPr>
        <p:spPr>
          <a:xfrm>
            <a:off x="1632513" y="1696350"/>
            <a:ext cx="6471245" cy="4887330"/>
          </a:xfrm>
          <a:custGeom>
            <a:rect b="b" l="l" r="r" t="t"/>
            <a:pathLst>
              <a:path extrusionOk="0" h="4887330" w="6471245">
                <a:moveTo>
                  <a:pt x="0" y="0"/>
                </a:moveTo>
                <a:lnTo>
                  <a:pt x="6471245" y="0"/>
                </a:lnTo>
                <a:lnTo>
                  <a:pt x="6471245" y="4887330"/>
                </a:lnTo>
                <a:lnTo>
                  <a:pt x="0" y="4887330"/>
                </a:lnTo>
                <a:lnTo>
                  <a:pt x="0" y="0"/>
                </a:lnTo>
                <a:close/>
              </a:path>
            </a:pathLst>
          </a:custGeom>
          <a:blipFill rotWithShape="1">
            <a:blip r:embed="rId7">
              <a:alphaModFix/>
            </a:blip>
            <a:stretch>
              <a:fillRect b="0" l="-349" r="-349" t="0"/>
            </a:stretch>
          </a:blipFill>
          <a:ln>
            <a:noFill/>
          </a:ln>
        </p:spPr>
      </p:sp>
      <p:sp>
        <p:nvSpPr>
          <p:cNvPr id="526" name="Google Shape;526;p25"/>
          <p:cNvSpPr txBox="1"/>
          <p:nvPr/>
        </p:nvSpPr>
        <p:spPr>
          <a:xfrm>
            <a:off x="402649" y="1143259"/>
            <a:ext cx="8948400" cy="528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DURING </a:t>
            </a:r>
            <a:r>
              <a:rPr lang="en-US" sz="3433">
                <a:solidFill>
                  <a:srgbClr val="FFFFFF"/>
                </a:solidFill>
                <a:latin typeface="Fredoka"/>
                <a:ea typeface="Fredoka"/>
                <a:cs typeface="Fredoka"/>
                <a:sym typeface="Fredoka"/>
              </a:rPr>
              <a:t>TRAINING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530" name="Shape 530"/>
        <p:cNvGrpSpPr/>
        <p:nvPr/>
      </p:nvGrpSpPr>
      <p:grpSpPr>
        <a:xfrm>
          <a:off x="0" y="0"/>
          <a:ext cx="0" cy="0"/>
          <a:chOff x="0" y="0"/>
          <a:chExt cx="0" cy="0"/>
        </a:xfrm>
      </p:grpSpPr>
      <p:sp>
        <p:nvSpPr>
          <p:cNvPr id="531" name="Google Shape;531;p26"/>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532" name="Google Shape;532;p26"/>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533" name="Google Shape;533;p26"/>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534" name="Google Shape;534;p26"/>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535" name="Google Shape;535;p26"/>
          <p:cNvGrpSpPr/>
          <p:nvPr/>
        </p:nvGrpSpPr>
        <p:grpSpPr>
          <a:xfrm>
            <a:off x="731520" y="1519519"/>
            <a:ext cx="8290560" cy="5064161"/>
            <a:chOff x="0" y="-28575"/>
            <a:chExt cx="4094104" cy="2500820"/>
          </a:xfrm>
        </p:grpSpPr>
        <p:sp>
          <p:nvSpPr>
            <p:cNvPr id="536" name="Google Shape;536;p26"/>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6"/>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8" name="Google Shape;538;p26"/>
          <p:cNvGrpSpPr/>
          <p:nvPr/>
        </p:nvGrpSpPr>
        <p:grpSpPr>
          <a:xfrm>
            <a:off x="976005" y="793079"/>
            <a:ext cx="7784260" cy="1076412"/>
            <a:chOff x="0" y="-28575"/>
            <a:chExt cx="3844079" cy="531562"/>
          </a:xfrm>
        </p:grpSpPr>
        <p:sp>
          <p:nvSpPr>
            <p:cNvPr id="539" name="Google Shape;539;p26"/>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6"/>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41" name="Google Shape;541;p26"/>
          <p:cNvSpPr/>
          <p:nvPr/>
        </p:nvSpPr>
        <p:spPr>
          <a:xfrm>
            <a:off x="4876800" y="3128174"/>
            <a:ext cx="4167655" cy="2921655"/>
          </a:xfrm>
          <a:custGeom>
            <a:rect b="b" l="l" r="r" t="t"/>
            <a:pathLst>
              <a:path extrusionOk="0" h="2921655" w="4167655">
                <a:moveTo>
                  <a:pt x="0" y="0"/>
                </a:moveTo>
                <a:lnTo>
                  <a:pt x="4167655" y="0"/>
                </a:lnTo>
                <a:lnTo>
                  <a:pt x="4167655" y="2921655"/>
                </a:lnTo>
                <a:lnTo>
                  <a:pt x="0" y="2921655"/>
                </a:lnTo>
                <a:lnTo>
                  <a:pt x="0" y="0"/>
                </a:lnTo>
                <a:close/>
              </a:path>
            </a:pathLst>
          </a:custGeom>
          <a:blipFill rotWithShape="1">
            <a:blip r:embed="rId7">
              <a:alphaModFix/>
            </a:blip>
            <a:stretch>
              <a:fillRect b="0" l="0" r="0" t="0"/>
            </a:stretch>
          </a:blipFill>
          <a:ln>
            <a:noFill/>
          </a:ln>
        </p:spPr>
      </p:sp>
      <p:sp>
        <p:nvSpPr>
          <p:cNvPr id="542" name="Google Shape;542;p26"/>
          <p:cNvSpPr/>
          <p:nvPr/>
        </p:nvSpPr>
        <p:spPr>
          <a:xfrm>
            <a:off x="731520" y="3128174"/>
            <a:ext cx="4105245" cy="2921655"/>
          </a:xfrm>
          <a:custGeom>
            <a:rect b="b" l="l" r="r" t="t"/>
            <a:pathLst>
              <a:path extrusionOk="0" h="2921655" w="4105245">
                <a:moveTo>
                  <a:pt x="0" y="0"/>
                </a:moveTo>
                <a:lnTo>
                  <a:pt x="4105245" y="0"/>
                </a:lnTo>
                <a:lnTo>
                  <a:pt x="4105245" y="2921655"/>
                </a:lnTo>
                <a:lnTo>
                  <a:pt x="0" y="2921655"/>
                </a:lnTo>
                <a:lnTo>
                  <a:pt x="0" y="0"/>
                </a:lnTo>
                <a:close/>
              </a:path>
            </a:pathLst>
          </a:custGeom>
          <a:blipFill rotWithShape="1">
            <a:blip r:embed="rId8">
              <a:alphaModFix/>
            </a:blip>
            <a:stretch>
              <a:fillRect b="0" l="0" r="0" t="0"/>
            </a:stretch>
          </a:blipFill>
          <a:ln>
            <a:noFill/>
          </a:ln>
        </p:spPr>
      </p:sp>
      <p:sp>
        <p:nvSpPr>
          <p:cNvPr id="543" name="Google Shape;543;p26"/>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544" name="Google Shape;544;p26"/>
          <p:cNvSpPr txBox="1"/>
          <p:nvPr/>
        </p:nvSpPr>
        <p:spPr>
          <a:xfrm>
            <a:off x="5010063"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Fine tuning</a:t>
            </a:r>
            <a:endParaRPr/>
          </a:p>
        </p:txBody>
      </p:sp>
      <p:sp>
        <p:nvSpPr>
          <p:cNvPr id="545" name="Google Shape;545;p26"/>
          <p:cNvSpPr txBox="1"/>
          <p:nvPr/>
        </p:nvSpPr>
        <p:spPr>
          <a:xfrm>
            <a:off x="849661"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Zero shot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549" name="Shape 549"/>
        <p:cNvGrpSpPr/>
        <p:nvPr/>
      </p:nvGrpSpPr>
      <p:grpSpPr>
        <a:xfrm>
          <a:off x="0" y="0"/>
          <a:ext cx="0" cy="0"/>
          <a:chOff x="0" y="0"/>
          <a:chExt cx="0" cy="0"/>
        </a:xfrm>
      </p:grpSpPr>
      <p:sp>
        <p:nvSpPr>
          <p:cNvPr id="550" name="Google Shape;550;p27"/>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551" name="Google Shape;551;p27"/>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552" name="Google Shape;552;p27"/>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553" name="Google Shape;553;p27"/>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554" name="Google Shape;554;p27"/>
          <p:cNvGrpSpPr/>
          <p:nvPr/>
        </p:nvGrpSpPr>
        <p:grpSpPr>
          <a:xfrm>
            <a:off x="731520" y="1519519"/>
            <a:ext cx="8290560" cy="5064161"/>
            <a:chOff x="0" y="-28575"/>
            <a:chExt cx="4094104" cy="2500820"/>
          </a:xfrm>
        </p:grpSpPr>
        <p:sp>
          <p:nvSpPr>
            <p:cNvPr id="555" name="Google Shape;555;p27"/>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7"/>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57" name="Google Shape;557;p27"/>
          <p:cNvGrpSpPr/>
          <p:nvPr/>
        </p:nvGrpSpPr>
        <p:grpSpPr>
          <a:xfrm>
            <a:off x="976005" y="793079"/>
            <a:ext cx="7784260" cy="1076412"/>
            <a:chOff x="0" y="-28575"/>
            <a:chExt cx="3844079" cy="531562"/>
          </a:xfrm>
        </p:grpSpPr>
        <p:sp>
          <p:nvSpPr>
            <p:cNvPr id="558" name="Google Shape;558;p27"/>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7"/>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60" name="Google Shape;560;p27"/>
          <p:cNvSpPr/>
          <p:nvPr/>
        </p:nvSpPr>
        <p:spPr>
          <a:xfrm>
            <a:off x="1854466" y="1918522"/>
            <a:ext cx="6027338" cy="4665158"/>
          </a:xfrm>
          <a:custGeom>
            <a:rect b="b" l="l" r="r" t="t"/>
            <a:pathLst>
              <a:path extrusionOk="0" h="4665158" w="6027338">
                <a:moveTo>
                  <a:pt x="0" y="0"/>
                </a:moveTo>
                <a:lnTo>
                  <a:pt x="6027338" y="0"/>
                </a:lnTo>
                <a:lnTo>
                  <a:pt x="6027338" y="4665158"/>
                </a:lnTo>
                <a:lnTo>
                  <a:pt x="0" y="4665158"/>
                </a:lnTo>
                <a:lnTo>
                  <a:pt x="0" y="0"/>
                </a:lnTo>
                <a:close/>
              </a:path>
            </a:pathLst>
          </a:custGeom>
          <a:blipFill rotWithShape="1">
            <a:blip r:embed="rId7">
              <a:alphaModFix/>
            </a:blip>
            <a:stretch>
              <a:fillRect b="0" l="-1599" r="-1599" t="0"/>
            </a:stretch>
          </a:blipFill>
          <a:ln>
            <a:noFill/>
          </a:ln>
        </p:spPr>
      </p:sp>
      <p:sp>
        <p:nvSpPr>
          <p:cNvPr id="561" name="Google Shape;561;p27"/>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562" name="Google Shape;562;p27"/>
          <p:cNvSpPr txBox="1"/>
          <p:nvPr/>
        </p:nvSpPr>
        <p:spPr>
          <a:xfrm>
            <a:off x="2843501" y="1513256"/>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FFFFFF"/>
                </a:solidFill>
                <a:latin typeface="Arial"/>
                <a:ea typeface="Arial"/>
                <a:cs typeface="Arial"/>
                <a:sym typeface="Arial"/>
              </a:rPr>
              <a:t>Zero shot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566" name="Shape 566"/>
        <p:cNvGrpSpPr/>
        <p:nvPr/>
      </p:nvGrpSpPr>
      <p:grpSpPr>
        <a:xfrm>
          <a:off x="0" y="0"/>
          <a:ext cx="0" cy="0"/>
          <a:chOff x="0" y="0"/>
          <a:chExt cx="0" cy="0"/>
        </a:xfrm>
      </p:grpSpPr>
      <p:sp>
        <p:nvSpPr>
          <p:cNvPr id="567" name="Google Shape;567;p28"/>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568" name="Google Shape;568;p28"/>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569" name="Google Shape;569;p28"/>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570" name="Google Shape;570;p28"/>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571" name="Google Shape;571;p28"/>
          <p:cNvGrpSpPr/>
          <p:nvPr/>
        </p:nvGrpSpPr>
        <p:grpSpPr>
          <a:xfrm>
            <a:off x="731520" y="1519519"/>
            <a:ext cx="8290560" cy="5064161"/>
            <a:chOff x="0" y="-28575"/>
            <a:chExt cx="4094104" cy="2500820"/>
          </a:xfrm>
        </p:grpSpPr>
        <p:sp>
          <p:nvSpPr>
            <p:cNvPr id="572" name="Google Shape;572;p28"/>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8"/>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4" name="Google Shape;574;p28"/>
          <p:cNvGrpSpPr/>
          <p:nvPr/>
        </p:nvGrpSpPr>
        <p:grpSpPr>
          <a:xfrm>
            <a:off x="976005" y="793079"/>
            <a:ext cx="7784260" cy="1076412"/>
            <a:chOff x="0" y="-28575"/>
            <a:chExt cx="3844079" cy="531562"/>
          </a:xfrm>
        </p:grpSpPr>
        <p:sp>
          <p:nvSpPr>
            <p:cNvPr id="575" name="Google Shape;575;p28"/>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8"/>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7" name="Google Shape;577;p28"/>
          <p:cNvSpPr/>
          <p:nvPr/>
        </p:nvSpPr>
        <p:spPr>
          <a:xfrm>
            <a:off x="1725343" y="1869491"/>
            <a:ext cx="6285585" cy="4714189"/>
          </a:xfrm>
          <a:custGeom>
            <a:rect b="b" l="l" r="r" t="t"/>
            <a:pathLst>
              <a:path extrusionOk="0" h="4714189" w="6285585">
                <a:moveTo>
                  <a:pt x="0" y="0"/>
                </a:moveTo>
                <a:lnTo>
                  <a:pt x="6285585" y="0"/>
                </a:lnTo>
                <a:lnTo>
                  <a:pt x="6285585" y="4714189"/>
                </a:lnTo>
                <a:lnTo>
                  <a:pt x="0" y="4714189"/>
                </a:lnTo>
                <a:lnTo>
                  <a:pt x="0" y="0"/>
                </a:lnTo>
                <a:close/>
              </a:path>
            </a:pathLst>
          </a:custGeom>
          <a:blipFill rotWithShape="1">
            <a:blip r:embed="rId7">
              <a:alphaModFix/>
            </a:blip>
            <a:stretch>
              <a:fillRect b="0" l="0" r="0" t="0"/>
            </a:stretch>
          </a:blipFill>
          <a:ln>
            <a:noFill/>
          </a:ln>
        </p:spPr>
      </p:sp>
      <p:sp>
        <p:nvSpPr>
          <p:cNvPr id="578" name="Google Shape;578;p28"/>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579" name="Google Shape;579;p28"/>
          <p:cNvSpPr txBox="1"/>
          <p:nvPr/>
        </p:nvSpPr>
        <p:spPr>
          <a:xfrm>
            <a:off x="2843501" y="1513256"/>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FFFFFF"/>
                </a:solidFill>
                <a:latin typeface="Arial"/>
                <a:ea typeface="Arial"/>
                <a:cs typeface="Arial"/>
                <a:sym typeface="Arial"/>
              </a:rPr>
              <a:t>Zero shot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583" name="Shape 583"/>
        <p:cNvGrpSpPr/>
        <p:nvPr/>
      </p:nvGrpSpPr>
      <p:grpSpPr>
        <a:xfrm>
          <a:off x="0" y="0"/>
          <a:ext cx="0" cy="0"/>
          <a:chOff x="0" y="0"/>
          <a:chExt cx="0" cy="0"/>
        </a:xfrm>
      </p:grpSpPr>
      <p:sp>
        <p:nvSpPr>
          <p:cNvPr id="584" name="Google Shape;584;p29"/>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585" name="Google Shape;585;p29"/>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586" name="Google Shape;586;p29"/>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587" name="Google Shape;587;p29"/>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588" name="Google Shape;588;p29"/>
          <p:cNvGrpSpPr/>
          <p:nvPr/>
        </p:nvGrpSpPr>
        <p:grpSpPr>
          <a:xfrm>
            <a:off x="731520" y="1519519"/>
            <a:ext cx="8290560" cy="5064161"/>
            <a:chOff x="0" y="-28575"/>
            <a:chExt cx="4094104" cy="2500820"/>
          </a:xfrm>
        </p:grpSpPr>
        <p:sp>
          <p:nvSpPr>
            <p:cNvPr id="589" name="Google Shape;589;p29"/>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9"/>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1" name="Google Shape;591;p29"/>
          <p:cNvGrpSpPr/>
          <p:nvPr/>
        </p:nvGrpSpPr>
        <p:grpSpPr>
          <a:xfrm>
            <a:off x="976005" y="793079"/>
            <a:ext cx="7784260" cy="1076412"/>
            <a:chOff x="0" y="-28575"/>
            <a:chExt cx="3844079" cy="531562"/>
          </a:xfrm>
        </p:grpSpPr>
        <p:sp>
          <p:nvSpPr>
            <p:cNvPr id="592" name="Google Shape;592;p29"/>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9"/>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4" name="Google Shape;594;p29"/>
          <p:cNvSpPr/>
          <p:nvPr/>
        </p:nvSpPr>
        <p:spPr>
          <a:xfrm>
            <a:off x="1854466" y="1869491"/>
            <a:ext cx="6027338" cy="4714189"/>
          </a:xfrm>
          <a:custGeom>
            <a:rect b="b" l="l" r="r" t="t"/>
            <a:pathLst>
              <a:path extrusionOk="0" h="4714189" w="6027338">
                <a:moveTo>
                  <a:pt x="0" y="0"/>
                </a:moveTo>
                <a:lnTo>
                  <a:pt x="6027338" y="0"/>
                </a:lnTo>
                <a:lnTo>
                  <a:pt x="6027338" y="4714189"/>
                </a:lnTo>
                <a:lnTo>
                  <a:pt x="0" y="4714189"/>
                </a:lnTo>
                <a:lnTo>
                  <a:pt x="0" y="0"/>
                </a:lnTo>
                <a:close/>
              </a:path>
            </a:pathLst>
          </a:custGeom>
          <a:blipFill rotWithShape="1">
            <a:blip r:embed="rId7">
              <a:alphaModFix/>
            </a:blip>
            <a:stretch>
              <a:fillRect b="0" l="-2142" r="-2142" t="0"/>
            </a:stretch>
          </a:blipFill>
          <a:ln>
            <a:noFill/>
          </a:ln>
        </p:spPr>
      </p:sp>
      <p:sp>
        <p:nvSpPr>
          <p:cNvPr id="595" name="Google Shape;595;p29"/>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596" name="Google Shape;596;p29"/>
          <p:cNvSpPr txBox="1"/>
          <p:nvPr/>
        </p:nvSpPr>
        <p:spPr>
          <a:xfrm>
            <a:off x="2843501" y="1513256"/>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FFFFFF"/>
                </a:solidFill>
                <a:latin typeface="Arial"/>
                <a:ea typeface="Arial"/>
                <a:cs typeface="Arial"/>
                <a:sym typeface="Arial"/>
              </a:rPr>
              <a:t>Fine tuning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600" name="Shape 600"/>
        <p:cNvGrpSpPr/>
        <p:nvPr/>
      </p:nvGrpSpPr>
      <p:grpSpPr>
        <a:xfrm>
          <a:off x="0" y="0"/>
          <a:ext cx="0" cy="0"/>
          <a:chOff x="0" y="0"/>
          <a:chExt cx="0" cy="0"/>
        </a:xfrm>
      </p:grpSpPr>
      <p:sp>
        <p:nvSpPr>
          <p:cNvPr id="601" name="Google Shape;601;p30"/>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602" name="Google Shape;602;p30"/>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603" name="Google Shape;603;p30"/>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604" name="Google Shape;604;p30"/>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605" name="Google Shape;605;p30"/>
          <p:cNvGrpSpPr/>
          <p:nvPr/>
        </p:nvGrpSpPr>
        <p:grpSpPr>
          <a:xfrm>
            <a:off x="731520" y="1519519"/>
            <a:ext cx="8290560" cy="5064161"/>
            <a:chOff x="0" y="-28575"/>
            <a:chExt cx="4094104" cy="2500820"/>
          </a:xfrm>
        </p:grpSpPr>
        <p:sp>
          <p:nvSpPr>
            <p:cNvPr id="606" name="Google Shape;606;p30"/>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0"/>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8" name="Google Shape;608;p30"/>
          <p:cNvGrpSpPr/>
          <p:nvPr/>
        </p:nvGrpSpPr>
        <p:grpSpPr>
          <a:xfrm>
            <a:off x="976005" y="793079"/>
            <a:ext cx="7784260" cy="1076412"/>
            <a:chOff x="0" y="-28575"/>
            <a:chExt cx="3844079" cy="531562"/>
          </a:xfrm>
        </p:grpSpPr>
        <p:sp>
          <p:nvSpPr>
            <p:cNvPr id="609" name="Google Shape;609;p30"/>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0"/>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11" name="Google Shape;611;p30"/>
          <p:cNvSpPr/>
          <p:nvPr/>
        </p:nvSpPr>
        <p:spPr>
          <a:xfrm>
            <a:off x="1936741" y="1869491"/>
            <a:ext cx="6027338" cy="4520504"/>
          </a:xfrm>
          <a:custGeom>
            <a:rect b="b" l="l" r="r" t="t"/>
            <a:pathLst>
              <a:path extrusionOk="0" h="4520504" w="6027338">
                <a:moveTo>
                  <a:pt x="0" y="0"/>
                </a:moveTo>
                <a:lnTo>
                  <a:pt x="6027339" y="0"/>
                </a:lnTo>
                <a:lnTo>
                  <a:pt x="6027339" y="4520504"/>
                </a:lnTo>
                <a:lnTo>
                  <a:pt x="0" y="4520504"/>
                </a:lnTo>
                <a:lnTo>
                  <a:pt x="0" y="0"/>
                </a:lnTo>
                <a:close/>
              </a:path>
            </a:pathLst>
          </a:custGeom>
          <a:blipFill rotWithShape="1">
            <a:blip r:embed="rId7">
              <a:alphaModFix/>
            </a:blip>
            <a:stretch>
              <a:fillRect b="0" l="0" r="0" t="0"/>
            </a:stretch>
          </a:blipFill>
          <a:ln>
            <a:noFill/>
          </a:ln>
        </p:spPr>
      </p:sp>
      <p:sp>
        <p:nvSpPr>
          <p:cNvPr id="612" name="Google Shape;612;p30"/>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613" name="Google Shape;613;p30"/>
          <p:cNvSpPr txBox="1"/>
          <p:nvPr/>
        </p:nvSpPr>
        <p:spPr>
          <a:xfrm>
            <a:off x="2843501" y="1513256"/>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FFFFFF"/>
                </a:solidFill>
                <a:latin typeface="Arial"/>
                <a:ea typeface="Arial"/>
                <a:cs typeface="Arial"/>
                <a:sym typeface="Arial"/>
              </a:rPr>
              <a:t>Fine tuning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617" name="Shape 617"/>
        <p:cNvGrpSpPr/>
        <p:nvPr/>
      </p:nvGrpSpPr>
      <p:grpSpPr>
        <a:xfrm>
          <a:off x="0" y="0"/>
          <a:ext cx="0" cy="0"/>
          <a:chOff x="0" y="0"/>
          <a:chExt cx="0" cy="0"/>
        </a:xfrm>
      </p:grpSpPr>
      <p:sp>
        <p:nvSpPr>
          <p:cNvPr id="618" name="Google Shape;618;p31"/>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619" name="Google Shape;619;p31"/>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620" name="Google Shape;620;p31"/>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621" name="Google Shape;621;p31"/>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622" name="Google Shape;622;p31"/>
          <p:cNvGrpSpPr/>
          <p:nvPr/>
        </p:nvGrpSpPr>
        <p:grpSpPr>
          <a:xfrm>
            <a:off x="731520" y="1519519"/>
            <a:ext cx="8290560" cy="5064161"/>
            <a:chOff x="0" y="-28575"/>
            <a:chExt cx="4094104" cy="2500820"/>
          </a:xfrm>
        </p:grpSpPr>
        <p:sp>
          <p:nvSpPr>
            <p:cNvPr id="623" name="Google Shape;623;p31"/>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1"/>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5" name="Google Shape;625;p31"/>
          <p:cNvGrpSpPr/>
          <p:nvPr/>
        </p:nvGrpSpPr>
        <p:grpSpPr>
          <a:xfrm>
            <a:off x="976005" y="793079"/>
            <a:ext cx="7784260" cy="1076412"/>
            <a:chOff x="0" y="-28575"/>
            <a:chExt cx="3844079" cy="531562"/>
          </a:xfrm>
        </p:grpSpPr>
        <p:sp>
          <p:nvSpPr>
            <p:cNvPr id="626" name="Google Shape;626;p31"/>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1"/>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28" name="Google Shape;628;p31"/>
          <p:cNvSpPr/>
          <p:nvPr/>
        </p:nvSpPr>
        <p:spPr>
          <a:xfrm>
            <a:off x="722855" y="3208105"/>
            <a:ext cx="4145280" cy="2761793"/>
          </a:xfrm>
          <a:custGeom>
            <a:rect b="b" l="l" r="r" t="t"/>
            <a:pathLst>
              <a:path extrusionOk="0" h="2761793" w="4145280">
                <a:moveTo>
                  <a:pt x="0" y="0"/>
                </a:moveTo>
                <a:lnTo>
                  <a:pt x="4145280" y="0"/>
                </a:lnTo>
                <a:lnTo>
                  <a:pt x="4145280" y="2761793"/>
                </a:lnTo>
                <a:lnTo>
                  <a:pt x="0" y="2761793"/>
                </a:lnTo>
                <a:lnTo>
                  <a:pt x="0" y="0"/>
                </a:lnTo>
                <a:close/>
              </a:path>
            </a:pathLst>
          </a:custGeom>
          <a:blipFill rotWithShape="1">
            <a:blip r:embed="rId7">
              <a:alphaModFix/>
            </a:blip>
            <a:stretch>
              <a:fillRect b="0" l="0" r="0" t="0"/>
            </a:stretch>
          </a:blipFill>
          <a:ln>
            <a:noFill/>
          </a:ln>
        </p:spPr>
      </p:sp>
      <p:sp>
        <p:nvSpPr>
          <p:cNvPr id="629" name="Google Shape;629;p31"/>
          <p:cNvSpPr/>
          <p:nvPr/>
        </p:nvSpPr>
        <p:spPr>
          <a:xfrm>
            <a:off x="4876800" y="3208105"/>
            <a:ext cx="4145280" cy="2761793"/>
          </a:xfrm>
          <a:custGeom>
            <a:rect b="b" l="l" r="r" t="t"/>
            <a:pathLst>
              <a:path extrusionOk="0" h="2761793" w="4145280">
                <a:moveTo>
                  <a:pt x="0" y="0"/>
                </a:moveTo>
                <a:lnTo>
                  <a:pt x="4145280" y="0"/>
                </a:lnTo>
                <a:lnTo>
                  <a:pt x="4145280" y="2761793"/>
                </a:lnTo>
                <a:lnTo>
                  <a:pt x="0" y="2761793"/>
                </a:lnTo>
                <a:lnTo>
                  <a:pt x="0" y="0"/>
                </a:lnTo>
                <a:close/>
              </a:path>
            </a:pathLst>
          </a:custGeom>
          <a:blipFill rotWithShape="1">
            <a:blip r:embed="rId8">
              <a:alphaModFix/>
            </a:blip>
            <a:stretch>
              <a:fillRect b="0" l="0" r="0" t="0"/>
            </a:stretch>
          </a:blipFill>
          <a:ln>
            <a:noFill/>
          </a:ln>
        </p:spPr>
      </p:sp>
      <p:sp>
        <p:nvSpPr>
          <p:cNvPr id="630" name="Google Shape;630;p31"/>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631" name="Google Shape;631;p31"/>
          <p:cNvSpPr txBox="1"/>
          <p:nvPr/>
        </p:nvSpPr>
        <p:spPr>
          <a:xfrm>
            <a:off x="5010063"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Fine tuning</a:t>
            </a:r>
            <a:endParaRPr/>
          </a:p>
        </p:txBody>
      </p:sp>
      <p:sp>
        <p:nvSpPr>
          <p:cNvPr id="632" name="Google Shape;632;p31"/>
          <p:cNvSpPr txBox="1"/>
          <p:nvPr/>
        </p:nvSpPr>
        <p:spPr>
          <a:xfrm>
            <a:off x="849661"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Zero shot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636" name="Shape 636"/>
        <p:cNvGrpSpPr/>
        <p:nvPr/>
      </p:nvGrpSpPr>
      <p:grpSpPr>
        <a:xfrm>
          <a:off x="0" y="0"/>
          <a:ext cx="0" cy="0"/>
          <a:chOff x="0" y="0"/>
          <a:chExt cx="0" cy="0"/>
        </a:xfrm>
      </p:grpSpPr>
      <p:sp>
        <p:nvSpPr>
          <p:cNvPr id="637" name="Google Shape;637;p32"/>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638" name="Google Shape;638;p32"/>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639" name="Google Shape;639;p32"/>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640" name="Google Shape;640;p32"/>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641" name="Google Shape;641;p32"/>
          <p:cNvGrpSpPr/>
          <p:nvPr/>
        </p:nvGrpSpPr>
        <p:grpSpPr>
          <a:xfrm>
            <a:off x="731520" y="1519519"/>
            <a:ext cx="8290560" cy="5064161"/>
            <a:chOff x="0" y="-28575"/>
            <a:chExt cx="4094104" cy="2500820"/>
          </a:xfrm>
        </p:grpSpPr>
        <p:sp>
          <p:nvSpPr>
            <p:cNvPr id="642" name="Google Shape;642;p32"/>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2"/>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4" name="Google Shape;644;p32"/>
          <p:cNvGrpSpPr/>
          <p:nvPr/>
        </p:nvGrpSpPr>
        <p:grpSpPr>
          <a:xfrm>
            <a:off x="976005" y="793079"/>
            <a:ext cx="7784260" cy="1076412"/>
            <a:chOff x="0" y="-28575"/>
            <a:chExt cx="3844079" cy="531562"/>
          </a:xfrm>
        </p:grpSpPr>
        <p:sp>
          <p:nvSpPr>
            <p:cNvPr id="645" name="Google Shape;645;p32"/>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2"/>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7" name="Google Shape;647;p32"/>
          <p:cNvSpPr/>
          <p:nvPr/>
        </p:nvSpPr>
        <p:spPr>
          <a:xfrm>
            <a:off x="731520" y="3293809"/>
            <a:ext cx="4136615" cy="2756020"/>
          </a:xfrm>
          <a:custGeom>
            <a:rect b="b" l="l" r="r" t="t"/>
            <a:pathLst>
              <a:path extrusionOk="0" h="2756020" w="4136615">
                <a:moveTo>
                  <a:pt x="0" y="0"/>
                </a:moveTo>
                <a:lnTo>
                  <a:pt x="4136615" y="0"/>
                </a:lnTo>
                <a:lnTo>
                  <a:pt x="4136615" y="2756020"/>
                </a:lnTo>
                <a:lnTo>
                  <a:pt x="0" y="2756020"/>
                </a:lnTo>
                <a:lnTo>
                  <a:pt x="0" y="0"/>
                </a:lnTo>
                <a:close/>
              </a:path>
            </a:pathLst>
          </a:custGeom>
          <a:blipFill rotWithShape="1">
            <a:blip r:embed="rId7">
              <a:alphaModFix/>
            </a:blip>
            <a:stretch>
              <a:fillRect b="0" l="0" r="0" t="0"/>
            </a:stretch>
          </a:blipFill>
          <a:ln>
            <a:noFill/>
          </a:ln>
        </p:spPr>
      </p:sp>
      <p:sp>
        <p:nvSpPr>
          <p:cNvPr id="648" name="Google Shape;648;p32"/>
          <p:cNvSpPr/>
          <p:nvPr/>
        </p:nvSpPr>
        <p:spPr>
          <a:xfrm>
            <a:off x="4885465" y="3293809"/>
            <a:ext cx="4136615" cy="2756020"/>
          </a:xfrm>
          <a:custGeom>
            <a:rect b="b" l="l" r="r" t="t"/>
            <a:pathLst>
              <a:path extrusionOk="0" h="2756020" w="4136615">
                <a:moveTo>
                  <a:pt x="0" y="0"/>
                </a:moveTo>
                <a:lnTo>
                  <a:pt x="4136615" y="0"/>
                </a:lnTo>
                <a:lnTo>
                  <a:pt x="4136615" y="2756020"/>
                </a:lnTo>
                <a:lnTo>
                  <a:pt x="0" y="2756020"/>
                </a:lnTo>
                <a:lnTo>
                  <a:pt x="0" y="0"/>
                </a:lnTo>
                <a:close/>
              </a:path>
            </a:pathLst>
          </a:custGeom>
          <a:blipFill rotWithShape="1">
            <a:blip r:embed="rId8">
              <a:alphaModFix/>
            </a:blip>
            <a:stretch>
              <a:fillRect b="0" l="0" r="0" t="0"/>
            </a:stretch>
          </a:blipFill>
          <a:ln>
            <a:noFill/>
          </a:ln>
        </p:spPr>
      </p:sp>
      <p:sp>
        <p:nvSpPr>
          <p:cNvPr id="649" name="Google Shape;649;p32"/>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650" name="Google Shape;650;p32"/>
          <p:cNvSpPr txBox="1"/>
          <p:nvPr/>
        </p:nvSpPr>
        <p:spPr>
          <a:xfrm>
            <a:off x="5010063"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Fine tuning</a:t>
            </a:r>
            <a:endParaRPr/>
          </a:p>
        </p:txBody>
      </p:sp>
      <p:sp>
        <p:nvSpPr>
          <p:cNvPr id="651" name="Google Shape;651;p32"/>
          <p:cNvSpPr txBox="1"/>
          <p:nvPr/>
        </p:nvSpPr>
        <p:spPr>
          <a:xfrm>
            <a:off x="849661"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Zero shot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655" name="Shape 655"/>
        <p:cNvGrpSpPr/>
        <p:nvPr/>
      </p:nvGrpSpPr>
      <p:grpSpPr>
        <a:xfrm>
          <a:off x="0" y="0"/>
          <a:ext cx="0" cy="0"/>
          <a:chOff x="0" y="0"/>
          <a:chExt cx="0" cy="0"/>
        </a:xfrm>
      </p:grpSpPr>
      <p:sp>
        <p:nvSpPr>
          <p:cNvPr id="656" name="Google Shape;656;p33"/>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657" name="Google Shape;657;p33"/>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658" name="Google Shape;658;p33"/>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659" name="Google Shape;659;p33"/>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660" name="Google Shape;660;p33"/>
          <p:cNvGrpSpPr/>
          <p:nvPr/>
        </p:nvGrpSpPr>
        <p:grpSpPr>
          <a:xfrm>
            <a:off x="731520" y="1519519"/>
            <a:ext cx="8290560" cy="5064161"/>
            <a:chOff x="0" y="-28575"/>
            <a:chExt cx="4094104" cy="2500820"/>
          </a:xfrm>
        </p:grpSpPr>
        <p:sp>
          <p:nvSpPr>
            <p:cNvPr id="661" name="Google Shape;661;p33"/>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3"/>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63" name="Google Shape;663;p33"/>
          <p:cNvGrpSpPr/>
          <p:nvPr/>
        </p:nvGrpSpPr>
        <p:grpSpPr>
          <a:xfrm>
            <a:off x="976005" y="793079"/>
            <a:ext cx="7784260" cy="1076412"/>
            <a:chOff x="0" y="-28575"/>
            <a:chExt cx="3844079" cy="531562"/>
          </a:xfrm>
        </p:grpSpPr>
        <p:sp>
          <p:nvSpPr>
            <p:cNvPr id="664" name="Google Shape;664;p33"/>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3"/>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66" name="Google Shape;666;p33"/>
          <p:cNvSpPr/>
          <p:nvPr/>
        </p:nvSpPr>
        <p:spPr>
          <a:xfrm>
            <a:off x="4868135" y="3205396"/>
            <a:ext cx="4153945" cy="2767566"/>
          </a:xfrm>
          <a:custGeom>
            <a:rect b="b" l="l" r="r" t="t"/>
            <a:pathLst>
              <a:path extrusionOk="0" h="2767566" w="4153945">
                <a:moveTo>
                  <a:pt x="0" y="0"/>
                </a:moveTo>
                <a:lnTo>
                  <a:pt x="4153945" y="0"/>
                </a:lnTo>
                <a:lnTo>
                  <a:pt x="4153945" y="2767565"/>
                </a:lnTo>
                <a:lnTo>
                  <a:pt x="0" y="2767565"/>
                </a:lnTo>
                <a:lnTo>
                  <a:pt x="0" y="0"/>
                </a:lnTo>
                <a:close/>
              </a:path>
            </a:pathLst>
          </a:custGeom>
          <a:blipFill rotWithShape="1">
            <a:blip r:embed="rId7">
              <a:alphaModFix/>
            </a:blip>
            <a:stretch>
              <a:fillRect b="0" l="0" r="0" t="0"/>
            </a:stretch>
          </a:blipFill>
          <a:ln>
            <a:noFill/>
          </a:ln>
        </p:spPr>
      </p:sp>
      <p:sp>
        <p:nvSpPr>
          <p:cNvPr id="667" name="Google Shape;667;p33"/>
          <p:cNvSpPr/>
          <p:nvPr/>
        </p:nvSpPr>
        <p:spPr>
          <a:xfrm>
            <a:off x="731520" y="3216941"/>
            <a:ext cx="4136615" cy="2756020"/>
          </a:xfrm>
          <a:custGeom>
            <a:rect b="b" l="l" r="r" t="t"/>
            <a:pathLst>
              <a:path extrusionOk="0" h="2756020" w="4136615">
                <a:moveTo>
                  <a:pt x="0" y="0"/>
                </a:moveTo>
                <a:lnTo>
                  <a:pt x="4136615" y="0"/>
                </a:lnTo>
                <a:lnTo>
                  <a:pt x="4136615" y="2756020"/>
                </a:lnTo>
                <a:lnTo>
                  <a:pt x="0" y="2756020"/>
                </a:lnTo>
                <a:lnTo>
                  <a:pt x="0" y="0"/>
                </a:lnTo>
                <a:close/>
              </a:path>
            </a:pathLst>
          </a:custGeom>
          <a:blipFill rotWithShape="1">
            <a:blip r:embed="rId8">
              <a:alphaModFix/>
            </a:blip>
            <a:stretch>
              <a:fillRect b="0" l="0" r="0" t="0"/>
            </a:stretch>
          </a:blipFill>
          <a:ln>
            <a:noFill/>
          </a:ln>
        </p:spPr>
      </p:sp>
      <p:sp>
        <p:nvSpPr>
          <p:cNvPr id="668" name="Google Shape;668;p33"/>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669" name="Google Shape;669;p33"/>
          <p:cNvSpPr txBox="1"/>
          <p:nvPr/>
        </p:nvSpPr>
        <p:spPr>
          <a:xfrm>
            <a:off x="5010063"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Fine tuning</a:t>
            </a:r>
            <a:endParaRPr/>
          </a:p>
        </p:txBody>
      </p:sp>
      <p:sp>
        <p:nvSpPr>
          <p:cNvPr id="670" name="Google Shape;670;p33"/>
          <p:cNvSpPr txBox="1"/>
          <p:nvPr/>
        </p:nvSpPr>
        <p:spPr>
          <a:xfrm>
            <a:off x="849661"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Zero shot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674" name="Shape 674"/>
        <p:cNvGrpSpPr/>
        <p:nvPr/>
      </p:nvGrpSpPr>
      <p:grpSpPr>
        <a:xfrm>
          <a:off x="0" y="0"/>
          <a:ext cx="0" cy="0"/>
          <a:chOff x="0" y="0"/>
          <a:chExt cx="0" cy="0"/>
        </a:xfrm>
      </p:grpSpPr>
      <p:sp>
        <p:nvSpPr>
          <p:cNvPr id="675" name="Google Shape;675;p34"/>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676" name="Google Shape;676;p34"/>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677" name="Google Shape;677;p34"/>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678" name="Google Shape;678;p34"/>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679" name="Google Shape;679;p34"/>
          <p:cNvGrpSpPr/>
          <p:nvPr/>
        </p:nvGrpSpPr>
        <p:grpSpPr>
          <a:xfrm>
            <a:off x="731520" y="1519519"/>
            <a:ext cx="8290560" cy="5064161"/>
            <a:chOff x="0" y="-28575"/>
            <a:chExt cx="4094104" cy="2500820"/>
          </a:xfrm>
        </p:grpSpPr>
        <p:sp>
          <p:nvSpPr>
            <p:cNvPr id="680" name="Google Shape;680;p34"/>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4"/>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82" name="Google Shape;682;p34"/>
          <p:cNvGrpSpPr/>
          <p:nvPr/>
        </p:nvGrpSpPr>
        <p:grpSpPr>
          <a:xfrm>
            <a:off x="976005" y="793079"/>
            <a:ext cx="7784260" cy="1076412"/>
            <a:chOff x="0" y="-28575"/>
            <a:chExt cx="3844079" cy="531562"/>
          </a:xfrm>
        </p:grpSpPr>
        <p:sp>
          <p:nvSpPr>
            <p:cNvPr id="683" name="Google Shape;683;p34"/>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4"/>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85" name="Google Shape;685;p34"/>
          <p:cNvSpPr/>
          <p:nvPr/>
        </p:nvSpPr>
        <p:spPr>
          <a:xfrm>
            <a:off x="731520" y="3199250"/>
            <a:ext cx="4278543" cy="2850579"/>
          </a:xfrm>
          <a:custGeom>
            <a:rect b="b" l="l" r="r" t="t"/>
            <a:pathLst>
              <a:path extrusionOk="0" h="2850579" w="4278543">
                <a:moveTo>
                  <a:pt x="0" y="0"/>
                </a:moveTo>
                <a:lnTo>
                  <a:pt x="4278543" y="0"/>
                </a:lnTo>
                <a:lnTo>
                  <a:pt x="4278543" y="2850579"/>
                </a:lnTo>
                <a:lnTo>
                  <a:pt x="0" y="2850579"/>
                </a:lnTo>
                <a:lnTo>
                  <a:pt x="0" y="0"/>
                </a:lnTo>
                <a:close/>
              </a:path>
            </a:pathLst>
          </a:custGeom>
          <a:blipFill rotWithShape="1">
            <a:blip r:embed="rId7">
              <a:alphaModFix/>
            </a:blip>
            <a:stretch>
              <a:fillRect b="0" l="0" r="0" t="0"/>
            </a:stretch>
          </a:blipFill>
          <a:ln>
            <a:noFill/>
          </a:ln>
        </p:spPr>
      </p:sp>
      <p:sp>
        <p:nvSpPr>
          <p:cNvPr id="686" name="Google Shape;686;p34"/>
          <p:cNvSpPr/>
          <p:nvPr/>
        </p:nvSpPr>
        <p:spPr>
          <a:xfrm>
            <a:off x="4743537" y="3199250"/>
            <a:ext cx="4278543" cy="2850579"/>
          </a:xfrm>
          <a:custGeom>
            <a:rect b="b" l="l" r="r" t="t"/>
            <a:pathLst>
              <a:path extrusionOk="0" h="2850579" w="4278543">
                <a:moveTo>
                  <a:pt x="0" y="0"/>
                </a:moveTo>
                <a:lnTo>
                  <a:pt x="4278543" y="0"/>
                </a:lnTo>
                <a:lnTo>
                  <a:pt x="4278543" y="2850579"/>
                </a:lnTo>
                <a:lnTo>
                  <a:pt x="0" y="2850579"/>
                </a:lnTo>
                <a:lnTo>
                  <a:pt x="0" y="0"/>
                </a:lnTo>
                <a:close/>
              </a:path>
            </a:pathLst>
          </a:custGeom>
          <a:blipFill rotWithShape="1">
            <a:blip r:embed="rId8">
              <a:alphaModFix/>
            </a:blip>
            <a:stretch>
              <a:fillRect b="0" l="0" r="0" t="0"/>
            </a:stretch>
          </a:blipFill>
          <a:ln>
            <a:noFill/>
          </a:ln>
        </p:spPr>
      </p:sp>
      <p:sp>
        <p:nvSpPr>
          <p:cNvPr id="687" name="Google Shape;687;p34"/>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
        <p:nvSpPr>
          <p:cNvPr id="688" name="Google Shape;688;p34"/>
          <p:cNvSpPr txBox="1"/>
          <p:nvPr/>
        </p:nvSpPr>
        <p:spPr>
          <a:xfrm>
            <a:off x="5010063"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Fine tuning</a:t>
            </a:r>
            <a:endParaRPr/>
          </a:p>
        </p:txBody>
      </p:sp>
      <p:sp>
        <p:nvSpPr>
          <p:cNvPr id="689" name="Google Shape;689;p34"/>
          <p:cNvSpPr txBox="1"/>
          <p:nvPr/>
        </p:nvSpPr>
        <p:spPr>
          <a:xfrm>
            <a:off x="849661" y="2666135"/>
            <a:ext cx="3750202"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Zero shot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693" name="Shape 693"/>
        <p:cNvGrpSpPr/>
        <p:nvPr/>
      </p:nvGrpSpPr>
      <p:grpSpPr>
        <a:xfrm>
          <a:off x="0" y="0"/>
          <a:ext cx="0" cy="0"/>
          <a:chOff x="0" y="0"/>
          <a:chExt cx="0" cy="0"/>
        </a:xfrm>
      </p:grpSpPr>
      <p:sp>
        <p:nvSpPr>
          <p:cNvPr id="694" name="Google Shape;694;p35"/>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695" name="Google Shape;695;p35"/>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696" name="Google Shape;696;p35"/>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697" name="Google Shape;697;p35"/>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698" name="Google Shape;698;p35"/>
          <p:cNvGrpSpPr/>
          <p:nvPr/>
        </p:nvGrpSpPr>
        <p:grpSpPr>
          <a:xfrm>
            <a:off x="722855" y="1519519"/>
            <a:ext cx="8290560" cy="5064161"/>
            <a:chOff x="0" y="-28575"/>
            <a:chExt cx="4094104" cy="2500820"/>
          </a:xfrm>
        </p:grpSpPr>
        <p:sp>
          <p:nvSpPr>
            <p:cNvPr id="699" name="Google Shape;699;p35"/>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5"/>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01" name="Google Shape;701;p35"/>
          <p:cNvGrpSpPr/>
          <p:nvPr/>
        </p:nvGrpSpPr>
        <p:grpSpPr>
          <a:xfrm>
            <a:off x="976005" y="793079"/>
            <a:ext cx="7784260" cy="1076412"/>
            <a:chOff x="0" y="-28575"/>
            <a:chExt cx="3844079" cy="531562"/>
          </a:xfrm>
        </p:grpSpPr>
        <p:sp>
          <p:nvSpPr>
            <p:cNvPr id="702" name="Google Shape;702;p35"/>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5"/>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04" name="Google Shape;704;p35"/>
          <p:cNvSpPr/>
          <p:nvPr/>
        </p:nvSpPr>
        <p:spPr>
          <a:xfrm>
            <a:off x="1558018" y="1869491"/>
            <a:ext cx="6882027" cy="4714189"/>
          </a:xfrm>
          <a:custGeom>
            <a:rect b="b" l="l" r="r" t="t"/>
            <a:pathLst>
              <a:path extrusionOk="0" h="4714189" w="6882027">
                <a:moveTo>
                  <a:pt x="0" y="0"/>
                </a:moveTo>
                <a:lnTo>
                  <a:pt x="6882027" y="0"/>
                </a:lnTo>
                <a:lnTo>
                  <a:pt x="6882027" y="4714189"/>
                </a:lnTo>
                <a:lnTo>
                  <a:pt x="0" y="4714189"/>
                </a:lnTo>
                <a:lnTo>
                  <a:pt x="0" y="0"/>
                </a:lnTo>
                <a:close/>
              </a:path>
            </a:pathLst>
          </a:custGeom>
          <a:blipFill rotWithShape="1">
            <a:blip r:embed="rId7">
              <a:alphaModFix/>
            </a:blip>
            <a:stretch>
              <a:fillRect b="0" l="0" r="0" t="0"/>
            </a:stretch>
          </a:blipFill>
          <a:ln>
            <a:noFill/>
          </a:ln>
        </p:spPr>
      </p:sp>
      <p:sp>
        <p:nvSpPr>
          <p:cNvPr id="705" name="Google Shape;705;p35"/>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709" name="Shape 709"/>
        <p:cNvGrpSpPr/>
        <p:nvPr/>
      </p:nvGrpSpPr>
      <p:grpSpPr>
        <a:xfrm>
          <a:off x="0" y="0"/>
          <a:ext cx="0" cy="0"/>
          <a:chOff x="0" y="0"/>
          <a:chExt cx="0" cy="0"/>
        </a:xfrm>
      </p:grpSpPr>
      <p:sp>
        <p:nvSpPr>
          <p:cNvPr id="710" name="Google Shape;710;p36"/>
          <p:cNvSpPr/>
          <p:nvPr/>
        </p:nvSpPr>
        <p:spPr>
          <a:xfrm rot="-5098881">
            <a:off x="6840458" y="5485968"/>
            <a:ext cx="4729003" cy="4827327"/>
          </a:xfrm>
          <a:custGeom>
            <a:rect b="b" l="l" r="r" t="t"/>
            <a:pathLst>
              <a:path extrusionOk="0" h="4827327" w="4729003">
                <a:moveTo>
                  <a:pt x="0" y="0"/>
                </a:moveTo>
                <a:lnTo>
                  <a:pt x="4729004" y="0"/>
                </a:lnTo>
                <a:lnTo>
                  <a:pt x="4729004" y="4827327"/>
                </a:lnTo>
                <a:lnTo>
                  <a:pt x="0" y="4827327"/>
                </a:lnTo>
                <a:lnTo>
                  <a:pt x="0" y="0"/>
                </a:lnTo>
                <a:close/>
              </a:path>
            </a:pathLst>
          </a:custGeom>
          <a:blipFill rotWithShape="1">
            <a:blip r:embed="rId3">
              <a:alphaModFix/>
            </a:blip>
            <a:stretch>
              <a:fillRect b="0" l="0" r="0" t="0"/>
            </a:stretch>
          </a:blipFill>
          <a:ln>
            <a:noFill/>
          </a:ln>
        </p:spPr>
      </p:sp>
      <p:sp>
        <p:nvSpPr>
          <p:cNvPr id="711" name="Google Shape;711;p36"/>
          <p:cNvSpPr/>
          <p:nvPr/>
        </p:nvSpPr>
        <p:spPr>
          <a:xfrm flipH="1" rot="5400000">
            <a:off x="269168" y="5195330"/>
            <a:ext cx="1949057" cy="2487393"/>
          </a:xfrm>
          <a:custGeom>
            <a:rect b="b" l="l" r="r" t="t"/>
            <a:pathLst>
              <a:path extrusionOk="0" h="2487393" w="1949057">
                <a:moveTo>
                  <a:pt x="0" y="2487392"/>
                </a:moveTo>
                <a:lnTo>
                  <a:pt x="1949057" y="2487392"/>
                </a:lnTo>
                <a:lnTo>
                  <a:pt x="1949057" y="0"/>
                </a:lnTo>
                <a:lnTo>
                  <a:pt x="0" y="0"/>
                </a:lnTo>
                <a:lnTo>
                  <a:pt x="0" y="2487392"/>
                </a:lnTo>
                <a:close/>
              </a:path>
            </a:pathLst>
          </a:custGeom>
          <a:blipFill rotWithShape="1">
            <a:blip r:embed="rId4">
              <a:alphaModFix/>
            </a:blip>
            <a:stretch>
              <a:fillRect b="-47966" l="-57592" r="0" t="0"/>
            </a:stretch>
          </a:blipFill>
          <a:ln>
            <a:noFill/>
          </a:ln>
        </p:spPr>
      </p:sp>
      <p:sp>
        <p:nvSpPr>
          <p:cNvPr id="712" name="Google Shape;712;p36"/>
          <p:cNvSpPr/>
          <p:nvPr/>
        </p:nvSpPr>
        <p:spPr>
          <a:xfrm rot="-3813017">
            <a:off x="8291017" y="-242600"/>
            <a:ext cx="1827887" cy="2321796"/>
          </a:xfrm>
          <a:custGeom>
            <a:rect b="b" l="l" r="r" t="t"/>
            <a:pathLst>
              <a:path extrusionOk="0" h="2321796" w="1827887">
                <a:moveTo>
                  <a:pt x="1827886" y="2321796"/>
                </a:moveTo>
                <a:lnTo>
                  <a:pt x="0" y="2321796"/>
                </a:lnTo>
                <a:lnTo>
                  <a:pt x="0" y="0"/>
                </a:lnTo>
                <a:lnTo>
                  <a:pt x="1827886" y="0"/>
                </a:lnTo>
                <a:lnTo>
                  <a:pt x="1827886" y="2321796"/>
                </a:lnTo>
                <a:close/>
              </a:path>
            </a:pathLst>
          </a:custGeom>
          <a:blipFill rotWithShape="1">
            <a:blip r:embed="rId5">
              <a:alphaModFix/>
            </a:blip>
            <a:stretch>
              <a:fillRect b="0" l="0" r="0" t="0"/>
            </a:stretch>
          </a:blipFill>
          <a:ln>
            <a:noFill/>
          </a:ln>
        </p:spPr>
      </p:sp>
      <p:sp>
        <p:nvSpPr>
          <p:cNvPr id="713" name="Google Shape;713;p36"/>
          <p:cNvSpPr/>
          <p:nvPr/>
        </p:nvSpPr>
        <p:spPr>
          <a:xfrm>
            <a:off x="-237420" y="-171308"/>
            <a:ext cx="2174161" cy="2329711"/>
          </a:xfrm>
          <a:custGeom>
            <a:rect b="b" l="l" r="r" t="t"/>
            <a:pathLst>
              <a:path extrusionOk="0" h="2329711" w="2174161">
                <a:moveTo>
                  <a:pt x="0" y="0"/>
                </a:moveTo>
                <a:lnTo>
                  <a:pt x="2174161" y="0"/>
                </a:lnTo>
                <a:lnTo>
                  <a:pt x="2174161" y="2329711"/>
                </a:lnTo>
                <a:lnTo>
                  <a:pt x="0" y="2329711"/>
                </a:lnTo>
                <a:lnTo>
                  <a:pt x="0" y="0"/>
                </a:lnTo>
                <a:close/>
              </a:path>
            </a:pathLst>
          </a:custGeom>
          <a:blipFill rotWithShape="1">
            <a:blip r:embed="rId6">
              <a:alphaModFix/>
            </a:blip>
            <a:stretch>
              <a:fillRect b="0" l="0" r="0" t="0"/>
            </a:stretch>
          </a:blipFill>
          <a:ln>
            <a:noFill/>
          </a:ln>
        </p:spPr>
      </p:sp>
      <p:grpSp>
        <p:nvGrpSpPr>
          <p:cNvPr id="714" name="Google Shape;714;p36"/>
          <p:cNvGrpSpPr/>
          <p:nvPr/>
        </p:nvGrpSpPr>
        <p:grpSpPr>
          <a:xfrm>
            <a:off x="722855" y="1519519"/>
            <a:ext cx="8290560" cy="5064161"/>
            <a:chOff x="0" y="-28575"/>
            <a:chExt cx="4094104" cy="2500820"/>
          </a:xfrm>
        </p:grpSpPr>
        <p:sp>
          <p:nvSpPr>
            <p:cNvPr id="715" name="Google Shape;715;p36"/>
            <p:cNvSpPr/>
            <p:nvPr/>
          </p:nvSpPr>
          <p:spPr>
            <a:xfrm>
              <a:off x="0" y="0"/>
              <a:ext cx="4094104" cy="2472245"/>
            </a:xfrm>
            <a:custGeom>
              <a:rect b="b" l="l" r="r" t="t"/>
              <a:pathLst>
                <a:path extrusionOk="0" h="2472245" w="4094104">
                  <a:moveTo>
                    <a:pt x="28015" y="0"/>
                  </a:moveTo>
                  <a:lnTo>
                    <a:pt x="4066089" y="0"/>
                  </a:lnTo>
                  <a:cubicBezTo>
                    <a:pt x="4073519" y="0"/>
                    <a:pt x="4080644" y="2952"/>
                    <a:pt x="4085898" y="8205"/>
                  </a:cubicBezTo>
                  <a:cubicBezTo>
                    <a:pt x="4091152" y="13459"/>
                    <a:pt x="4094104" y="20585"/>
                    <a:pt x="4094104" y="28015"/>
                  </a:cubicBezTo>
                  <a:lnTo>
                    <a:pt x="4094104" y="2444231"/>
                  </a:lnTo>
                  <a:cubicBezTo>
                    <a:pt x="4094104" y="2451661"/>
                    <a:pt x="4091152" y="2458786"/>
                    <a:pt x="4085898" y="2464040"/>
                  </a:cubicBezTo>
                  <a:cubicBezTo>
                    <a:pt x="4080644" y="2469294"/>
                    <a:pt x="4073519" y="2472245"/>
                    <a:pt x="4066089" y="2472245"/>
                  </a:cubicBezTo>
                  <a:lnTo>
                    <a:pt x="28015" y="2472245"/>
                  </a:lnTo>
                  <a:cubicBezTo>
                    <a:pt x="20585" y="2472245"/>
                    <a:pt x="13459" y="2469294"/>
                    <a:pt x="8205" y="2464040"/>
                  </a:cubicBezTo>
                  <a:cubicBezTo>
                    <a:pt x="2952" y="2458786"/>
                    <a:pt x="0" y="2451661"/>
                    <a:pt x="0" y="2444231"/>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6"/>
            <p:cNvSpPr txBox="1"/>
            <p:nvPr/>
          </p:nvSpPr>
          <p:spPr>
            <a:xfrm>
              <a:off x="0" y="-28575"/>
              <a:ext cx="4094104" cy="2500820"/>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17" name="Google Shape;717;p36"/>
          <p:cNvGrpSpPr/>
          <p:nvPr/>
        </p:nvGrpSpPr>
        <p:grpSpPr>
          <a:xfrm>
            <a:off x="976005" y="793079"/>
            <a:ext cx="7784260" cy="1076412"/>
            <a:chOff x="0" y="-28575"/>
            <a:chExt cx="3844079" cy="531562"/>
          </a:xfrm>
        </p:grpSpPr>
        <p:sp>
          <p:nvSpPr>
            <p:cNvPr id="718" name="Google Shape;718;p36"/>
            <p:cNvSpPr/>
            <p:nvPr/>
          </p:nvSpPr>
          <p:spPr>
            <a:xfrm>
              <a:off x="0" y="0"/>
              <a:ext cx="3844079" cy="502987"/>
            </a:xfrm>
            <a:custGeom>
              <a:rect b="b" l="l" r="r" t="t"/>
              <a:pathLst>
                <a:path extrusionOk="0" h="502987" w="3844079">
                  <a:moveTo>
                    <a:pt x="29837" y="0"/>
                  </a:moveTo>
                  <a:lnTo>
                    <a:pt x="3814242" y="0"/>
                  </a:lnTo>
                  <a:cubicBezTo>
                    <a:pt x="3822155" y="0"/>
                    <a:pt x="3829745" y="3144"/>
                    <a:pt x="3835340" y="8739"/>
                  </a:cubicBezTo>
                  <a:cubicBezTo>
                    <a:pt x="3840935" y="14334"/>
                    <a:pt x="3844079" y="21924"/>
                    <a:pt x="3844079" y="29837"/>
                  </a:cubicBezTo>
                  <a:lnTo>
                    <a:pt x="3844079" y="473150"/>
                  </a:lnTo>
                  <a:cubicBezTo>
                    <a:pt x="3844079" y="481063"/>
                    <a:pt x="3840935" y="488652"/>
                    <a:pt x="3835340" y="494248"/>
                  </a:cubicBezTo>
                  <a:cubicBezTo>
                    <a:pt x="3829745" y="499843"/>
                    <a:pt x="3822155" y="502987"/>
                    <a:pt x="3814242" y="502987"/>
                  </a:cubicBezTo>
                  <a:lnTo>
                    <a:pt x="29837" y="502987"/>
                  </a:lnTo>
                  <a:cubicBezTo>
                    <a:pt x="21924" y="502987"/>
                    <a:pt x="14334" y="499843"/>
                    <a:pt x="8739" y="494248"/>
                  </a:cubicBezTo>
                  <a:cubicBezTo>
                    <a:pt x="3144" y="488652"/>
                    <a:pt x="0" y="481063"/>
                    <a:pt x="0" y="473150"/>
                  </a:cubicBezTo>
                  <a:lnTo>
                    <a:pt x="0" y="29837"/>
                  </a:lnTo>
                  <a:cubicBezTo>
                    <a:pt x="0" y="21924"/>
                    <a:pt x="3144" y="14334"/>
                    <a:pt x="8739" y="8739"/>
                  </a:cubicBezTo>
                  <a:cubicBezTo>
                    <a:pt x="14334" y="3144"/>
                    <a:pt x="21924" y="0"/>
                    <a:pt x="29837"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6"/>
            <p:cNvSpPr txBox="1"/>
            <p:nvPr/>
          </p:nvSpPr>
          <p:spPr>
            <a:xfrm>
              <a:off x="0" y="-28575"/>
              <a:ext cx="3844079"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20" name="Google Shape;720;p36"/>
          <p:cNvSpPr/>
          <p:nvPr/>
        </p:nvSpPr>
        <p:spPr>
          <a:xfrm>
            <a:off x="1474814" y="1869491"/>
            <a:ext cx="6803971" cy="4660720"/>
          </a:xfrm>
          <a:custGeom>
            <a:rect b="b" l="l" r="r" t="t"/>
            <a:pathLst>
              <a:path extrusionOk="0" h="4660720" w="6803971">
                <a:moveTo>
                  <a:pt x="0" y="0"/>
                </a:moveTo>
                <a:lnTo>
                  <a:pt x="6803972" y="0"/>
                </a:lnTo>
                <a:lnTo>
                  <a:pt x="6803972" y="4660720"/>
                </a:lnTo>
                <a:lnTo>
                  <a:pt x="0" y="4660720"/>
                </a:lnTo>
                <a:lnTo>
                  <a:pt x="0" y="0"/>
                </a:lnTo>
                <a:close/>
              </a:path>
            </a:pathLst>
          </a:custGeom>
          <a:blipFill rotWithShape="1">
            <a:blip r:embed="rId7">
              <a:alphaModFix/>
            </a:blip>
            <a:stretch>
              <a:fillRect b="0" l="0" r="0" t="0"/>
            </a:stretch>
          </a:blipFill>
          <a:ln>
            <a:noFill/>
          </a:ln>
        </p:spPr>
      </p:sp>
      <p:sp>
        <p:nvSpPr>
          <p:cNvPr id="721" name="Google Shape;721;p36"/>
          <p:cNvSpPr txBox="1"/>
          <p:nvPr/>
        </p:nvSpPr>
        <p:spPr>
          <a:xfrm>
            <a:off x="402649" y="1143259"/>
            <a:ext cx="8948303" cy="44915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433" u="none" cap="none" strike="noStrike">
                <a:solidFill>
                  <a:srgbClr val="FFFFFF"/>
                </a:solidFill>
                <a:latin typeface="Fredoka"/>
                <a:ea typeface="Fredoka"/>
                <a:cs typeface="Fredoka"/>
                <a:sym typeface="Fredoka"/>
              </a:rPr>
              <a:t>RESULT OF FINE TUNING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725" name="Shape 725"/>
        <p:cNvGrpSpPr/>
        <p:nvPr/>
      </p:nvGrpSpPr>
      <p:grpSpPr>
        <a:xfrm>
          <a:off x="0" y="0"/>
          <a:ext cx="0" cy="0"/>
          <a:chOff x="0" y="0"/>
          <a:chExt cx="0" cy="0"/>
        </a:xfrm>
      </p:grpSpPr>
      <p:sp>
        <p:nvSpPr>
          <p:cNvPr id="726" name="Google Shape;726;p37"/>
          <p:cNvSpPr/>
          <p:nvPr/>
        </p:nvSpPr>
        <p:spPr>
          <a:xfrm>
            <a:off x="0" y="24503"/>
            <a:ext cx="1367108" cy="1464917"/>
          </a:xfrm>
          <a:custGeom>
            <a:rect b="b" l="l" r="r" t="t"/>
            <a:pathLst>
              <a:path extrusionOk="0" h="1464917" w="1367108">
                <a:moveTo>
                  <a:pt x="0" y="0"/>
                </a:moveTo>
                <a:lnTo>
                  <a:pt x="1367108" y="0"/>
                </a:lnTo>
                <a:lnTo>
                  <a:pt x="1367108" y="1464918"/>
                </a:lnTo>
                <a:lnTo>
                  <a:pt x="0" y="1464918"/>
                </a:lnTo>
                <a:lnTo>
                  <a:pt x="0" y="0"/>
                </a:lnTo>
                <a:close/>
              </a:path>
            </a:pathLst>
          </a:custGeom>
          <a:blipFill rotWithShape="1">
            <a:blip r:embed="rId3">
              <a:alphaModFix/>
            </a:blip>
            <a:stretch>
              <a:fillRect b="0" l="0" r="0" t="0"/>
            </a:stretch>
          </a:blipFill>
          <a:ln>
            <a:noFill/>
          </a:ln>
        </p:spPr>
      </p:sp>
      <p:sp>
        <p:nvSpPr>
          <p:cNvPr id="727" name="Google Shape;727;p37"/>
          <p:cNvSpPr/>
          <p:nvPr/>
        </p:nvSpPr>
        <p:spPr>
          <a:xfrm rot="-9600471">
            <a:off x="-1556721" y="5713656"/>
            <a:ext cx="4210722" cy="2511122"/>
          </a:xfrm>
          <a:custGeom>
            <a:rect b="b" l="l" r="r" t="t"/>
            <a:pathLst>
              <a:path extrusionOk="0" h="2511122" w="4210722">
                <a:moveTo>
                  <a:pt x="0" y="0"/>
                </a:moveTo>
                <a:lnTo>
                  <a:pt x="4210722" y="0"/>
                </a:lnTo>
                <a:lnTo>
                  <a:pt x="4210722" y="2511122"/>
                </a:lnTo>
                <a:lnTo>
                  <a:pt x="0" y="2511122"/>
                </a:lnTo>
                <a:lnTo>
                  <a:pt x="0" y="0"/>
                </a:lnTo>
                <a:close/>
              </a:path>
            </a:pathLst>
          </a:custGeom>
          <a:blipFill rotWithShape="1">
            <a:blip r:embed="rId4">
              <a:alphaModFix/>
            </a:blip>
            <a:stretch>
              <a:fillRect b="0" l="0" r="0" t="0"/>
            </a:stretch>
          </a:blipFill>
          <a:ln>
            <a:noFill/>
          </a:ln>
        </p:spPr>
      </p:sp>
      <p:grpSp>
        <p:nvGrpSpPr>
          <p:cNvPr id="728" name="Google Shape;728;p37"/>
          <p:cNvGrpSpPr/>
          <p:nvPr/>
        </p:nvGrpSpPr>
        <p:grpSpPr>
          <a:xfrm>
            <a:off x="731520" y="1940831"/>
            <a:ext cx="8290560" cy="3884948"/>
            <a:chOff x="0" y="-28575"/>
            <a:chExt cx="4094104" cy="1918493"/>
          </a:xfrm>
        </p:grpSpPr>
        <p:sp>
          <p:nvSpPr>
            <p:cNvPr id="729" name="Google Shape;729;p37"/>
            <p:cNvSpPr/>
            <p:nvPr/>
          </p:nvSpPr>
          <p:spPr>
            <a:xfrm>
              <a:off x="0" y="0"/>
              <a:ext cx="4094104" cy="1889918"/>
            </a:xfrm>
            <a:custGeom>
              <a:rect b="b" l="l" r="r" t="t"/>
              <a:pathLst>
                <a:path extrusionOk="0" h="1889918" w="4094104">
                  <a:moveTo>
                    <a:pt x="28015" y="0"/>
                  </a:moveTo>
                  <a:lnTo>
                    <a:pt x="4066089" y="0"/>
                  </a:lnTo>
                  <a:cubicBezTo>
                    <a:pt x="4073519" y="0"/>
                    <a:pt x="4080644" y="2952"/>
                    <a:pt x="4085898" y="8205"/>
                  </a:cubicBezTo>
                  <a:cubicBezTo>
                    <a:pt x="4091152" y="13459"/>
                    <a:pt x="4094104" y="20585"/>
                    <a:pt x="4094104" y="28015"/>
                  </a:cubicBezTo>
                  <a:lnTo>
                    <a:pt x="4094104" y="1861903"/>
                  </a:lnTo>
                  <a:cubicBezTo>
                    <a:pt x="4094104" y="1877376"/>
                    <a:pt x="4081561" y="1889918"/>
                    <a:pt x="4066089" y="1889918"/>
                  </a:cubicBezTo>
                  <a:lnTo>
                    <a:pt x="28015" y="1889918"/>
                  </a:lnTo>
                  <a:cubicBezTo>
                    <a:pt x="20585" y="1889918"/>
                    <a:pt x="13459" y="1886967"/>
                    <a:pt x="8205" y="1881713"/>
                  </a:cubicBezTo>
                  <a:cubicBezTo>
                    <a:pt x="2952" y="1876459"/>
                    <a:pt x="0" y="1869333"/>
                    <a:pt x="0" y="1861903"/>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7"/>
            <p:cNvSpPr txBox="1"/>
            <p:nvPr/>
          </p:nvSpPr>
          <p:spPr>
            <a:xfrm>
              <a:off x="0" y="-28575"/>
              <a:ext cx="4094104" cy="1918493"/>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1" name="Google Shape;731;p37"/>
          <p:cNvSpPr/>
          <p:nvPr/>
        </p:nvSpPr>
        <p:spPr>
          <a:xfrm flipH="1" rot="3991733">
            <a:off x="-325034" y="5473932"/>
            <a:ext cx="1747349" cy="2219496"/>
          </a:xfrm>
          <a:custGeom>
            <a:rect b="b" l="l" r="r" t="t"/>
            <a:pathLst>
              <a:path extrusionOk="0" h="2219496" w="1747349">
                <a:moveTo>
                  <a:pt x="0" y="2219496"/>
                </a:moveTo>
                <a:lnTo>
                  <a:pt x="1747348" y="2219496"/>
                </a:lnTo>
                <a:lnTo>
                  <a:pt x="1747348" y="0"/>
                </a:lnTo>
                <a:lnTo>
                  <a:pt x="0" y="0"/>
                </a:lnTo>
                <a:lnTo>
                  <a:pt x="0" y="2219496"/>
                </a:lnTo>
                <a:close/>
              </a:path>
            </a:pathLst>
          </a:custGeom>
          <a:blipFill rotWithShape="1">
            <a:blip r:embed="rId5">
              <a:alphaModFix/>
            </a:blip>
            <a:stretch>
              <a:fillRect b="0" l="0" r="0" t="0"/>
            </a:stretch>
          </a:blipFill>
          <a:ln>
            <a:noFill/>
          </a:ln>
        </p:spPr>
      </p:sp>
      <p:sp>
        <p:nvSpPr>
          <p:cNvPr id="732" name="Google Shape;732;p37"/>
          <p:cNvSpPr/>
          <p:nvPr/>
        </p:nvSpPr>
        <p:spPr>
          <a:xfrm rot="-3650248">
            <a:off x="8151608" y="5422468"/>
            <a:ext cx="1740944" cy="2211360"/>
          </a:xfrm>
          <a:custGeom>
            <a:rect b="b" l="l" r="r" t="t"/>
            <a:pathLst>
              <a:path extrusionOk="0" h="2211360" w="1740944">
                <a:moveTo>
                  <a:pt x="1740944" y="2211360"/>
                </a:moveTo>
                <a:lnTo>
                  <a:pt x="0" y="2211360"/>
                </a:lnTo>
                <a:lnTo>
                  <a:pt x="0" y="0"/>
                </a:lnTo>
                <a:lnTo>
                  <a:pt x="1740944" y="0"/>
                </a:lnTo>
                <a:lnTo>
                  <a:pt x="1740944" y="2211360"/>
                </a:lnTo>
                <a:close/>
              </a:path>
            </a:pathLst>
          </a:custGeom>
          <a:blipFill rotWithShape="1">
            <a:blip r:embed="rId5">
              <a:alphaModFix/>
            </a:blip>
            <a:stretch>
              <a:fillRect b="0" l="0" r="0" t="0"/>
            </a:stretch>
          </a:blipFill>
          <a:ln>
            <a:noFill/>
          </a:ln>
        </p:spPr>
      </p:sp>
      <p:grpSp>
        <p:nvGrpSpPr>
          <p:cNvPr id="733" name="Google Shape;733;p37"/>
          <p:cNvGrpSpPr/>
          <p:nvPr/>
        </p:nvGrpSpPr>
        <p:grpSpPr>
          <a:xfrm>
            <a:off x="1283927" y="1431557"/>
            <a:ext cx="7185746" cy="1076412"/>
            <a:chOff x="0" y="-28575"/>
            <a:chExt cx="3548517" cy="531562"/>
          </a:xfrm>
        </p:grpSpPr>
        <p:sp>
          <p:nvSpPr>
            <p:cNvPr id="734" name="Google Shape;734;p37"/>
            <p:cNvSpPr/>
            <p:nvPr/>
          </p:nvSpPr>
          <p:spPr>
            <a:xfrm>
              <a:off x="0" y="0"/>
              <a:ext cx="3548517" cy="502987"/>
            </a:xfrm>
            <a:custGeom>
              <a:rect b="b" l="l" r="r" t="t"/>
              <a:pathLst>
                <a:path extrusionOk="0" h="502987" w="3548517">
                  <a:moveTo>
                    <a:pt x="32322" y="0"/>
                  </a:moveTo>
                  <a:lnTo>
                    <a:pt x="3516195" y="0"/>
                  </a:lnTo>
                  <a:cubicBezTo>
                    <a:pt x="3534046" y="0"/>
                    <a:pt x="3548517" y="14471"/>
                    <a:pt x="3548517" y="32322"/>
                  </a:cubicBezTo>
                  <a:lnTo>
                    <a:pt x="3548517" y="470665"/>
                  </a:lnTo>
                  <a:cubicBezTo>
                    <a:pt x="3548517" y="488516"/>
                    <a:pt x="3534046" y="502987"/>
                    <a:pt x="3516195" y="502987"/>
                  </a:cubicBezTo>
                  <a:lnTo>
                    <a:pt x="32322" y="502987"/>
                  </a:lnTo>
                  <a:cubicBezTo>
                    <a:pt x="23750" y="502987"/>
                    <a:pt x="15528" y="499581"/>
                    <a:pt x="9467" y="493520"/>
                  </a:cubicBezTo>
                  <a:cubicBezTo>
                    <a:pt x="3405" y="487458"/>
                    <a:pt x="0" y="479237"/>
                    <a:pt x="0" y="470665"/>
                  </a:cubicBezTo>
                  <a:lnTo>
                    <a:pt x="0" y="32322"/>
                  </a:lnTo>
                  <a:cubicBezTo>
                    <a:pt x="0" y="14471"/>
                    <a:pt x="14471" y="0"/>
                    <a:pt x="3232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7"/>
            <p:cNvSpPr txBox="1"/>
            <p:nvPr/>
          </p:nvSpPr>
          <p:spPr>
            <a:xfrm>
              <a:off x="0" y="-28575"/>
              <a:ext cx="3548517"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6" name="Google Shape;736;p37"/>
          <p:cNvSpPr/>
          <p:nvPr/>
        </p:nvSpPr>
        <p:spPr>
          <a:xfrm flipH="1" rot="-5400000">
            <a:off x="8360001" y="-166127"/>
            <a:ext cx="1224495" cy="1562704"/>
          </a:xfrm>
          <a:custGeom>
            <a:rect b="b" l="l" r="r" t="t"/>
            <a:pathLst>
              <a:path extrusionOk="0" h="1562704" w="1224495">
                <a:moveTo>
                  <a:pt x="1224494" y="0"/>
                </a:moveTo>
                <a:lnTo>
                  <a:pt x="0" y="0"/>
                </a:lnTo>
                <a:lnTo>
                  <a:pt x="0" y="1562704"/>
                </a:lnTo>
                <a:lnTo>
                  <a:pt x="1224494" y="1562704"/>
                </a:lnTo>
                <a:lnTo>
                  <a:pt x="1224494" y="0"/>
                </a:lnTo>
                <a:close/>
              </a:path>
            </a:pathLst>
          </a:custGeom>
          <a:blipFill rotWithShape="1">
            <a:blip r:embed="rId6">
              <a:alphaModFix/>
            </a:blip>
            <a:stretch>
              <a:fillRect b="-47966" l="-57592" r="0" t="0"/>
            </a:stretch>
          </a:blipFill>
          <a:ln>
            <a:noFill/>
          </a:ln>
        </p:spPr>
      </p:sp>
      <p:sp>
        <p:nvSpPr>
          <p:cNvPr id="737" name="Google Shape;737;p37"/>
          <p:cNvSpPr/>
          <p:nvPr/>
        </p:nvSpPr>
        <p:spPr>
          <a:xfrm rot="-5098881">
            <a:off x="7909806" y="-2462117"/>
            <a:ext cx="4075055" cy="4159782"/>
          </a:xfrm>
          <a:custGeom>
            <a:rect b="b" l="l" r="r" t="t"/>
            <a:pathLst>
              <a:path extrusionOk="0" h="4159782" w="4075055">
                <a:moveTo>
                  <a:pt x="0" y="0"/>
                </a:moveTo>
                <a:lnTo>
                  <a:pt x="4075055" y="0"/>
                </a:lnTo>
                <a:lnTo>
                  <a:pt x="4075055" y="4159782"/>
                </a:lnTo>
                <a:lnTo>
                  <a:pt x="0" y="4159782"/>
                </a:lnTo>
                <a:lnTo>
                  <a:pt x="0" y="0"/>
                </a:lnTo>
                <a:close/>
              </a:path>
            </a:pathLst>
          </a:custGeom>
          <a:blipFill rotWithShape="1">
            <a:blip r:embed="rId7">
              <a:alphaModFix/>
            </a:blip>
            <a:stretch>
              <a:fillRect b="0" l="0" r="0" t="0"/>
            </a:stretch>
          </a:blipFill>
          <a:ln>
            <a:noFill/>
          </a:ln>
        </p:spPr>
      </p:sp>
      <p:sp>
        <p:nvSpPr>
          <p:cNvPr id="738" name="Google Shape;738;p37"/>
          <p:cNvSpPr txBox="1"/>
          <p:nvPr/>
        </p:nvSpPr>
        <p:spPr>
          <a:xfrm>
            <a:off x="1343377" y="1781737"/>
            <a:ext cx="7066847" cy="4948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CHAPTER 4 : CONCLUSION</a:t>
            </a:r>
            <a:endParaRPr/>
          </a:p>
        </p:txBody>
      </p:sp>
      <p:sp>
        <p:nvSpPr>
          <p:cNvPr id="739" name="Google Shape;739;p37"/>
          <p:cNvSpPr txBox="1"/>
          <p:nvPr/>
        </p:nvSpPr>
        <p:spPr>
          <a:xfrm>
            <a:off x="731520" y="2469869"/>
            <a:ext cx="8290560" cy="33280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Performance on fine tuned version is still not good, possible reason:</a:t>
            </a:r>
            <a:endParaRPr/>
          </a:p>
          <a:p>
            <a:pPr indent="-226695" lvl="1" marL="453390" marR="0" rtl="0" algn="l">
              <a:lnSpc>
                <a:spcPct val="140000"/>
              </a:lnSpc>
              <a:spcBef>
                <a:spcPts val="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The dataset for train is not bigger enough (Not right, actually for fine tuning a train set with dimension 6500+ images is enough)</a:t>
            </a:r>
            <a:endParaRPr/>
          </a:p>
          <a:p>
            <a:pPr indent="-226695" lvl="1" marL="453390" marR="0" rtl="0" algn="l">
              <a:lnSpc>
                <a:spcPct val="140000"/>
              </a:lnSpc>
              <a:spcBef>
                <a:spcPts val="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The object in the images is too small( This is  the principle problem)</a:t>
            </a:r>
            <a:endParaRPr/>
          </a:p>
          <a:p>
            <a:pPr indent="-226695" lvl="1" marL="453390" marR="0" rtl="0" algn="l">
              <a:lnSpc>
                <a:spcPct val="140000"/>
              </a:lnSpc>
              <a:spcBef>
                <a:spcPts val="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Some categories has sample number too small.</a:t>
            </a:r>
            <a:endParaRPr/>
          </a:p>
          <a:p>
            <a:pPr indent="0" lvl="0" marL="0" marR="0" rtl="0" algn="l">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But the performance is creased after fine tuning, so the fine tuning    is been considered as success.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743" name="Shape 743"/>
        <p:cNvGrpSpPr/>
        <p:nvPr/>
      </p:nvGrpSpPr>
      <p:grpSpPr>
        <a:xfrm>
          <a:off x="0" y="0"/>
          <a:ext cx="0" cy="0"/>
          <a:chOff x="0" y="0"/>
          <a:chExt cx="0" cy="0"/>
        </a:xfrm>
      </p:grpSpPr>
      <p:sp>
        <p:nvSpPr>
          <p:cNvPr id="744" name="Google Shape;744;p38"/>
          <p:cNvSpPr/>
          <p:nvPr/>
        </p:nvSpPr>
        <p:spPr>
          <a:xfrm>
            <a:off x="0" y="24503"/>
            <a:ext cx="1367108" cy="1464917"/>
          </a:xfrm>
          <a:custGeom>
            <a:rect b="b" l="l" r="r" t="t"/>
            <a:pathLst>
              <a:path extrusionOk="0" h="1464917" w="1367108">
                <a:moveTo>
                  <a:pt x="0" y="0"/>
                </a:moveTo>
                <a:lnTo>
                  <a:pt x="1367108" y="0"/>
                </a:lnTo>
                <a:lnTo>
                  <a:pt x="1367108" y="1464918"/>
                </a:lnTo>
                <a:lnTo>
                  <a:pt x="0" y="1464918"/>
                </a:lnTo>
                <a:lnTo>
                  <a:pt x="0" y="0"/>
                </a:lnTo>
                <a:close/>
              </a:path>
            </a:pathLst>
          </a:custGeom>
          <a:blipFill rotWithShape="1">
            <a:blip r:embed="rId3">
              <a:alphaModFix/>
            </a:blip>
            <a:stretch>
              <a:fillRect b="0" l="0" r="0" t="0"/>
            </a:stretch>
          </a:blipFill>
          <a:ln>
            <a:noFill/>
          </a:ln>
        </p:spPr>
      </p:sp>
      <p:sp>
        <p:nvSpPr>
          <p:cNvPr id="745" name="Google Shape;745;p38"/>
          <p:cNvSpPr/>
          <p:nvPr/>
        </p:nvSpPr>
        <p:spPr>
          <a:xfrm rot="-9600471">
            <a:off x="-1556721" y="5713656"/>
            <a:ext cx="4210722" cy="2511122"/>
          </a:xfrm>
          <a:custGeom>
            <a:rect b="b" l="l" r="r" t="t"/>
            <a:pathLst>
              <a:path extrusionOk="0" h="2511122" w="4210722">
                <a:moveTo>
                  <a:pt x="0" y="0"/>
                </a:moveTo>
                <a:lnTo>
                  <a:pt x="4210722" y="0"/>
                </a:lnTo>
                <a:lnTo>
                  <a:pt x="4210722" y="2511122"/>
                </a:lnTo>
                <a:lnTo>
                  <a:pt x="0" y="2511122"/>
                </a:lnTo>
                <a:lnTo>
                  <a:pt x="0" y="0"/>
                </a:lnTo>
                <a:close/>
              </a:path>
            </a:pathLst>
          </a:custGeom>
          <a:blipFill rotWithShape="1">
            <a:blip r:embed="rId4">
              <a:alphaModFix/>
            </a:blip>
            <a:stretch>
              <a:fillRect b="0" l="0" r="0" t="0"/>
            </a:stretch>
          </a:blipFill>
          <a:ln>
            <a:noFill/>
          </a:ln>
        </p:spPr>
      </p:sp>
      <p:grpSp>
        <p:nvGrpSpPr>
          <p:cNvPr id="746" name="Google Shape;746;p38"/>
          <p:cNvGrpSpPr/>
          <p:nvPr/>
        </p:nvGrpSpPr>
        <p:grpSpPr>
          <a:xfrm>
            <a:off x="731520" y="1940831"/>
            <a:ext cx="8290560" cy="3884948"/>
            <a:chOff x="0" y="-28575"/>
            <a:chExt cx="4094104" cy="1918493"/>
          </a:xfrm>
        </p:grpSpPr>
        <p:sp>
          <p:nvSpPr>
            <p:cNvPr id="747" name="Google Shape;747;p38"/>
            <p:cNvSpPr/>
            <p:nvPr/>
          </p:nvSpPr>
          <p:spPr>
            <a:xfrm>
              <a:off x="0" y="0"/>
              <a:ext cx="4094104" cy="1889918"/>
            </a:xfrm>
            <a:custGeom>
              <a:rect b="b" l="l" r="r" t="t"/>
              <a:pathLst>
                <a:path extrusionOk="0" h="1889918" w="4094104">
                  <a:moveTo>
                    <a:pt x="28015" y="0"/>
                  </a:moveTo>
                  <a:lnTo>
                    <a:pt x="4066089" y="0"/>
                  </a:lnTo>
                  <a:cubicBezTo>
                    <a:pt x="4073519" y="0"/>
                    <a:pt x="4080644" y="2952"/>
                    <a:pt x="4085898" y="8205"/>
                  </a:cubicBezTo>
                  <a:cubicBezTo>
                    <a:pt x="4091152" y="13459"/>
                    <a:pt x="4094104" y="20585"/>
                    <a:pt x="4094104" y="28015"/>
                  </a:cubicBezTo>
                  <a:lnTo>
                    <a:pt x="4094104" y="1861903"/>
                  </a:lnTo>
                  <a:cubicBezTo>
                    <a:pt x="4094104" y="1877376"/>
                    <a:pt x="4081561" y="1889918"/>
                    <a:pt x="4066089" y="1889918"/>
                  </a:cubicBezTo>
                  <a:lnTo>
                    <a:pt x="28015" y="1889918"/>
                  </a:lnTo>
                  <a:cubicBezTo>
                    <a:pt x="20585" y="1889918"/>
                    <a:pt x="13459" y="1886967"/>
                    <a:pt x="8205" y="1881713"/>
                  </a:cubicBezTo>
                  <a:cubicBezTo>
                    <a:pt x="2952" y="1876459"/>
                    <a:pt x="0" y="1869333"/>
                    <a:pt x="0" y="1861903"/>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8"/>
            <p:cNvSpPr txBox="1"/>
            <p:nvPr/>
          </p:nvSpPr>
          <p:spPr>
            <a:xfrm>
              <a:off x="0" y="-28575"/>
              <a:ext cx="4094104" cy="1918493"/>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49" name="Google Shape;749;p38"/>
          <p:cNvSpPr/>
          <p:nvPr/>
        </p:nvSpPr>
        <p:spPr>
          <a:xfrm flipH="1" rot="3991733">
            <a:off x="-325034" y="5473932"/>
            <a:ext cx="1747349" cy="2219496"/>
          </a:xfrm>
          <a:custGeom>
            <a:rect b="b" l="l" r="r" t="t"/>
            <a:pathLst>
              <a:path extrusionOk="0" h="2219496" w="1747349">
                <a:moveTo>
                  <a:pt x="0" y="2219496"/>
                </a:moveTo>
                <a:lnTo>
                  <a:pt x="1747348" y="2219496"/>
                </a:lnTo>
                <a:lnTo>
                  <a:pt x="1747348" y="0"/>
                </a:lnTo>
                <a:lnTo>
                  <a:pt x="0" y="0"/>
                </a:lnTo>
                <a:lnTo>
                  <a:pt x="0" y="2219496"/>
                </a:lnTo>
                <a:close/>
              </a:path>
            </a:pathLst>
          </a:custGeom>
          <a:blipFill rotWithShape="1">
            <a:blip r:embed="rId5">
              <a:alphaModFix/>
            </a:blip>
            <a:stretch>
              <a:fillRect b="0" l="0" r="0" t="0"/>
            </a:stretch>
          </a:blipFill>
          <a:ln>
            <a:noFill/>
          </a:ln>
        </p:spPr>
      </p:sp>
      <p:sp>
        <p:nvSpPr>
          <p:cNvPr id="750" name="Google Shape;750;p38"/>
          <p:cNvSpPr/>
          <p:nvPr/>
        </p:nvSpPr>
        <p:spPr>
          <a:xfrm rot="-3650248">
            <a:off x="8151608" y="5422468"/>
            <a:ext cx="1740944" cy="2211360"/>
          </a:xfrm>
          <a:custGeom>
            <a:rect b="b" l="l" r="r" t="t"/>
            <a:pathLst>
              <a:path extrusionOk="0" h="2211360" w="1740944">
                <a:moveTo>
                  <a:pt x="1740944" y="2211360"/>
                </a:moveTo>
                <a:lnTo>
                  <a:pt x="0" y="2211360"/>
                </a:lnTo>
                <a:lnTo>
                  <a:pt x="0" y="0"/>
                </a:lnTo>
                <a:lnTo>
                  <a:pt x="1740944" y="0"/>
                </a:lnTo>
                <a:lnTo>
                  <a:pt x="1740944" y="2211360"/>
                </a:lnTo>
                <a:close/>
              </a:path>
            </a:pathLst>
          </a:custGeom>
          <a:blipFill rotWithShape="1">
            <a:blip r:embed="rId5">
              <a:alphaModFix/>
            </a:blip>
            <a:stretch>
              <a:fillRect b="0" l="0" r="0" t="0"/>
            </a:stretch>
          </a:blipFill>
          <a:ln>
            <a:noFill/>
          </a:ln>
        </p:spPr>
      </p:sp>
      <p:grpSp>
        <p:nvGrpSpPr>
          <p:cNvPr id="751" name="Google Shape;751;p38"/>
          <p:cNvGrpSpPr/>
          <p:nvPr/>
        </p:nvGrpSpPr>
        <p:grpSpPr>
          <a:xfrm>
            <a:off x="1283927" y="1431557"/>
            <a:ext cx="7185746" cy="1076412"/>
            <a:chOff x="0" y="-28575"/>
            <a:chExt cx="3548517" cy="531562"/>
          </a:xfrm>
        </p:grpSpPr>
        <p:sp>
          <p:nvSpPr>
            <p:cNvPr id="752" name="Google Shape;752;p38"/>
            <p:cNvSpPr/>
            <p:nvPr/>
          </p:nvSpPr>
          <p:spPr>
            <a:xfrm>
              <a:off x="0" y="0"/>
              <a:ext cx="3548517" cy="502987"/>
            </a:xfrm>
            <a:custGeom>
              <a:rect b="b" l="l" r="r" t="t"/>
              <a:pathLst>
                <a:path extrusionOk="0" h="502987" w="3548517">
                  <a:moveTo>
                    <a:pt x="32322" y="0"/>
                  </a:moveTo>
                  <a:lnTo>
                    <a:pt x="3516195" y="0"/>
                  </a:lnTo>
                  <a:cubicBezTo>
                    <a:pt x="3534046" y="0"/>
                    <a:pt x="3548517" y="14471"/>
                    <a:pt x="3548517" y="32322"/>
                  </a:cubicBezTo>
                  <a:lnTo>
                    <a:pt x="3548517" y="470665"/>
                  </a:lnTo>
                  <a:cubicBezTo>
                    <a:pt x="3548517" y="488516"/>
                    <a:pt x="3534046" y="502987"/>
                    <a:pt x="3516195" y="502987"/>
                  </a:cubicBezTo>
                  <a:lnTo>
                    <a:pt x="32322" y="502987"/>
                  </a:lnTo>
                  <a:cubicBezTo>
                    <a:pt x="23750" y="502987"/>
                    <a:pt x="15528" y="499581"/>
                    <a:pt x="9467" y="493520"/>
                  </a:cubicBezTo>
                  <a:cubicBezTo>
                    <a:pt x="3405" y="487458"/>
                    <a:pt x="0" y="479237"/>
                    <a:pt x="0" y="470665"/>
                  </a:cubicBezTo>
                  <a:lnTo>
                    <a:pt x="0" y="32322"/>
                  </a:lnTo>
                  <a:cubicBezTo>
                    <a:pt x="0" y="14471"/>
                    <a:pt x="14471" y="0"/>
                    <a:pt x="3232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8"/>
            <p:cNvSpPr txBox="1"/>
            <p:nvPr/>
          </p:nvSpPr>
          <p:spPr>
            <a:xfrm>
              <a:off x="0" y="-28575"/>
              <a:ext cx="3548517"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4" name="Google Shape;754;p38"/>
          <p:cNvSpPr/>
          <p:nvPr/>
        </p:nvSpPr>
        <p:spPr>
          <a:xfrm flipH="1" rot="-5400000">
            <a:off x="8360001" y="-166127"/>
            <a:ext cx="1224495" cy="1562704"/>
          </a:xfrm>
          <a:custGeom>
            <a:rect b="b" l="l" r="r" t="t"/>
            <a:pathLst>
              <a:path extrusionOk="0" h="1562704" w="1224495">
                <a:moveTo>
                  <a:pt x="1224494" y="0"/>
                </a:moveTo>
                <a:lnTo>
                  <a:pt x="0" y="0"/>
                </a:lnTo>
                <a:lnTo>
                  <a:pt x="0" y="1562704"/>
                </a:lnTo>
                <a:lnTo>
                  <a:pt x="1224494" y="1562704"/>
                </a:lnTo>
                <a:lnTo>
                  <a:pt x="1224494" y="0"/>
                </a:lnTo>
                <a:close/>
              </a:path>
            </a:pathLst>
          </a:custGeom>
          <a:blipFill rotWithShape="1">
            <a:blip r:embed="rId6">
              <a:alphaModFix/>
            </a:blip>
            <a:stretch>
              <a:fillRect b="-47966" l="-57592" r="0" t="0"/>
            </a:stretch>
          </a:blipFill>
          <a:ln>
            <a:noFill/>
          </a:ln>
        </p:spPr>
      </p:sp>
      <p:sp>
        <p:nvSpPr>
          <p:cNvPr id="755" name="Google Shape;755;p38"/>
          <p:cNvSpPr/>
          <p:nvPr/>
        </p:nvSpPr>
        <p:spPr>
          <a:xfrm rot="-5098881">
            <a:off x="7909806" y="-2462117"/>
            <a:ext cx="4075055" cy="4159782"/>
          </a:xfrm>
          <a:custGeom>
            <a:rect b="b" l="l" r="r" t="t"/>
            <a:pathLst>
              <a:path extrusionOk="0" h="4159782" w="4075055">
                <a:moveTo>
                  <a:pt x="0" y="0"/>
                </a:moveTo>
                <a:lnTo>
                  <a:pt x="4075055" y="0"/>
                </a:lnTo>
                <a:lnTo>
                  <a:pt x="4075055" y="4159782"/>
                </a:lnTo>
                <a:lnTo>
                  <a:pt x="0" y="4159782"/>
                </a:lnTo>
                <a:lnTo>
                  <a:pt x="0" y="0"/>
                </a:lnTo>
                <a:close/>
              </a:path>
            </a:pathLst>
          </a:custGeom>
          <a:blipFill rotWithShape="1">
            <a:blip r:embed="rId7">
              <a:alphaModFix/>
            </a:blip>
            <a:stretch>
              <a:fillRect b="0" l="0" r="0" t="0"/>
            </a:stretch>
          </a:blipFill>
          <a:ln>
            <a:noFill/>
          </a:ln>
        </p:spPr>
      </p:sp>
      <p:sp>
        <p:nvSpPr>
          <p:cNvPr id="756" name="Google Shape;756;p38"/>
          <p:cNvSpPr txBox="1"/>
          <p:nvPr/>
        </p:nvSpPr>
        <p:spPr>
          <a:xfrm>
            <a:off x="1343377" y="1781737"/>
            <a:ext cx="7066847" cy="4948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FUTURE WORKS</a:t>
            </a:r>
            <a:endParaRPr/>
          </a:p>
        </p:txBody>
      </p:sp>
      <p:sp>
        <p:nvSpPr>
          <p:cNvPr id="757" name="Google Shape;757;p38"/>
          <p:cNvSpPr txBox="1"/>
          <p:nvPr/>
        </p:nvSpPr>
        <p:spPr>
          <a:xfrm>
            <a:off x="731520" y="2524070"/>
            <a:ext cx="8290560" cy="28162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It is possible to train from scratch a yolov8s model, which correspond to the yolov8s-worldv2 we used to fine tuning and zero shot test, and compare the YOLO model after train with the fine tuned YOLO-World.</a:t>
            </a:r>
            <a:endParaRPr/>
          </a:p>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A guess about result:</a:t>
            </a:r>
            <a:endParaRPr/>
          </a:p>
          <a:p>
            <a:pPr indent="0" lvl="0" marL="0" marR="0" rtl="0" algn="l">
              <a:lnSpc>
                <a:spcPct val="140000"/>
              </a:lnSpc>
              <a:spcBef>
                <a:spcPts val="0"/>
              </a:spcBef>
              <a:spcAft>
                <a:spcPts val="0"/>
              </a:spcAft>
              <a:buNone/>
            </a:pPr>
            <a:r>
              <a:rPr b="0" i="0" lang="en-US" sz="2000" u="none" cap="none" strike="noStrike">
                <a:solidFill>
                  <a:srgbClr val="000000"/>
                </a:solidFill>
                <a:latin typeface="Arial"/>
                <a:ea typeface="Arial"/>
                <a:cs typeface="Arial"/>
                <a:sym typeface="Arial"/>
              </a:rPr>
              <a:t>YOLO model and YOLO-World may get similar result, maybe the performance of YOLO is a little better than YOLO-World, but accuracy of YOLO-World is a little faster than YOLO, and as YOLO-World just asks 50-80 epochs to converge, and the YOLO requires more epochs.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761" name="Shape 761"/>
        <p:cNvGrpSpPr/>
        <p:nvPr/>
      </p:nvGrpSpPr>
      <p:grpSpPr>
        <a:xfrm>
          <a:off x="0" y="0"/>
          <a:ext cx="0" cy="0"/>
          <a:chOff x="0" y="0"/>
          <a:chExt cx="0" cy="0"/>
        </a:xfrm>
      </p:grpSpPr>
      <p:sp>
        <p:nvSpPr>
          <p:cNvPr id="762" name="Google Shape;762;p39"/>
          <p:cNvSpPr/>
          <p:nvPr/>
        </p:nvSpPr>
        <p:spPr>
          <a:xfrm>
            <a:off x="0" y="24503"/>
            <a:ext cx="1367108" cy="1464917"/>
          </a:xfrm>
          <a:custGeom>
            <a:rect b="b" l="l" r="r" t="t"/>
            <a:pathLst>
              <a:path extrusionOk="0" h="1464917" w="1367108">
                <a:moveTo>
                  <a:pt x="0" y="0"/>
                </a:moveTo>
                <a:lnTo>
                  <a:pt x="1367108" y="0"/>
                </a:lnTo>
                <a:lnTo>
                  <a:pt x="1367108" y="1464918"/>
                </a:lnTo>
                <a:lnTo>
                  <a:pt x="0" y="1464918"/>
                </a:lnTo>
                <a:lnTo>
                  <a:pt x="0" y="0"/>
                </a:lnTo>
                <a:close/>
              </a:path>
            </a:pathLst>
          </a:custGeom>
          <a:blipFill rotWithShape="1">
            <a:blip r:embed="rId3">
              <a:alphaModFix/>
            </a:blip>
            <a:stretch>
              <a:fillRect b="0" l="0" r="0" t="0"/>
            </a:stretch>
          </a:blipFill>
          <a:ln>
            <a:noFill/>
          </a:ln>
        </p:spPr>
      </p:sp>
      <p:sp>
        <p:nvSpPr>
          <p:cNvPr id="763" name="Google Shape;763;p39"/>
          <p:cNvSpPr/>
          <p:nvPr/>
        </p:nvSpPr>
        <p:spPr>
          <a:xfrm rot="-9600471">
            <a:off x="-1556721" y="5713656"/>
            <a:ext cx="4210722" cy="2511122"/>
          </a:xfrm>
          <a:custGeom>
            <a:rect b="b" l="l" r="r" t="t"/>
            <a:pathLst>
              <a:path extrusionOk="0" h="2511122" w="4210722">
                <a:moveTo>
                  <a:pt x="0" y="0"/>
                </a:moveTo>
                <a:lnTo>
                  <a:pt x="4210722" y="0"/>
                </a:lnTo>
                <a:lnTo>
                  <a:pt x="4210722" y="2511122"/>
                </a:lnTo>
                <a:lnTo>
                  <a:pt x="0" y="2511122"/>
                </a:lnTo>
                <a:lnTo>
                  <a:pt x="0" y="0"/>
                </a:lnTo>
                <a:close/>
              </a:path>
            </a:pathLst>
          </a:custGeom>
          <a:blipFill rotWithShape="1">
            <a:blip r:embed="rId4">
              <a:alphaModFix/>
            </a:blip>
            <a:stretch>
              <a:fillRect b="0" l="0" r="0" t="0"/>
            </a:stretch>
          </a:blipFill>
          <a:ln>
            <a:noFill/>
          </a:ln>
        </p:spPr>
      </p:sp>
      <p:grpSp>
        <p:nvGrpSpPr>
          <p:cNvPr id="764" name="Google Shape;764;p39"/>
          <p:cNvGrpSpPr/>
          <p:nvPr/>
        </p:nvGrpSpPr>
        <p:grpSpPr>
          <a:xfrm>
            <a:off x="731520" y="1940831"/>
            <a:ext cx="8290560" cy="3884948"/>
            <a:chOff x="0" y="-28575"/>
            <a:chExt cx="4094104" cy="1918493"/>
          </a:xfrm>
        </p:grpSpPr>
        <p:sp>
          <p:nvSpPr>
            <p:cNvPr id="765" name="Google Shape;765;p39"/>
            <p:cNvSpPr/>
            <p:nvPr/>
          </p:nvSpPr>
          <p:spPr>
            <a:xfrm>
              <a:off x="0" y="0"/>
              <a:ext cx="4094104" cy="1889918"/>
            </a:xfrm>
            <a:custGeom>
              <a:rect b="b" l="l" r="r" t="t"/>
              <a:pathLst>
                <a:path extrusionOk="0" h="1889918" w="4094104">
                  <a:moveTo>
                    <a:pt x="28015" y="0"/>
                  </a:moveTo>
                  <a:lnTo>
                    <a:pt x="4066089" y="0"/>
                  </a:lnTo>
                  <a:cubicBezTo>
                    <a:pt x="4073519" y="0"/>
                    <a:pt x="4080644" y="2952"/>
                    <a:pt x="4085898" y="8205"/>
                  </a:cubicBezTo>
                  <a:cubicBezTo>
                    <a:pt x="4091152" y="13459"/>
                    <a:pt x="4094104" y="20585"/>
                    <a:pt x="4094104" y="28015"/>
                  </a:cubicBezTo>
                  <a:lnTo>
                    <a:pt x="4094104" y="1861903"/>
                  </a:lnTo>
                  <a:cubicBezTo>
                    <a:pt x="4094104" y="1877376"/>
                    <a:pt x="4081561" y="1889918"/>
                    <a:pt x="4066089" y="1889918"/>
                  </a:cubicBezTo>
                  <a:lnTo>
                    <a:pt x="28015" y="1889918"/>
                  </a:lnTo>
                  <a:cubicBezTo>
                    <a:pt x="20585" y="1889918"/>
                    <a:pt x="13459" y="1886967"/>
                    <a:pt x="8205" y="1881713"/>
                  </a:cubicBezTo>
                  <a:cubicBezTo>
                    <a:pt x="2952" y="1876459"/>
                    <a:pt x="0" y="1869333"/>
                    <a:pt x="0" y="1861903"/>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9"/>
            <p:cNvSpPr txBox="1"/>
            <p:nvPr/>
          </p:nvSpPr>
          <p:spPr>
            <a:xfrm>
              <a:off x="0" y="-28575"/>
              <a:ext cx="4094104" cy="1918493"/>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67" name="Google Shape;767;p39"/>
          <p:cNvSpPr/>
          <p:nvPr/>
        </p:nvSpPr>
        <p:spPr>
          <a:xfrm flipH="1" rot="3991733">
            <a:off x="-325034" y="5473932"/>
            <a:ext cx="1747349" cy="2219496"/>
          </a:xfrm>
          <a:custGeom>
            <a:rect b="b" l="l" r="r" t="t"/>
            <a:pathLst>
              <a:path extrusionOk="0" h="2219496" w="1747349">
                <a:moveTo>
                  <a:pt x="0" y="2219496"/>
                </a:moveTo>
                <a:lnTo>
                  <a:pt x="1747348" y="2219496"/>
                </a:lnTo>
                <a:lnTo>
                  <a:pt x="1747348" y="0"/>
                </a:lnTo>
                <a:lnTo>
                  <a:pt x="0" y="0"/>
                </a:lnTo>
                <a:lnTo>
                  <a:pt x="0" y="2219496"/>
                </a:lnTo>
                <a:close/>
              </a:path>
            </a:pathLst>
          </a:custGeom>
          <a:blipFill rotWithShape="1">
            <a:blip r:embed="rId5">
              <a:alphaModFix/>
            </a:blip>
            <a:stretch>
              <a:fillRect b="0" l="0" r="0" t="0"/>
            </a:stretch>
          </a:blipFill>
          <a:ln>
            <a:noFill/>
          </a:ln>
        </p:spPr>
      </p:sp>
      <p:sp>
        <p:nvSpPr>
          <p:cNvPr id="768" name="Google Shape;768;p39"/>
          <p:cNvSpPr/>
          <p:nvPr/>
        </p:nvSpPr>
        <p:spPr>
          <a:xfrm rot="-3650248">
            <a:off x="8151608" y="5422468"/>
            <a:ext cx="1740944" cy="2211360"/>
          </a:xfrm>
          <a:custGeom>
            <a:rect b="b" l="l" r="r" t="t"/>
            <a:pathLst>
              <a:path extrusionOk="0" h="2211360" w="1740944">
                <a:moveTo>
                  <a:pt x="1740944" y="2211360"/>
                </a:moveTo>
                <a:lnTo>
                  <a:pt x="0" y="2211360"/>
                </a:lnTo>
                <a:lnTo>
                  <a:pt x="0" y="0"/>
                </a:lnTo>
                <a:lnTo>
                  <a:pt x="1740944" y="0"/>
                </a:lnTo>
                <a:lnTo>
                  <a:pt x="1740944" y="2211360"/>
                </a:lnTo>
                <a:close/>
              </a:path>
            </a:pathLst>
          </a:custGeom>
          <a:blipFill rotWithShape="1">
            <a:blip r:embed="rId5">
              <a:alphaModFix/>
            </a:blip>
            <a:stretch>
              <a:fillRect b="0" l="0" r="0" t="0"/>
            </a:stretch>
          </a:blipFill>
          <a:ln>
            <a:noFill/>
          </a:ln>
        </p:spPr>
      </p:sp>
      <p:grpSp>
        <p:nvGrpSpPr>
          <p:cNvPr id="769" name="Google Shape;769;p39"/>
          <p:cNvGrpSpPr/>
          <p:nvPr/>
        </p:nvGrpSpPr>
        <p:grpSpPr>
          <a:xfrm>
            <a:off x="1283927" y="1431557"/>
            <a:ext cx="7185746" cy="1076412"/>
            <a:chOff x="0" y="-28575"/>
            <a:chExt cx="3548517" cy="531562"/>
          </a:xfrm>
        </p:grpSpPr>
        <p:sp>
          <p:nvSpPr>
            <p:cNvPr id="770" name="Google Shape;770;p39"/>
            <p:cNvSpPr/>
            <p:nvPr/>
          </p:nvSpPr>
          <p:spPr>
            <a:xfrm>
              <a:off x="0" y="0"/>
              <a:ext cx="3548517" cy="502987"/>
            </a:xfrm>
            <a:custGeom>
              <a:rect b="b" l="l" r="r" t="t"/>
              <a:pathLst>
                <a:path extrusionOk="0" h="502987" w="3548517">
                  <a:moveTo>
                    <a:pt x="32322" y="0"/>
                  </a:moveTo>
                  <a:lnTo>
                    <a:pt x="3516195" y="0"/>
                  </a:lnTo>
                  <a:cubicBezTo>
                    <a:pt x="3534046" y="0"/>
                    <a:pt x="3548517" y="14471"/>
                    <a:pt x="3548517" y="32322"/>
                  </a:cubicBezTo>
                  <a:lnTo>
                    <a:pt x="3548517" y="470665"/>
                  </a:lnTo>
                  <a:cubicBezTo>
                    <a:pt x="3548517" y="488516"/>
                    <a:pt x="3534046" y="502987"/>
                    <a:pt x="3516195" y="502987"/>
                  </a:cubicBezTo>
                  <a:lnTo>
                    <a:pt x="32322" y="502987"/>
                  </a:lnTo>
                  <a:cubicBezTo>
                    <a:pt x="23750" y="502987"/>
                    <a:pt x="15528" y="499581"/>
                    <a:pt x="9467" y="493520"/>
                  </a:cubicBezTo>
                  <a:cubicBezTo>
                    <a:pt x="3405" y="487458"/>
                    <a:pt x="0" y="479237"/>
                    <a:pt x="0" y="470665"/>
                  </a:cubicBezTo>
                  <a:lnTo>
                    <a:pt x="0" y="32322"/>
                  </a:lnTo>
                  <a:cubicBezTo>
                    <a:pt x="0" y="14471"/>
                    <a:pt x="14471" y="0"/>
                    <a:pt x="3232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9"/>
            <p:cNvSpPr txBox="1"/>
            <p:nvPr/>
          </p:nvSpPr>
          <p:spPr>
            <a:xfrm>
              <a:off x="0" y="-28575"/>
              <a:ext cx="3548517"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72" name="Google Shape;772;p39"/>
          <p:cNvSpPr/>
          <p:nvPr/>
        </p:nvSpPr>
        <p:spPr>
          <a:xfrm flipH="1" rot="-5400000">
            <a:off x="8360001" y="-166127"/>
            <a:ext cx="1224495" cy="1562704"/>
          </a:xfrm>
          <a:custGeom>
            <a:rect b="b" l="l" r="r" t="t"/>
            <a:pathLst>
              <a:path extrusionOk="0" h="1562704" w="1224495">
                <a:moveTo>
                  <a:pt x="1224494" y="0"/>
                </a:moveTo>
                <a:lnTo>
                  <a:pt x="0" y="0"/>
                </a:lnTo>
                <a:lnTo>
                  <a:pt x="0" y="1562704"/>
                </a:lnTo>
                <a:lnTo>
                  <a:pt x="1224494" y="1562704"/>
                </a:lnTo>
                <a:lnTo>
                  <a:pt x="1224494" y="0"/>
                </a:lnTo>
                <a:close/>
              </a:path>
            </a:pathLst>
          </a:custGeom>
          <a:blipFill rotWithShape="1">
            <a:blip r:embed="rId6">
              <a:alphaModFix/>
            </a:blip>
            <a:stretch>
              <a:fillRect b="-47966" l="-57592" r="0" t="0"/>
            </a:stretch>
          </a:blipFill>
          <a:ln>
            <a:noFill/>
          </a:ln>
        </p:spPr>
      </p:sp>
      <p:sp>
        <p:nvSpPr>
          <p:cNvPr id="773" name="Google Shape;773;p39"/>
          <p:cNvSpPr/>
          <p:nvPr/>
        </p:nvSpPr>
        <p:spPr>
          <a:xfrm rot="-5098881">
            <a:off x="7909806" y="-2462117"/>
            <a:ext cx="4075055" cy="4159782"/>
          </a:xfrm>
          <a:custGeom>
            <a:rect b="b" l="l" r="r" t="t"/>
            <a:pathLst>
              <a:path extrusionOk="0" h="4159782" w="4075055">
                <a:moveTo>
                  <a:pt x="0" y="0"/>
                </a:moveTo>
                <a:lnTo>
                  <a:pt x="4075055" y="0"/>
                </a:lnTo>
                <a:lnTo>
                  <a:pt x="4075055" y="4159782"/>
                </a:lnTo>
                <a:lnTo>
                  <a:pt x="0" y="4159782"/>
                </a:lnTo>
                <a:lnTo>
                  <a:pt x="0" y="0"/>
                </a:lnTo>
                <a:close/>
              </a:path>
            </a:pathLst>
          </a:custGeom>
          <a:blipFill rotWithShape="1">
            <a:blip r:embed="rId7">
              <a:alphaModFix/>
            </a:blip>
            <a:stretch>
              <a:fillRect b="0" l="0" r="0" t="0"/>
            </a:stretch>
          </a:blipFill>
          <a:ln>
            <a:noFill/>
          </a:ln>
        </p:spPr>
      </p:sp>
      <p:sp>
        <p:nvSpPr>
          <p:cNvPr id="774" name="Google Shape;774;p39"/>
          <p:cNvSpPr txBox="1"/>
          <p:nvPr/>
        </p:nvSpPr>
        <p:spPr>
          <a:xfrm>
            <a:off x="1343377" y="1781737"/>
            <a:ext cx="7066847" cy="49487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FUTURE WORKS 2</a:t>
            </a:r>
            <a:endParaRPr/>
          </a:p>
        </p:txBody>
      </p:sp>
      <p:sp>
        <p:nvSpPr>
          <p:cNvPr id="775" name="Google Shape;775;p39"/>
          <p:cNvSpPr txBox="1"/>
          <p:nvPr/>
        </p:nvSpPr>
        <p:spPr>
          <a:xfrm>
            <a:off x="731520" y="3146430"/>
            <a:ext cx="8290500" cy="2712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The feasibility on current dataset is very low, because training a yolov8s model from scratch, 6500+ images is not enough.</a:t>
            </a:r>
            <a:endParaRPr/>
          </a:p>
          <a:p>
            <a:pPr indent="0" lvl="0" marL="0" marR="0" rtl="0" algn="l">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If fine tune with a pretrained model of Ultralystic (trained with COCO dataset) is works( just retrain the last classification layer), but is different to the experiment done in the papers.</a:t>
            </a:r>
            <a:endParaRPr/>
          </a:p>
          <a:p>
            <a:pPr indent="0" lvl="0" marL="0" marR="0" rtl="0" algn="l">
              <a:lnSpc>
                <a:spcPct val="140000"/>
              </a:lnSpc>
              <a:spcBef>
                <a:spcPts val="0"/>
              </a:spcBef>
              <a:spcAft>
                <a:spcPts val="0"/>
              </a:spcAft>
              <a:buNone/>
            </a:pPr>
            <a:r>
              <a:rPr b="0" i="0" lang="en-US" sz="2100" u="none" cap="none" strike="noStrike">
                <a:solidFill>
                  <a:srgbClr val="000000"/>
                </a:solidFill>
                <a:latin typeface="Arial"/>
                <a:ea typeface="Arial"/>
                <a:cs typeface="Arial"/>
                <a:sym typeface="Arial"/>
              </a:rPr>
              <a:t>But still worth to try.</a:t>
            </a:r>
            <a:endParaRPr/>
          </a:p>
        </p:txBody>
      </p:sp>
      <p:sp>
        <p:nvSpPr>
          <p:cNvPr id="776" name="Google Shape;776;p39"/>
          <p:cNvSpPr txBox="1"/>
          <p:nvPr/>
        </p:nvSpPr>
        <p:spPr>
          <a:xfrm>
            <a:off x="683554" y="2736569"/>
            <a:ext cx="8290560" cy="3562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100" u="none" cap="none" strike="noStrike">
                <a:solidFill>
                  <a:srgbClr val="FF3131"/>
                </a:solidFill>
                <a:latin typeface="Arial"/>
                <a:ea typeface="Arial"/>
                <a:cs typeface="Arial"/>
                <a:sym typeface="Arial"/>
              </a:rPr>
              <a:t>BUT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780" name="Shape 780"/>
        <p:cNvGrpSpPr/>
        <p:nvPr/>
      </p:nvGrpSpPr>
      <p:grpSpPr>
        <a:xfrm>
          <a:off x="0" y="0"/>
          <a:ext cx="0" cy="0"/>
          <a:chOff x="0" y="0"/>
          <a:chExt cx="0" cy="0"/>
        </a:xfrm>
      </p:grpSpPr>
      <p:sp>
        <p:nvSpPr>
          <p:cNvPr id="781" name="Google Shape;781;p40"/>
          <p:cNvSpPr/>
          <p:nvPr/>
        </p:nvSpPr>
        <p:spPr>
          <a:xfrm rot="5400000">
            <a:off x="195123" y="-247801"/>
            <a:ext cx="1412895" cy="1803142"/>
          </a:xfrm>
          <a:custGeom>
            <a:rect b="b" l="l" r="r" t="t"/>
            <a:pathLst>
              <a:path extrusionOk="0" h="1803142" w="1412895">
                <a:moveTo>
                  <a:pt x="1412895" y="1803141"/>
                </a:moveTo>
                <a:lnTo>
                  <a:pt x="0" y="1803141"/>
                </a:lnTo>
                <a:lnTo>
                  <a:pt x="0" y="0"/>
                </a:lnTo>
                <a:lnTo>
                  <a:pt x="1412895" y="0"/>
                </a:lnTo>
                <a:lnTo>
                  <a:pt x="1412895" y="1803141"/>
                </a:lnTo>
                <a:close/>
              </a:path>
            </a:pathLst>
          </a:custGeom>
          <a:blipFill rotWithShape="1">
            <a:blip r:embed="rId3">
              <a:alphaModFix/>
            </a:blip>
            <a:stretch>
              <a:fillRect b="-47966" l="-57592" r="0" t="0"/>
            </a:stretch>
          </a:blipFill>
          <a:ln>
            <a:noFill/>
          </a:ln>
        </p:spPr>
      </p:sp>
      <p:sp>
        <p:nvSpPr>
          <p:cNvPr id="782" name="Google Shape;782;p40"/>
          <p:cNvSpPr/>
          <p:nvPr/>
        </p:nvSpPr>
        <p:spPr>
          <a:xfrm rot="-3532768">
            <a:off x="-2037528" y="-3029662"/>
            <a:ext cx="4075055" cy="4159782"/>
          </a:xfrm>
          <a:custGeom>
            <a:rect b="b" l="l" r="r" t="t"/>
            <a:pathLst>
              <a:path extrusionOk="0" h="4159782" w="4075055">
                <a:moveTo>
                  <a:pt x="0" y="0"/>
                </a:moveTo>
                <a:lnTo>
                  <a:pt x="4075056" y="0"/>
                </a:lnTo>
                <a:lnTo>
                  <a:pt x="4075056" y="4159783"/>
                </a:lnTo>
                <a:lnTo>
                  <a:pt x="0" y="4159783"/>
                </a:lnTo>
                <a:lnTo>
                  <a:pt x="0" y="0"/>
                </a:lnTo>
                <a:close/>
              </a:path>
            </a:pathLst>
          </a:custGeom>
          <a:blipFill rotWithShape="1">
            <a:blip r:embed="rId4">
              <a:alphaModFix/>
            </a:blip>
            <a:stretch>
              <a:fillRect b="0" l="0" r="0" t="0"/>
            </a:stretch>
          </a:blipFill>
          <a:ln>
            <a:noFill/>
          </a:ln>
        </p:spPr>
      </p:sp>
      <p:sp>
        <p:nvSpPr>
          <p:cNvPr id="783" name="Google Shape;783;p40"/>
          <p:cNvSpPr/>
          <p:nvPr/>
        </p:nvSpPr>
        <p:spPr>
          <a:xfrm>
            <a:off x="8304927" y="-271111"/>
            <a:ext cx="1684424" cy="1804936"/>
          </a:xfrm>
          <a:custGeom>
            <a:rect b="b" l="l" r="r" t="t"/>
            <a:pathLst>
              <a:path extrusionOk="0" h="1804936" w="1684424">
                <a:moveTo>
                  <a:pt x="0" y="0"/>
                </a:moveTo>
                <a:lnTo>
                  <a:pt x="1684424" y="0"/>
                </a:lnTo>
                <a:lnTo>
                  <a:pt x="1684424" y="1804936"/>
                </a:lnTo>
                <a:lnTo>
                  <a:pt x="0" y="1804936"/>
                </a:lnTo>
                <a:lnTo>
                  <a:pt x="0" y="0"/>
                </a:lnTo>
                <a:close/>
              </a:path>
            </a:pathLst>
          </a:custGeom>
          <a:blipFill rotWithShape="1">
            <a:blip r:embed="rId5">
              <a:alphaModFix/>
            </a:blip>
            <a:stretch>
              <a:fillRect b="0" l="0" r="0" t="0"/>
            </a:stretch>
          </a:blipFill>
          <a:ln>
            <a:noFill/>
          </a:ln>
        </p:spPr>
      </p:sp>
      <p:sp>
        <p:nvSpPr>
          <p:cNvPr id="784" name="Google Shape;784;p40"/>
          <p:cNvSpPr/>
          <p:nvPr/>
        </p:nvSpPr>
        <p:spPr>
          <a:xfrm rot="8839728">
            <a:off x="7467841" y="6206881"/>
            <a:ext cx="3767990" cy="2247092"/>
          </a:xfrm>
          <a:custGeom>
            <a:rect b="b" l="l" r="r" t="t"/>
            <a:pathLst>
              <a:path extrusionOk="0" h="2247092" w="3767990">
                <a:moveTo>
                  <a:pt x="0" y="0"/>
                </a:moveTo>
                <a:lnTo>
                  <a:pt x="3767990" y="0"/>
                </a:lnTo>
                <a:lnTo>
                  <a:pt x="3767990" y="2247092"/>
                </a:lnTo>
                <a:lnTo>
                  <a:pt x="0" y="2247092"/>
                </a:lnTo>
                <a:lnTo>
                  <a:pt x="0" y="0"/>
                </a:lnTo>
                <a:close/>
              </a:path>
            </a:pathLst>
          </a:custGeom>
          <a:blipFill rotWithShape="1">
            <a:blip r:embed="rId6">
              <a:alphaModFix/>
            </a:blip>
            <a:stretch>
              <a:fillRect b="0" l="0" r="0" t="0"/>
            </a:stretch>
          </a:blipFill>
          <a:ln>
            <a:noFill/>
          </a:ln>
        </p:spPr>
      </p:sp>
      <p:sp>
        <p:nvSpPr>
          <p:cNvPr id="785" name="Google Shape;785;p40"/>
          <p:cNvSpPr/>
          <p:nvPr/>
        </p:nvSpPr>
        <p:spPr>
          <a:xfrm flipH="1" rot="3991733">
            <a:off x="-122927" y="5205435"/>
            <a:ext cx="1710445" cy="2172621"/>
          </a:xfrm>
          <a:custGeom>
            <a:rect b="b" l="l" r="r" t="t"/>
            <a:pathLst>
              <a:path extrusionOk="0" h="2172621" w="1710445">
                <a:moveTo>
                  <a:pt x="0" y="2172620"/>
                </a:moveTo>
                <a:lnTo>
                  <a:pt x="1710445" y="2172620"/>
                </a:lnTo>
                <a:lnTo>
                  <a:pt x="1710445" y="0"/>
                </a:lnTo>
                <a:lnTo>
                  <a:pt x="0" y="0"/>
                </a:lnTo>
                <a:lnTo>
                  <a:pt x="0" y="2172620"/>
                </a:lnTo>
                <a:close/>
              </a:path>
            </a:pathLst>
          </a:custGeom>
          <a:blipFill rotWithShape="1">
            <a:blip r:embed="rId7">
              <a:alphaModFix/>
            </a:blip>
            <a:stretch>
              <a:fillRect b="0" l="0" r="0" t="0"/>
            </a:stretch>
          </a:blipFill>
          <a:ln>
            <a:noFill/>
          </a:ln>
        </p:spPr>
      </p:sp>
      <p:grpSp>
        <p:nvGrpSpPr>
          <p:cNvPr id="786" name="Google Shape;786;p40"/>
          <p:cNvGrpSpPr/>
          <p:nvPr/>
        </p:nvGrpSpPr>
        <p:grpSpPr>
          <a:xfrm>
            <a:off x="731520" y="1242642"/>
            <a:ext cx="8290560" cy="5281327"/>
            <a:chOff x="0" y="-28575"/>
            <a:chExt cx="4094104" cy="2608063"/>
          </a:xfrm>
        </p:grpSpPr>
        <p:sp>
          <p:nvSpPr>
            <p:cNvPr id="787" name="Google Shape;787;p40"/>
            <p:cNvSpPr/>
            <p:nvPr/>
          </p:nvSpPr>
          <p:spPr>
            <a:xfrm>
              <a:off x="0" y="0"/>
              <a:ext cx="4094104" cy="2579488"/>
            </a:xfrm>
            <a:custGeom>
              <a:rect b="b" l="l" r="r" t="t"/>
              <a:pathLst>
                <a:path extrusionOk="0" h="2579488" w="4094104">
                  <a:moveTo>
                    <a:pt x="28015" y="0"/>
                  </a:moveTo>
                  <a:lnTo>
                    <a:pt x="4066089" y="0"/>
                  </a:lnTo>
                  <a:cubicBezTo>
                    <a:pt x="4073519" y="0"/>
                    <a:pt x="4080644" y="2952"/>
                    <a:pt x="4085898" y="8205"/>
                  </a:cubicBezTo>
                  <a:cubicBezTo>
                    <a:pt x="4091152" y="13459"/>
                    <a:pt x="4094104" y="20585"/>
                    <a:pt x="4094104" y="28015"/>
                  </a:cubicBezTo>
                  <a:lnTo>
                    <a:pt x="4094104" y="2551473"/>
                  </a:lnTo>
                  <a:cubicBezTo>
                    <a:pt x="4094104" y="2558903"/>
                    <a:pt x="4091152" y="2566029"/>
                    <a:pt x="4085898" y="2571283"/>
                  </a:cubicBezTo>
                  <a:cubicBezTo>
                    <a:pt x="4080644" y="2576536"/>
                    <a:pt x="4073519" y="2579488"/>
                    <a:pt x="4066089" y="2579488"/>
                  </a:cubicBezTo>
                  <a:lnTo>
                    <a:pt x="28015" y="2579488"/>
                  </a:lnTo>
                  <a:cubicBezTo>
                    <a:pt x="20585" y="2579488"/>
                    <a:pt x="13459" y="2576536"/>
                    <a:pt x="8205" y="2571283"/>
                  </a:cubicBezTo>
                  <a:cubicBezTo>
                    <a:pt x="2952" y="2566029"/>
                    <a:pt x="0" y="2558903"/>
                    <a:pt x="0" y="2551473"/>
                  </a:cubicBezTo>
                  <a:lnTo>
                    <a:pt x="0" y="28015"/>
                  </a:lnTo>
                  <a:cubicBezTo>
                    <a:pt x="0" y="20585"/>
                    <a:pt x="2952" y="13459"/>
                    <a:pt x="8205" y="8205"/>
                  </a:cubicBezTo>
                  <a:cubicBezTo>
                    <a:pt x="13459" y="2952"/>
                    <a:pt x="20585" y="0"/>
                    <a:pt x="280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0"/>
            <p:cNvSpPr txBox="1"/>
            <p:nvPr/>
          </p:nvSpPr>
          <p:spPr>
            <a:xfrm>
              <a:off x="0" y="-28575"/>
              <a:ext cx="4094104" cy="2608063"/>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89" name="Google Shape;789;p40"/>
          <p:cNvGrpSpPr/>
          <p:nvPr/>
        </p:nvGrpSpPr>
        <p:grpSpPr>
          <a:xfrm>
            <a:off x="1283927" y="733368"/>
            <a:ext cx="7185746" cy="1076412"/>
            <a:chOff x="0" y="-28575"/>
            <a:chExt cx="3548517" cy="531562"/>
          </a:xfrm>
        </p:grpSpPr>
        <p:sp>
          <p:nvSpPr>
            <p:cNvPr id="790" name="Google Shape;790;p40"/>
            <p:cNvSpPr/>
            <p:nvPr/>
          </p:nvSpPr>
          <p:spPr>
            <a:xfrm>
              <a:off x="0" y="0"/>
              <a:ext cx="3548517" cy="502987"/>
            </a:xfrm>
            <a:custGeom>
              <a:rect b="b" l="l" r="r" t="t"/>
              <a:pathLst>
                <a:path extrusionOk="0" h="502987" w="3548517">
                  <a:moveTo>
                    <a:pt x="32322" y="0"/>
                  </a:moveTo>
                  <a:lnTo>
                    <a:pt x="3516195" y="0"/>
                  </a:lnTo>
                  <a:cubicBezTo>
                    <a:pt x="3534046" y="0"/>
                    <a:pt x="3548517" y="14471"/>
                    <a:pt x="3548517" y="32322"/>
                  </a:cubicBezTo>
                  <a:lnTo>
                    <a:pt x="3548517" y="470665"/>
                  </a:lnTo>
                  <a:cubicBezTo>
                    <a:pt x="3548517" y="488516"/>
                    <a:pt x="3534046" y="502987"/>
                    <a:pt x="3516195" y="502987"/>
                  </a:cubicBezTo>
                  <a:lnTo>
                    <a:pt x="32322" y="502987"/>
                  </a:lnTo>
                  <a:cubicBezTo>
                    <a:pt x="23750" y="502987"/>
                    <a:pt x="15528" y="499581"/>
                    <a:pt x="9467" y="493520"/>
                  </a:cubicBezTo>
                  <a:cubicBezTo>
                    <a:pt x="3405" y="487458"/>
                    <a:pt x="0" y="479237"/>
                    <a:pt x="0" y="470665"/>
                  </a:cubicBezTo>
                  <a:lnTo>
                    <a:pt x="0" y="32322"/>
                  </a:lnTo>
                  <a:cubicBezTo>
                    <a:pt x="0" y="14471"/>
                    <a:pt x="14471" y="0"/>
                    <a:pt x="32322" y="0"/>
                  </a:cubicBezTo>
                  <a:close/>
                </a:path>
              </a:pathLst>
            </a:custGeom>
            <a:solidFill>
              <a:srgbClr val="724E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0"/>
            <p:cNvSpPr txBox="1"/>
            <p:nvPr/>
          </p:nvSpPr>
          <p:spPr>
            <a:xfrm>
              <a:off x="0" y="-28575"/>
              <a:ext cx="3548517" cy="531562"/>
            </a:xfrm>
            <a:prstGeom prst="rect">
              <a:avLst/>
            </a:prstGeom>
            <a:noFill/>
            <a:ln>
              <a:noFill/>
            </a:ln>
          </p:spPr>
          <p:txBody>
            <a:bodyPr anchorCtr="0" anchor="ctr" bIns="27075" lIns="27075" spcFirstLastPara="1" rIns="27075" wrap="square" tIns="27075">
              <a:noAutofit/>
            </a:bodyPr>
            <a:lstStyle/>
            <a:p>
              <a:pPr indent="0" lvl="0" marL="0" marR="0" rtl="0" algn="ctr">
                <a:lnSpc>
                  <a:spcPct val="78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2" name="Google Shape;792;p40"/>
          <p:cNvSpPr txBox="1"/>
          <p:nvPr/>
        </p:nvSpPr>
        <p:spPr>
          <a:xfrm>
            <a:off x="2594187" y="1083547"/>
            <a:ext cx="4565225" cy="4947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733" u="none" cap="none" strike="noStrike">
                <a:solidFill>
                  <a:srgbClr val="FFFFFF"/>
                </a:solidFill>
                <a:latin typeface="Fredoka"/>
                <a:ea typeface="Fredoka"/>
                <a:cs typeface="Fredoka"/>
                <a:sym typeface="Fredoka"/>
              </a:rPr>
              <a:t>BIBLIOGRAPHY</a:t>
            </a:r>
            <a:endParaRPr/>
          </a:p>
        </p:txBody>
      </p:sp>
      <p:sp>
        <p:nvSpPr>
          <p:cNvPr id="793" name="Google Shape;793;p40"/>
          <p:cNvSpPr txBox="1"/>
          <p:nvPr/>
        </p:nvSpPr>
        <p:spPr>
          <a:xfrm>
            <a:off x="1283927" y="2344166"/>
            <a:ext cx="7314351" cy="3840480"/>
          </a:xfrm>
          <a:prstGeom prst="rect">
            <a:avLst/>
          </a:prstGeom>
          <a:noFill/>
          <a:ln>
            <a:noFill/>
          </a:ln>
        </p:spPr>
        <p:txBody>
          <a:bodyPr anchorCtr="0" anchor="t" bIns="0" lIns="0" spcFirstLastPara="1" rIns="0" wrap="square" tIns="0">
            <a:spAutoFit/>
          </a:bodyPr>
          <a:lstStyle/>
          <a:p>
            <a:pPr indent="0" lvl="0" marL="0" marR="0" rtl="0" algn="just">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Technique of YOLO-WORLD used:</a:t>
            </a:r>
            <a:endParaRPr/>
          </a:p>
          <a:p>
            <a:pPr indent="0" lvl="0" marL="0" marR="0" rtl="0" algn="just">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https://github.com/ailab-cvc/yolo-world</a:t>
            </a:r>
            <a:endParaRPr/>
          </a:p>
          <a:p>
            <a:pPr indent="0" lvl="0" marL="0" marR="0" rtl="0" algn="just">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https://github.com/ultralytics/ultralytics</a:t>
            </a:r>
            <a:endParaRPr/>
          </a:p>
          <a:p>
            <a:pPr indent="0" lvl="0" marL="0" marR="0" rtl="0" algn="just">
              <a:lnSpc>
                <a:spcPct val="119971"/>
              </a:lnSpc>
              <a:spcBef>
                <a:spcPts val="0"/>
              </a:spcBef>
              <a:spcAft>
                <a:spcPts val="0"/>
              </a:spcAft>
              <a:buNone/>
            </a:pPr>
            <a:r>
              <a:t/>
            </a:r>
            <a:endParaRPr b="0" i="0" sz="2133" u="none" cap="none" strike="noStrike">
              <a:solidFill>
                <a:srgbClr val="724E39"/>
              </a:solidFill>
              <a:latin typeface="Arial"/>
              <a:ea typeface="Arial"/>
              <a:cs typeface="Arial"/>
              <a:sym typeface="Arial"/>
            </a:endParaRPr>
          </a:p>
          <a:p>
            <a:pPr indent="0" lvl="0" marL="0" marR="0" rtl="0" algn="just">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Dataset of Visdrone</a:t>
            </a:r>
            <a:endParaRPr/>
          </a:p>
          <a:p>
            <a:pPr indent="0" lvl="0" marL="0" marR="0" rtl="0" algn="just">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https://www.kaggle.com/datasets/kushagrapandya/visdrone-dataset</a:t>
            </a:r>
            <a:endParaRPr/>
          </a:p>
          <a:p>
            <a:pPr indent="0" lvl="0" marL="0" marR="0" rtl="0" algn="just">
              <a:lnSpc>
                <a:spcPct val="119971"/>
              </a:lnSpc>
              <a:spcBef>
                <a:spcPts val="0"/>
              </a:spcBef>
              <a:spcAft>
                <a:spcPts val="0"/>
              </a:spcAft>
              <a:buNone/>
            </a:pPr>
            <a:r>
              <a:t/>
            </a:r>
            <a:endParaRPr b="0" i="0" sz="2133" u="none" cap="none" strike="noStrike">
              <a:solidFill>
                <a:srgbClr val="724E39"/>
              </a:solidFill>
              <a:latin typeface="Arial"/>
              <a:ea typeface="Arial"/>
              <a:cs typeface="Arial"/>
              <a:sym typeface="Arial"/>
            </a:endParaRPr>
          </a:p>
          <a:p>
            <a:pPr indent="0" lvl="0" marL="0" marR="0" rtl="0" algn="just">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Paper of YOLO-World</a:t>
            </a:r>
            <a:endParaRPr/>
          </a:p>
          <a:p>
            <a:pPr indent="0" lvl="0" marL="0" marR="0" rtl="0" algn="just">
              <a:lnSpc>
                <a:spcPct val="119971"/>
              </a:lnSpc>
              <a:spcBef>
                <a:spcPts val="0"/>
              </a:spcBef>
              <a:spcAft>
                <a:spcPts val="0"/>
              </a:spcAft>
              <a:buNone/>
            </a:pPr>
            <a:r>
              <a:rPr b="0" i="0" lang="en-US" sz="2133" u="none" cap="none" strike="noStrike">
                <a:solidFill>
                  <a:srgbClr val="724E39"/>
                </a:solidFill>
                <a:latin typeface="Arial"/>
                <a:ea typeface="Arial"/>
                <a:cs typeface="Arial"/>
                <a:sym typeface="Arial"/>
              </a:rPr>
              <a:t>https://arxiv.org/abs/2401.17270</a:t>
            </a:r>
            <a:endParaRPr/>
          </a:p>
          <a:p>
            <a:pPr indent="0" lvl="0" marL="0" marR="0" rtl="0" algn="just">
              <a:lnSpc>
                <a:spcPct val="119971"/>
              </a:lnSpc>
              <a:spcBef>
                <a:spcPts val="0"/>
              </a:spcBef>
              <a:spcAft>
                <a:spcPts val="0"/>
              </a:spcAft>
              <a:buNone/>
            </a:pPr>
            <a:r>
              <a:t/>
            </a:r>
            <a:endParaRPr b="0" i="0" sz="2133" u="none" cap="none" strike="noStrike">
              <a:solidFill>
                <a:srgbClr val="724E39"/>
              </a:solidFill>
              <a:latin typeface="Arial"/>
              <a:ea typeface="Arial"/>
              <a:cs typeface="Arial"/>
              <a:sym typeface="Arial"/>
            </a:endParaRPr>
          </a:p>
          <a:p>
            <a:pPr indent="0" lvl="0" marL="0" marR="0" rtl="0" algn="just">
              <a:lnSpc>
                <a:spcPct val="119971"/>
              </a:lnSpc>
              <a:spcBef>
                <a:spcPts val="0"/>
              </a:spcBef>
              <a:spcAft>
                <a:spcPts val="0"/>
              </a:spcAft>
              <a:buNone/>
            </a:pPr>
            <a:r>
              <a:t/>
            </a:r>
            <a:endParaRPr b="0" i="0" sz="2133" u="none" cap="none" strike="noStrike">
              <a:solidFill>
                <a:srgbClr val="724E39"/>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DDCB"/>
        </a:solidFill>
      </p:bgPr>
    </p:bg>
    <p:spTree>
      <p:nvGrpSpPr>
        <p:cNvPr id="797" name="Shape 797"/>
        <p:cNvGrpSpPr/>
        <p:nvPr/>
      </p:nvGrpSpPr>
      <p:grpSpPr>
        <a:xfrm>
          <a:off x="0" y="0"/>
          <a:ext cx="0" cy="0"/>
          <a:chOff x="0" y="0"/>
          <a:chExt cx="0" cy="0"/>
        </a:xfrm>
      </p:grpSpPr>
      <p:sp>
        <p:nvSpPr>
          <p:cNvPr id="798" name="Google Shape;798;p41"/>
          <p:cNvSpPr/>
          <p:nvPr/>
        </p:nvSpPr>
        <p:spPr>
          <a:xfrm rot="5400000">
            <a:off x="222425" y="-266258"/>
            <a:ext cx="1949057" cy="2487393"/>
          </a:xfrm>
          <a:custGeom>
            <a:rect b="b" l="l" r="r" t="t"/>
            <a:pathLst>
              <a:path extrusionOk="0" h="2487393" w="1949057">
                <a:moveTo>
                  <a:pt x="1949057" y="2487393"/>
                </a:moveTo>
                <a:lnTo>
                  <a:pt x="0" y="2487393"/>
                </a:lnTo>
                <a:lnTo>
                  <a:pt x="0" y="0"/>
                </a:lnTo>
                <a:lnTo>
                  <a:pt x="1949057" y="0"/>
                </a:lnTo>
                <a:lnTo>
                  <a:pt x="1949057" y="2487393"/>
                </a:lnTo>
                <a:close/>
              </a:path>
            </a:pathLst>
          </a:custGeom>
          <a:blipFill rotWithShape="1">
            <a:blip r:embed="rId3">
              <a:alphaModFix/>
            </a:blip>
            <a:stretch>
              <a:fillRect b="-47966" l="-57592" r="0" t="0"/>
            </a:stretch>
          </a:blipFill>
          <a:ln>
            <a:noFill/>
          </a:ln>
        </p:spPr>
      </p:sp>
      <p:sp>
        <p:nvSpPr>
          <p:cNvPr id="799" name="Google Shape;799;p41"/>
          <p:cNvSpPr/>
          <p:nvPr/>
        </p:nvSpPr>
        <p:spPr>
          <a:xfrm rot="-5098881">
            <a:off x="-1128028" y="-2539200"/>
            <a:ext cx="4075055" cy="4159782"/>
          </a:xfrm>
          <a:custGeom>
            <a:rect b="b" l="l" r="r" t="t"/>
            <a:pathLst>
              <a:path extrusionOk="0" h="4159782" w="4075055">
                <a:moveTo>
                  <a:pt x="0" y="0"/>
                </a:moveTo>
                <a:lnTo>
                  <a:pt x="4075055" y="0"/>
                </a:lnTo>
                <a:lnTo>
                  <a:pt x="4075055" y="4159782"/>
                </a:lnTo>
                <a:lnTo>
                  <a:pt x="0" y="4159782"/>
                </a:lnTo>
                <a:lnTo>
                  <a:pt x="0" y="0"/>
                </a:lnTo>
                <a:close/>
              </a:path>
            </a:pathLst>
          </a:custGeom>
          <a:blipFill rotWithShape="1">
            <a:blip r:embed="rId4">
              <a:alphaModFix/>
            </a:blip>
            <a:stretch>
              <a:fillRect b="0" l="0" r="0" t="0"/>
            </a:stretch>
          </a:blipFill>
          <a:ln>
            <a:noFill/>
          </a:ln>
        </p:spPr>
      </p:sp>
      <p:sp>
        <p:nvSpPr>
          <p:cNvPr id="800" name="Google Shape;800;p41"/>
          <p:cNvSpPr/>
          <p:nvPr/>
        </p:nvSpPr>
        <p:spPr>
          <a:xfrm>
            <a:off x="8272095" y="-170948"/>
            <a:ext cx="1684424" cy="1804936"/>
          </a:xfrm>
          <a:custGeom>
            <a:rect b="b" l="l" r="r" t="t"/>
            <a:pathLst>
              <a:path extrusionOk="0" h="1804936" w="1684424">
                <a:moveTo>
                  <a:pt x="0" y="0"/>
                </a:moveTo>
                <a:lnTo>
                  <a:pt x="1684424" y="0"/>
                </a:lnTo>
                <a:lnTo>
                  <a:pt x="1684424" y="1804936"/>
                </a:lnTo>
                <a:lnTo>
                  <a:pt x="0" y="1804936"/>
                </a:lnTo>
                <a:lnTo>
                  <a:pt x="0" y="0"/>
                </a:lnTo>
                <a:close/>
              </a:path>
            </a:pathLst>
          </a:custGeom>
          <a:blipFill rotWithShape="1">
            <a:blip r:embed="rId5">
              <a:alphaModFix/>
            </a:blip>
            <a:stretch>
              <a:fillRect b="0" l="0" r="0" t="0"/>
            </a:stretch>
          </a:blipFill>
          <a:ln>
            <a:noFill/>
          </a:ln>
        </p:spPr>
      </p:sp>
      <p:sp>
        <p:nvSpPr>
          <p:cNvPr id="801" name="Google Shape;801;p41"/>
          <p:cNvSpPr/>
          <p:nvPr/>
        </p:nvSpPr>
        <p:spPr>
          <a:xfrm rot="8839728">
            <a:off x="7277056" y="5721851"/>
            <a:ext cx="3767990" cy="2247092"/>
          </a:xfrm>
          <a:custGeom>
            <a:rect b="b" l="l" r="r" t="t"/>
            <a:pathLst>
              <a:path extrusionOk="0" h="2247092" w="3767990">
                <a:moveTo>
                  <a:pt x="0" y="0"/>
                </a:moveTo>
                <a:lnTo>
                  <a:pt x="3767989" y="0"/>
                </a:lnTo>
                <a:lnTo>
                  <a:pt x="3767989" y="2247092"/>
                </a:lnTo>
                <a:lnTo>
                  <a:pt x="0" y="2247092"/>
                </a:lnTo>
                <a:lnTo>
                  <a:pt x="0" y="0"/>
                </a:lnTo>
                <a:close/>
              </a:path>
            </a:pathLst>
          </a:custGeom>
          <a:blipFill rotWithShape="1">
            <a:blip r:embed="rId6">
              <a:alphaModFix/>
            </a:blip>
            <a:stretch>
              <a:fillRect b="0" l="0" r="0" t="0"/>
            </a:stretch>
          </a:blipFill>
          <a:ln>
            <a:noFill/>
          </a:ln>
        </p:spPr>
      </p:sp>
      <p:sp>
        <p:nvSpPr>
          <p:cNvPr id="802" name="Google Shape;802;p41"/>
          <p:cNvSpPr/>
          <p:nvPr/>
        </p:nvSpPr>
        <p:spPr>
          <a:xfrm flipH="1" rot="3991733">
            <a:off x="-105441" y="5685377"/>
            <a:ext cx="1360005" cy="1727489"/>
          </a:xfrm>
          <a:custGeom>
            <a:rect b="b" l="l" r="r" t="t"/>
            <a:pathLst>
              <a:path extrusionOk="0" h="1727489" w="1360005">
                <a:moveTo>
                  <a:pt x="0" y="1727489"/>
                </a:moveTo>
                <a:lnTo>
                  <a:pt x="1360004" y="1727489"/>
                </a:lnTo>
                <a:lnTo>
                  <a:pt x="1360004" y="0"/>
                </a:lnTo>
                <a:lnTo>
                  <a:pt x="0" y="0"/>
                </a:lnTo>
                <a:lnTo>
                  <a:pt x="0" y="1727489"/>
                </a:lnTo>
                <a:close/>
              </a:path>
            </a:pathLst>
          </a:custGeom>
          <a:blipFill rotWithShape="1">
            <a:blip r:embed="rId7">
              <a:alphaModFix/>
            </a:blip>
            <a:stretch>
              <a:fillRect b="0" l="0" r="0" t="0"/>
            </a:stretch>
          </a:blipFill>
          <a:ln>
            <a:noFill/>
          </a:ln>
        </p:spPr>
      </p:sp>
      <p:sp>
        <p:nvSpPr>
          <p:cNvPr id="803" name="Google Shape;803;p41"/>
          <p:cNvSpPr txBox="1"/>
          <p:nvPr/>
        </p:nvSpPr>
        <p:spPr>
          <a:xfrm>
            <a:off x="139811" y="3268663"/>
            <a:ext cx="9473977" cy="9207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6999" u="none" cap="none" strike="noStrike">
                <a:solidFill>
                  <a:srgbClr val="724E39"/>
                </a:solidFill>
                <a:latin typeface="Fredoka"/>
                <a:ea typeface="Fredoka"/>
                <a:cs typeface="Fredoka"/>
                <a:sym typeface="Fredoka"/>
              </a:rPr>
              <a:t>THANK YOU</a:t>
            </a:r>
            <a:endParaRPr/>
          </a:p>
        </p:txBody>
      </p:sp>
      <p:sp>
        <p:nvSpPr>
          <p:cNvPr id="804" name="Google Shape;804;p41"/>
          <p:cNvSpPr/>
          <p:nvPr/>
        </p:nvSpPr>
        <p:spPr>
          <a:xfrm rot="-3914552">
            <a:off x="8157733" y="5038603"/>
            <a:ext cx="1837288" cy="2333737"/>
          </a:xfrm>
          <a:custGeom>
            <a:rect b="b" l="l" r="r" t="t"/>
            <a:pathLst>
              <a:path extrusionOk="0" h="2333737" w="1837288">
                <a:moveTo>
                  <a:pt x="1837288" y="2333738"/>
                </a:moveTo>
                <a:lnTo>
                  <a:pt x="0" y="2333738"/>
                </a:lnTo>
                <a:lnTo>
                  <a:pt x="0" y="0"/>
                </a:lnTo>
                <a:lnTo>
                  <a:pt x="1837288" y="0"/>
                </a:lnTo>
                <a:lnTo>
                  <a:pt x="1837288" y="2333738"/>
                </a:lnTo>
                <a:close/>
              </a:path>
            </a:pathLst>
          </a:custGeom>
          <a:blipFill rotWithShape="1">
            <a:blip r:embed="rId7">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